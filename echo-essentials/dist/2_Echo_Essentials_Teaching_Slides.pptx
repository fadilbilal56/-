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By the end of the session the fellows should be able to grade aortic stenosis including very severe disease and both low-flow states, and quantify AR, MS, MR and TR with integrated criteria.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State the order: LV, diastology, right heart, then aortic stenosis as the longest block, then the other valves, then two cases.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biplane Simpson, contrast when two or more contiguous segments are poorly seen, and foreshortening as the commonest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 mass and relative wall thickness before you say hypertrophy. The same mass can reflect pressure overload or volume overload.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Underline that the 2025 update asks you to decide whether left atrial pressure is raised first, then grade, and adds an HFpEF diagnostic section. Show the published flow chart if you have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at least two measures, one longitudinal and one global. Disagreement between them is informative.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PASP is 4 times the TR velocity squared plus estimated right atrial pressure. ESC/ERS 2022 prefers probability to a single pressure cut-off.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what a 1 mm error in the LVOT diameter does to the area. Because the diameter is squared, the area changes by roughly 0.2 cm2.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Severe is concordant across ESC/EACTS, ASE/EACVI and ACC/AHA. Mild and moderate bands follow ACC/AHA staging.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here. There is no single universal definition for the word critical. Adult usage is Vmax 5 m/s or more and/or MG 60 mmHg or more. State the numbers in your report. In neonates, critical AS is a separate, duct-dependent condition.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a third of patients with an AVA of 1.0 cm2 or less have a mean gradient below 40. Ask about flow first, then ejection fraction.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top to bottom. Stages follow ACC/AHA 2020. Calcium thresholds are the sex-specific values in ESC/EACTS.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true-severe versus pseudo-severe. Flow reserve means stroke volume rises by at least 20 percent with low-dose dobutamine.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second low-flow type. The ejection fraction looks fine; the ventricle is small, thick and stiff, and the stroke volume is 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Calcium is independent of flow, which is why it helps exactly when echo is discordant. Severe AS can occur with less calcium in younger, bicuspid or rheumatic valves.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check the class and level in the current text. EARLY TAVR, AVATAR and RECOVERY have shifted practice for asymptomatic patients.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parameter grades AR. Remind fellows that colour jet width underestimates eccentric jets.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Wilkins score: mobility, thickening, calcification and subvalvular thickening, each 1 to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versus secondary first. Thresholds are lower in secondary MR because the orifice is elliptical.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massive and torrential grades. They stratify outcome and select patients for transcatheter therapy.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The first line of the conclusion answers the clinical question.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paradoxical low-flow, low-gradient AS (stage D3). Exclude measurement error (blood pressure, LVOT area), then CT calcium. For a woman, 1200 AU or more makes severe AS likely, 1600 or more very likely.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classical low-flow, low-gradient AS (stage D2). Low-dose DSE. Stroke volume rise of 20% or more means flow reserve; AVA staying at or below 1.0 with Vmax 4 or more confirms true-severe. If no reserve, CT calcium (men 2000 AU or more: severe likely).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B"/>
        </a:solidFill>
        <a:effectLst/>
      </p:bgPr>
    </p:bg>
    <p:spTree>
      <p:nvGrpSpPr>
        <p:cNvPr id="1" name=""/>
        <p:cNvGrpSpPr/>
        <p:nvPr/>
      </p:nvGrpSpPr>
      <p:grpSpPr/>
      <p:sp>
        <p:nvSpPr>
          <p:cNvPr id="2" name="TextBox 1"/>
          <p:cNvSpPr txBox="1"/>
          <p:nvPr/>
        </p:nvSpPr>
        <p:spPr>
          <a:xfrm>
            <a:off x="822960" y="822960"/>
            <a:ext cx="8229600" cy="228600"/>
          </a:xfrm>
          <a:prstGeom prst="rect">
            <a:avLst/>
          </a:prstGeom>
          <a:noFill/>
        </p:spPr>
        <p:txBody>
          <a:bodyPr wrap="square" lIns="0" rIns="0" tIns="0" bIns="0">
            <a:spAutoFit/>
          </a:bodyPr>
          <a:lstStyle/>
          <a:p>
            <a:pPr algn="l"/>
            <a:r>
              <a:rPr sz="1000" b="1" i="0" spc="120">
                <a:solidFill>
                  <a:srgbClr val="B9B1A2"/>
                </a:solidFill>
                <a:latin typeface="Calibri"/>
              </a:rPr>
              <a:t>ADULT ECHOCARDIOGRAPHY  /  A TEACHING DECK FOR FELLOWS</a:t>
            </a:r>
          </a:p>
        </p:txBody>
      </p:sp>
      <p:cxnSp>
        <p:nvCxnSpPr>
          <p:cNvPr id="3" name="Connector 2"/>
          <p:cNvCxnSpPr/>
          <p:nvPr/>
        </p:nvCxnSpPr>
        <p:spPr>
          <a:xfrm>
            <a:off x="822960" y="1234440"/>
            <a:ext cx="822960" cy="0"/>
          </a:xfrm>
          <a:prstGeom prst="line">
            <a:avLst/>
          </a:prstGeom>
          <a:ln w="15875">
            <a:solidFill>
              <a:srgbClr val="C79A5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2011680"/>
            <a:ext cx="9144000" cy="2377440"/>
          </a:xfrm>
          <a:prstGeom prst="rect">
            <a:avLst/>
          </a:prstGeom>
          <a:noFill/>
        </p:spPr>
        <p:txBody>
          <a:bodyPr wrap="square" lIns="0" rIns="0" tIns="0" bIns="0">
            <a:spAutoFit/>
          </a:bodyPr>
          <a:lstStyle/>
          <a:p>
            <a:pPr algn="l"/>
            <a:r>
              <a:rPr sz="7800" b="1" i="0">
                <a:solidFill>
                  <a:srgbClr val="F2EDE3"/>
                </a:solidFill>
                <a:latin typeface="Cambria"/>
              </a:rPr>
              <a:t>Echo</a:t>
            </a:r>
          </a:p>
          <a:p>
            <a:pPr algn="l"/>
            <a:r>
              <a:rPr sz="7800" b="1" i="0">
                <a:solidFill>
                  <a:srgbClr val="F2EDE3"/>
                </a:solidFill>
                <a:latin typeface="Cambria"/>
              </a:rPr>
              <a:t>Essentials</a:t>
            </a:r>
          </a:p>
        </p:txBody>
      </p:sp>
      <p:sp>
        <p:nvSpPr>
          <p:cNvPr id="5" name="TextBox 4"/>
          <p:cNvSpPr txBox="1"/>
          <p:nvPr/>
        </p:nvSpPr>
        <p:spPr>
          <a:xfrm>
            <a:off x="822960" y="4572000"/>
            <a:ext cx="7315200" cy="822960"/>
          </a:xfrm>
          <a:prstGeom prst="rect">
            <a:avLst/>
          </a:prstGeom>
          <a:noFill/>
        </p:spPr>
        <p:txBody>
          <a:bodyPr wrap="square" lIns="0" rIns="0" tIns="0" bIns="0">
            <a:spAutoFit/>
          </a:bodyPr>
          <a:lstStyle/>
          <a:p>
            <a:pPr algn="l"/>
            <a:r>
              <a:rPr sz="2000" b="0" i="1">
                <a:solidFill>
                  <a:srgbClr val="D8CFBE"/>
                </a:solidFill>
                <a:latin typeface="Cambria"/>
              </a:rPr>
              <a:t>What the guidelines say, why they say it, and where readers go wrong.</a:t>
            </a:r>
          </a:p>
        </p:txBody>
      </p:sp>
      <p:sp>
        <p:nvSpPr>
          <p:cNvPr id="6" name="TextBox 5"/>
          <p:cNvSpPr txBox="1"/>
          <p:nvPr/>
        </p:nvSpPr>
        <p:spPr>
          <a:xfrm>
            <a:off x="822960" y="5806440"/>
            <a:ext cx="7315200" cy="274320"/>
          </a:xfrm>
          <a:prstGeom prst="rect">
            <a:avLst/>
          </a:prstGeom>
          <a:noFill/>
        </p:spPr>
        <p:txBody>
          <a:bodyPr wrap="square" lIns="0" rIns="0" tIns="0" bIns="0">
            <a:spAutoFit/>
          </a:bodyPr>
          <a:lstStyle/>
          <a:p>
            <a:pPr algn="l"/>
            <a:r>
              <a:rPr sz="1500" b="1" i="0">
                <a:solidFill>
                  <a:srgbClr val="F2EDE3"/>
                </a:solidFill>
                <a:latin typeface="Cambria"/>
              </a:rPr>
              <a:t>Dr. Elfadil Bilal Abdelrahman</a:t>
            </a:r>
          </a:p>
        </p:txBody>
      </p:sp>
      <p:sp>
        <p:nvSpPr>
          <p:cNvPr id="7" name="TextBox 6"/>
          <p:cNvSpPr txBox="1"/>
          <p:nvPr/>
        </p:nvSpPr>
        <p:spPr>
          <a:xfrm>
            <a:off x="822960" y="6126480"/>
            <a:ext cx="7315200" cy="274320"/>
          </a:xfrm>
          <a:prstGeom prst="rect">
            <a:avLst/>
          </a:prstGeom>
          <a:noFill/>
        </p:spPr>
        <p:txBody>
          <a:bodyPr wrap="square" lIns="0" rIns="0" tIns="0" bIns="0">
            <a:spAutoFit/>
          </a:bodyPr>
          <a:lstStyle/>
          <a:p>
            <a:pPr algn="l"/>
            <a:r>
              <a:rPr sz="1100" b="0" i="0">
                <a:solidFill>
                  <a:srgbClr val="B9B1A2"/>
                </a:solidFill>
                <a:latin typeface="Calibri"/>
              </a:rPr>
              <a:t>Consultant Cardiologist and Echocardiographer, Prince Mohammed bin Abdulaziz Hospital, Riyadh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LEARNING OBJECTIVES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By the end of this session</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2</a:t>
            </a:r>
          </a:p>
        </p:txBody>
      </p:sp>
      <p:sp>
        <p:nvSpPr>
          <p:cNvPr id="7" name="TextBox 6"/>
          <p:cNvSpPr txBox="1"/>
          <p:nvPr/>
        </p:nvSpPr>
        <p:spPr>
          <a:xfrm>
            <a:off x="640080" y="1828800"/>
            <a:ext cx="6949440" cy="4389120"/>
          </a:xfrm>
          <a:prstGeom prst="rect">
            <a:avLst/>
          </a:prstGeom>
          <a:noFill/>
        </p:spPr>
        <p:txBody>
          <a:bodyPr wrap="square" lIns="0" rIns="0" tIns="0" bIns="0">
            <a:spAutoFit/>
          </a:bodyPr>
          <a:lstStyle/>
          <a:p>
            <a:pPr>
              <a:spcAft>
                <a:spcPts val="1400"/>
              </a:spcAft>
            </a:pPr>
            <a:r>
              <a:rPr b="1" sz="2000">
                <a:solidFill>
                  <a:srgbClr val="1E2530"/>
                </a:solidFill>
                <a:latin typeface="Cambria"/>
              </a:rPr>
              <a:t>Quantify</a:t>
            </a:r>
            <a:r>
              <a:rPr sz="2000">
                <a:solidFill>
                  <a:srgbClr val="1E2530"/>
                </a:solidFill>
                <a:latin typeface="Cambria"/>
              </a:rPr>
              <a:t>  LV size, mass and ejection fraction the way the guidelines expect.</a:t>
            </a:r>
          </a:p>
          <a:p>
            <a:pPr>
              <a:spcAft>
                <a:spcPts val="1400"/>
              </a:spcAft>
            </a:pPr>
            <a:r>
              <a:rPr b="1" sz="2000">
                <a:solidFill>
                  <a:srgbClr val="1E2530"/>
                </a:solidFill>
                <a:latin typeface="Cambria"/>
              </a:rPr>
              <a:t>Estimate</a:t>
            </a:r>
            <a:r>
              <a:rPr sz="2000">
                <a:solidFill>
                  <a:srgbClr val="1E2530"/>
                </a:solidFill>
                <a:latin typeface="Cambria"/>
              </a:rPr>
              <a:t>  left atrial pressure and apply the ASE 2025 diastology approach.</a:t>
            </a:r>
          </a:p>
          <a:p>
            <a:pPr>
              <a:spcAft>
                <a:spcPts val="1400"/>
              </a:spcAft>
            </a:pPr>
            <a:r>
              <a:rPr b="1" sz="2000">
                <a:solidFill>
                  <a:srgbClr val="1E2530"/>
                </a:solidFill>
                <a:latin typeface="Cambria"/>
              </a:rPr>
              <a:t>Assess</a:t>
            </a:r>
            <a:r>
              <a:rPr sz="2000">
                <a:solidFill>
                  <a:srgbClr val="1E2530"/>
                </a:solidFill>
                <a:latin typeface="Cambria"/>
              </a:rPr>
              <a:t>  the right ventricle and the probability of pulmonary hypertension.</a:t>
            </a:r>
          </a:p>
          <a:p>
            <a:pPr>
              <a:spcAft>
                <a:spcPts val="1400"/>
              </a:spcAft>
            </a:pPr>
            <a:r>
              <a:rPr b="1" sz="2000">
                <a:solidFill>
                  <a:srgbClr val="1E2530"/>
                </a:solidFill>
                <a:latin typeface="Cambria"/>
              </a:rPr>
              <a:t>Grade aortic stenosis</a:t>
            </a:r>
            <a:r>
              <a:rPr sz="2000">
                <a:solidFill>
                  <a:srgbClr val="1E2530"/>
                </a:solidFill>
                <a:latin typeface="Cambria"/>
              </a:rPr>
              <a:t>  including very severe disease and both low-flow states.</a:t>
            </a:r>
          </a:p>
          <a:p>
            <a:pPr>
              <a:spcAft>
                <a:spcPts val="1400"/>
              </a:spcAft>
            </a:pPr>
            <a:r>
              <a:rPr b="1" sz="2000">
                <a:solidFill>
                  <a:srgbClr val="1E2530"/>
                </a:solidFill>
                <a:latin typeface="Cambria"/>
              </a:rPr>
              <a:t>Integrate</a:t>
            </a:r>
            <a:r>
              <a:rPr sz="2000">
                <a:solidFill>
                  <a:srgbClr val="1E2530"/>
                </a:solidFill>
                <a:latin typeface="Cambria"/>
              </a:rPr>
              <a:t>  parameters for AR, MS, MR and TR.</a:t>
            </a:r>
          </a:p>
          <a:p>
            <a:pPr>
              <a:spcAft>
                <a:spcPts val="1400"/>
              </a:spcAft>
            </a:pPr>
            <a:r>
              <a:rPr b="1" sz="2000">
                <a:solidFill>
                  <a:srgbClr val="1E2530"/>
                </a:solidFill>
                <a:latin typeface="Cambria"/>
              </a:rPr>
              <a:t>Report</a:t>
            </a:r>
            <a:r>
              <a:rPr sz="2000">
                <a:solidFill>
                  <a:srgbClr val="1E2530"/>
                </a:solidFill>
                <a:latin typeface="Cambria"/>
              </a:rPr>
              <a:t>  with a conclusion that answers the clinical question.</a:t>
            </a:r>
          </a:p>
        </p:txBody>
      </p:sp>
      <p:cxnSp>
        <p:nvCxnSpPr>
          <p:cNvPr id="8" name="Connector 7"/>
          <p:cNvCxnSpPr/>
          <p:nvPr/>
        </p:nvCxnSpPr>
        <p:spPr>
          <a:xfrm>
            <a:off x="8229600" y="1874519"/>
            <a:ext cx="329184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0" y="1965960"/>
            <a:ext cx="3291840" cy="228600"/>
          </a:xfrm>
          <a:prstGeom prst="rect">
            <a:avLst/>
          </a:prstGeom>
          <a:noFill/>
        </p:spPr>
        <p:txBody>
          <a:bodyPr wrap="square" lIns="0" rIns="0" tIns="0" bIns="0">
            <a:spAutoFit/>
          </a:bodyPr>
          <a:lstStyle/>
          <a:p>
            <a:pPr algn="l"/>
            <a:r>
              <a:rPr sz="1000" b="1" i="0" spc="120">
                <a:solidFill>
                  <a:srgbClr val="8A2D36"/>
                </a:solidFill>
                <a:latin typeface="Calibri"/>
              </a:rPr>
              <a:t>FOUR NUMBERS</a:t>
            </a:r>
          </a:p>
        </p:txBody>
      </p:sp>
      <p:sp>
        <p:nvSpPr>
          <p:cNvPr id="10" name="TextBox 9"/>
          <p:cNvSpPr txBox="1"/>
          <p:nvPr/>
        </p:nvSpPr>
        <p:spPr>
          <a:xfrm>
            <a:off x="8229600" y="2258568"/>
            <a:ext cx="3291840" cy="1828800"/>
          </a:xfrm>
          <a:prstGeom prst="rect">
            <a:avLst/>
          </a:prstGeom>
          <a:noFill/>
        </p:spPr>
        <p:txBody>
          <a:bodyPr wrap="square" lIns="0" rIns="0" tIns="0" bIns="0">
            <a:spAutoFit/>
          </a:bodyPr>
          <a:lstStyle/>
          <a:p>
            <a:pPr algn="l"/>
            <a:r>
              <a:rPr sz="1350" b="0" i="1">
                <a:solidFill>
                  <a:srgbClr val="1E2530"/>
                </a:solidFill>
                <a:latin typeface="Cambria"/>
              </a:rPr>
              <a:t>Gradient, area, flow, ejection fraction. If they do not tell one coherent story, a measurement is wrong.</a:t>
            </a:r>
          </a:p>
        </p:txBody>
      </p:sp>
      <p:cxnSp>
        <p:nvCxnSpPr>
          <p:cNvPr id="11" name="Connector 10"/>
          <p:cNvCxnSpPr/>
          <p:nvPr/>
        </p:nvCxnSpPr>
        <p:spPr>
          <a:xfrm>
            <a:off x="8229600" y="4160520"/>
            <a:ext cx="3291840" cy="0"/>
          </a:xfrm>
          <a:prstGeom prst="line">
            <a:avLst/>
          </a:prstGeom>
          <a:ln w="12700">
            <a:solidFill>
              <a:srgbClr val="3F5B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0" y="4251959"/>
            <a:ext cx="3291840" cy="228600"/>
          </a:xfrm>
          <a:prstGeom prst="rect">
            <a:avLst/>
          </a:prstGeom>
          <a:noFill/>
        </p:spPr>
        <p:txBody>
          <a:bodyPr wrap="square" lIns="0" rIns="0" tIns="0" bIns="0">
            <a:spAutoFit/>
          </a:bodyPr>
          <a:lstStyle/>
          <a:p>
            <a:pPr algn="l"/>
            <a:r>
              <a:rPr sz="1000" b="1" i="0" spc="120">
                <a:solidFill>
                  <a:srgbClr val="3F5B73"/>
                </a:solidFill>
                <a:latin typeface="Calibri"/>
              </a:rPr>
              <a:t>SOURCES</a:t>
            </a:r>
          </a:p>
        </p:txBody>
      </p:sp>
      <p:sp>
        <p:nvSpPr>
          <p:cNvPr id="13" name="TextBox 12"/>
          <p:cNvSpPr txBox="1"/>
          <p:nvPr/>
        </p:nvSpPr>
        <p:spPr>
          <a:xfrm>
            <a:off x="8229600" y="4544568"/>
            <a:ext cx="3291840" cy="1828800"/>
          </a:xfrm>
          <a:prstGeom prst="rect">
            <a:avLst/>
          </a:prstGeom>
          <a:noFill/>
        </p:spPr>
        <p:txBody>
          <a:bodyPr wrap="square" lIns="0" rIns="0" tIns="0" bIns="0">
            <a:spAutoFit/>
          </a:bodyPr>
          <a:lstStyle/>
          <a:p>
            <a:pPr algn="l"/>
            <a:r>
              <a:rPr sz="1300" b="0" i="1">
                <a:solidFill>
                  <a:srgbClr val="1E2530"/>
                </a:solidFill>
                <a:latin typeface="Cambria"/>
              </a:rPr>
              <a:t>ASE/EACVI 2015, 2017, 2025. ESC/EACTS 2025. ACC/AHA 2020 where it differs.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CHAMBER QUANTIFICATION</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Measuring the left ventricle</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3</a:t>
            </a:r>
          </a:p>
        </p:txBody>
      </p:sp>
      <p:graphicFrame>
        <p:nvGraphicFramePr>
          <p:cNvPr id="7" name="Table 6"/>
          <p:cNvGraphicFramePr>
            <a:graphicFrameLocks noGrp="1"/>
          </p:cNvGraphicFramePr>
          <p:nvPr/>
        </p:nvGraphicFramePr>
        <p:xfrm>
          <a:off x="640080" y="1828800"/>
          <a:ext cx="7223760" cy="3520440"/>
        </p:xfrm>
        <a:graphic>
          <a:graphicData uri="http://schemas.openxmlformats.org/drawingml/2006/table">
            <a:tbl>
              <a:tblPr firstRow="0" bandRow="0">
                <a:tableStyleId>{2D5ABB26-0587-4C30-8999-92F81FD0307C}</a:tableStyleId>
              </a:tblPr>
              <a:tblGrid>
                <a:gridCol w="3383280"/>
                <a:gridCol w="1920240"/>
                <a:gridCol w="1920240"/>
              </a:tblGrid>
              <a:tr h="502920">
                <a:tc>
                  <a:txBody>
                    <a:bodyPr/>
                    <a:lstStyle/>
                    <a:p>
                      <a:r>
                        <a:rPr sz="1200" b="1">
                          <a:solidFill>
                            <a:srgbClr val="626A75"/>
                          </a:solidFill>
                          <a:latin typeface="Calibri"/>
                        </a:rPr>
                        <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200" b="1">
                          <a:solidFill>
                            <a:srgbClr val="626A75"/>
                          </a:solidFill>
                          <a:latin typeface="Calibri"/>
                        </a:rPr>
                        <a:t>Men</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200" b="1">
                          <a:solidFill>
                            <a:srgbClr val="626A75"/>
                          </a:solidFill>
                          <a:latin typeface="Calibri"/>
                        </a:rPr>
                        <a:t>Women</a:t>
                      </a:r>
                    </a:p>
                  </a:txBody>
                  <a:tcPr marL="0" marR="109728" marT="45720" marB="45720" anchor="ctr">
                    <a:noFill/>
                    <a:lnB w="12700" cap="flat" cmpd="sng" algn="ctr">
                      <a:solidFill>
                        <a:srgbClr val="1E2530"/>
                      </a:solidFill>
                      <a:prstDash val="solid"/>
                    </a:lnB>
                    <a:lnL w="0">
                      <a:noFill/>
                    </a:lnL>
                    <a:lnR w="0">
                      <a:noFill/>
                    </a:lnR>
                    <a:lnT w="0">
                      <a:noFill/>
                    </a:lnT>
                  </a:tcPr>
                </a:tc>
              </a:tr>
              <a:tr h="502920">
                <a:tc>
                  <a:txBody>
                    <a:bodyPr/>
                    <a:lstStyle/>
                    <a:p>
                      <a:r>
                        <a:rPr sz="1500" b="1">
                          <a:solidFill>
                            <a:srgbClr val="1E2530"/>
                          </a:solidFill>
                          <a:latin typeface="Calibri"/>
                        </a:rPr>
                        <a:t>LVEF</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52 to 72%</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54 to 74%</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LV end-diastolic diameter</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42 to 58 mm</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38 to 52 mm</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LV end-systolic diameter</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25 to 40 mm</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22 to 35 mm</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LV mass index (2D)</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50 to 102 g/m²</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44 to 88 g/m²</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Relative wall thickness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0.42 or less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0.42 or less</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LA volume index</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16 to 34 mL/m²</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16 to 34 mL/m²</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8412480" y="1874519"/>
            <a:ext cx="310896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0" y="1965960"/>
            <a:ext cx="3108960" cy="228600"/>
          </a:xfrm>
          <a:prstGeom prst="rect">
            <a:avLst/>
          </a:prstGeom>
          <a:noFill/>
        </p:spPr>
        <p:txBody>
          <a:bodyPr wrap="square" lIns="0" rIns="0" tIns="0" bIns="0">
            <a:spAutoFit/>
          </a:bodyPr>
          <a:lstStyle/>
          <a:p>
            <a:pPr algn="l"/>
            <a:r>
              <a:rPr sz="1000" b="1" i="0" spc="120">
                <a:solidFill>
                  <a:srgbClr val="8A2D36"/>
                </a:solidFill>
                <a:latin typeface="Calibri"/>
              </a:rPr>
              <a:t>EF CATEGORIES</a:t>
            </a:r>
          </a:p>
        </p:txBody>
      </p:sp>
      <p:sp>
        <p:nvSpPr>
          <p:cNvPr id="10" name="TextBox 9"/>
          <p:cNvSpPr txBox="1"/>
          <p:nvPr/>
        </p:nvSpPr>
        <p:spPr>
          <a:xfrm>
            <a:off x="8412480" y="2258568"/>
            <a:ext cx="3108960" cy="1828800"/>
          </a:xfrm>
          <a:prstGeom prst="rect">
            <a:avLst/>
          </a:prstGeom>
          <a:noFill/>
        </p:spPr>
        <p:txBody>
          <a:bodyPr wrap="square" lIns="0" rIns="0" tIns="0" bIns="0">
            <a:spAutoFit/>
          </a:bodyPr>
          <a:lstStyle/>
          <a:p>
            <a:pPr algn="l"/>
            <a:r>
              <a:rPr sz="1350" b="0" i="1">
                <a:solidFill>
                  <a:srgbClr val="1E2530"/>
                </a:solidFill>
                <a:latin typeface="Cambria"/>
              </a:rPr>
              <a:t>Mildly reduced 41 to 51 (men), 41 to 53 (women). Moderate 30 to 40. Severe below 30.</a:t>
            </a:r>
          </a:p>
        </p:txBody>
      </p:sp>
      <p:cxnSp>
        <p:nvCxnSpPr>
          <p:cNvPr id="11" name="Connector 10"/>
          <p:cNvCxnSpPr/>
          <p:nvPr/>
        </p:nvCxnSpPr>
        <p:spPr>
          <a:xfrm>
            <a:off x="8412480" y="3840480"/>
            <a:ext cx="3108960" cy="0"/>
          </a:xfrm>
          <a:prstGeom prst="line">
            <a:avLst/>
          </a:prstGeom>
          <a:ln w="12700">
            <a:solidFill>
              <a:srgbClr val="3F5B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412480" y="3931920"/>
            <a:ext cx="3108960" cy="228600"/>
          </a:xfrm>
          <a:prstGeom prst="rect">
            <a:avLst/>
          </a:prstGeom>
          <a:noFill/>
        </p:spPr>
        <p:txBody>
          <a:bodyPr wrap="square" lIns="0" rIns="0" tIns="0" bIns="0">
            <a:spAutoFit/>
          </a:bodyPr>
          <a:lstStyle/>
          <a:p>
            <a:pPr algn="l"/>
            <a:r>
              <a:rPr sz="1000" b="1" i="0" spc="120">
                <a:solidFill>
                  <a:srgbClr val="3F5B73"/>
                </a:solidFill>
                <a:latin typeface="Calibri"/>
              </a:rPr>
              <a:t>STRAIN</a:t>
            </a:r>
          </a:p>
        </p:txBody>
      </p:sp>
      <p:sp>
        <p:nvSpPr>
          <p:cNvPr id="13" name="TextBox 12"/>
          <p:cNvSpPr txBox="1"/>
          <p:nvPr/>
        </p:nvSpPr>
        <p:spPr>
          <a:xfrm>
            <a:off x="8412480" y="4224528"/>
            <a:ext cx="3108960" cy="1828800"/>
          </a:xfrm>
          <a:prstGeom prst="rect">
            <a:avLst/>
          </a:prstGeom>
          <a:noFill/>
        </p:spPr>
        <p:txBody>
          <a:bodyPr wrap="square" lIns="0" rIns="0" tIns="0" bIns="0">
            <a:spAutoFit/>
          </a:bodyPr>
          <a:lstStyle/>
          <a:p>
            <a:pPr algn="l"/>
            <a:r>
              <a:rPr sz="1350" b="0" i="1">
                <a:solidFill>
                  <a:srgbClr val="1E2530"/>
                </a:solidFill>
                <a:latin typeface="Cambria"/>
              </a:rPr>
              <a:t>Abnormal when less negative than about −16%. A relative fall above 15% matters in cardio-oncology. Name the vendor.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CHAMBER QUANTIFICATION</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Geometry in one picture</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4</a:t>
            </a:r>
          </a:p>
        </p:txBody>
      </p:sp>
      <p:pic>
        <p:nvPicPr>
          <p:cNvPr id="7" name="Picture 6" descr="geometry.png"/>
          <p:cNvPicPr>
            <a:picLocks noChangeAspect="1"/>
          </p:cNvPicPr>
          <p:nvPr/>
        </p:nvPicPr>
        <p:blipFill>
          <a:blip r:embed="rId3"/>
          <a:stretch>
            <a:fillRect/>
          </a:stretch>
        </p:blipFill>
        <p:spPr>
          <a:xfrm>
            <a:off x="822960" y="1828800"/>
            <a:ext cx="6035040" cy="3160852"/>
          </a:xfrm>
          <a:prstGeom prst="rect">
            <a:avLst/>
          </a:prstGeom>
        </p:spPr>
      </p:pic>
      <p:sp>
        <p:nvSpPr>
          <p:cNvPr id="8" name="TextBox 7"/>
          <p:cNvSpPr txBox="1"/>
          <p:nvPr/>
        </p:nvSpPr>
        <p:spPr>
          <a:xfrm>
            <a:off x="7498079" y="1920240"/>
            <a:ext cx="4023360" cy="4389120"/>
          </a:xfrm>
          <a:prstGeom prst="rect">
            <a:avLst/>
          </a:prstGeom>
          <a:noFill/>
        </p:spPr>
        <p:txBody>
          <a:bodyPr wrap="square" lIns="0" rIns="0" tIns="0" bIns="0">
            <a:spAutoFit/>
          </a:bodyPr>
          <a:lstStyle/>
          <a:p>
            <a:pPr>
              <a:spcAft>
                <a:spcPts val="1000"/>
              </a:spcAft>
            </a:pPr>
            <a:r>
              <a:rPr b="1" sz="1600">
                <a:solidFill>
                  <a:srgbClr val="1E2530"/>
                </a:solidFill>
                <a:latin typeface="Cambria"/>
              </a:rPr>
              <a:t>Normal geometry</a:t>
            </a:r>
            <a:r>
              <a:rPr sz="1600">
                <a:solidFill>
                  <a:srgbClr val="1E2530"/>
                </a:solidFill>
                <a:latin typeface="Cambria"/>
              </a:rPr>
              <a:t>  mass normal, RWT 0.42 or less</a:t>
            </a:r>
          </a:p>
          <a:p>
            <a:pPr>
              <a:spcAft>
                <a:spcPts val="1000"/>
              </a:spcAft>
            </a:pPr>
            <a:r>
              <a:rPr b="1" sz="1600">
                <a:solidFill>
                  <a:srgbClr val="1E2530"/>
                </a:solidFill>
                <a:latin typeface="Cambria"/>
              </a:rPr>
              <a:t>Concentric remodelling</a:t>
            </a:r>
            <a:r>
              <a:rPr sz="1600">
                <a:solidFill>
                  <a:srgbClr val="1E2530"/>
                </a:solidFill>
                <a:latin typeface="Cambria"/>
              </a:rPr>
              <a:t>  mass normal, RWT above 0.42</a:t>
            </a:r>
          </a:p>
          <a:p>
            <a:pPr>
              <a:spcAft>
                <a:spcPts val="1000"/>
              </a:spcAft>
            </a:pPr>
            <a:r>
              <a:rPr b="1" sz="1600">
                <a:solidFill>
                  <a:srgbClr val="1E2530"/>
                </a:solidFill>
                <a:latin typeface="Cambria"/>
              </a:rPr>
              <a:t>Concentric hypertrophy</a:t>
            </a:r>
            <a:r>
              <a:rPr sz="1600">
                <a:solidFill>
                  <a:srgbClr val="1E2530"/>
                </a:solidFill>
                <a:latin typeface="Cambria"/>
              </a:rPr>
              <a:t>  mass raised, RWT above 0.42</a:t>
            </a:r>
          </a:p>
          <a:p>
            <a:pPr>
              <a:spcAft>
                <a:spcPts val="1000"/>
              </a:spcAft>
            </a:pPr>
            <a:r>
              <a:rPr b="1" sz="1600">
                <a:solidFill>
                  <a:srgbClr val="1E2530"/>
                </a:solidFill>
                <a:latin typeface="Cambria"/>
              </a:rPr>
              <a:t>Eccentric hypertrophy</a:t>
            </a:r>
            <a:r>
              <a:rPr sz="1600">
                <a:solidFill>
                  <a:srgbClr val="1E2530"/>
                </a:solidFill>
                <a:latin typeface="Cambria"/>
              </a:rPr>
              <a:t>  mass raised, RWT 0.42 or less</a:t>
            </a:r>
          </a:p>
        </p:txBody>
      </p:sp>
      <p:cxnSp>
        <p:nvCxnSpPr>
          <p:cNvPr id="9" name="Connector 8"/>
          <p:cNvCxnSpPr/>
          <p:nvPr/>
        </p:nvCxnSpPr>
        <p:spPr>
          <a:xfrm>
            <a:off x="7498079" y="4572000"/>
            <a:ext cx="4023361"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79" y="4663440"/>
            <a:ext cx="4023360" cy="228600"/>
          </a:xfrm>
          <a:prstGeom prst="rect">
            <a:avLst/>
          </a:prstGeom>
          <a:noFill/>
        </p:spPr>
        <p:txBody>
          <a:bodyPr wrap="square" lIns="0" rIns="0" tIns="0" bIns="0">
            <a:spAutoFit/>
          </a:bodyPr>
          <a:lstStyle/>
          <a:p>
            <a:pPr algn="l"/>
            <a:r>
              <a:rPr sz="1000" b="1" i="0" spc="120">
                <a:solidFill>
                  <a:srgbClr val="8A2D36"/>
                </a:solidFill>
                <a:latin typeface="Calibri"/>
              </a:rPr>
              <a:t>THINK</a:t>
            </a:r>
          </a:p>
        </p:txBody>
      </p:sp>
      <p:sp>
        <p:nvSpPr>
          <p:cNvPr id="11" name="TextBox 10"/>
          <p:cNvSpPr txBox="1"/>
          <p:nvPr/>
        </p:nvSpPr>
        <p:spPr>
          <a:xfrm>
            <a:off x="7498079" y="4956048"/>
            <a:ext cx="4023360" cy="1828800"/>
          </a:xfrm>
          <a:prstGeom prst="rect">
            <a:avLst/>
          </a:prstGeom>
          <a:noFill/>
        </p:spPr>
        <p:txBody>
          <a:bodyPr wrap="square" lIns="0" rIns="0" tIns="0" bIns="0">
            <a:spAutoFit/>
          </a:bodyPr>
          <a:lstStyle/>
          <a:p>
            <a:pPr algn="l"/>
            <a:r>
              <a:rPr sz="1350" b="0" i="1">
                <a:solidFill>
                  <a:srgbClr val="1E2530"/>
                </a:solidFill>
                <a:latin typeface="Cambria"/>
              </a:rPr>
              <a:t>Concentric hypertrophy in an older patient: hypertension, aortic stenosis, or amyloid. Rarely just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ASE 2025</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Left atrial pressure and diastology</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5</a:t>
            </a:r>
          </a:p>
        </p:txBody>
      </p:sp>
      <p:graphicFrame>
        <p:nvGraphicFramePr>
          <p:cNvPr id="7" name="Table 6"/>
          <p:cNvGraphicFramePr>
            <a:graphicFrameLocks noGrp="1"/>
          </p:cNvGraphicFramePr>
          <p:nvPr/>
        </p:nvGraphicFramePr>
        <p:xfrm>
          <a:off x="640080" y="1828800"/>
          <a:ext cx="7223760" cy="3520440"/>
        </p:xfrm>
        <a:graphic>
          <a:graphicData uri="http://schemas.openxmlformats.org/drawingml/2006/table">
            <a:tbl>
              <a:tblPr firstRow="0" bandRow="0">
                <a:tableStyleId>{2D5ABB26-0587-4C30-8999-92F81FD0307C}</a:tableStyleId>
              </a:tblPr>
              <a:tblGrid>
                <a:gridCol w="2743200"/>
                <a:gridCol w="4480560"/>
              </a:tblGrid>
              <a:tr h="502920">
                <a:tc>
                  <a:txBody>
                    <a:bodyPr/>
                    <a:lstStyle/>
                    <a:p>
                      <a:r>
                        <a:rPr sz="1200" b="1">
                          <a:solidFill>
                            <a:srgbClr val="626A75"/>
                          </a:solidFill>
                          <a:latin typeface="Calibri"/>
                        </a:rPr>
                        <a:t>Parameter</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200" b="1">
                          <a:solidFill>
                            <a:srgbClr val="626A75"/>
                          </a:solidFill>
                          <a:latin typeface="Calibri"/>
                        </a:rPr>
                        <a:t>Suggests raised LAP</a:t>
                      </a:r>
                    </a:p>
                  </a:txBody>
                  <a:tcPr marL="0" marR="109728" marT="45720" marB="45720" anchor="ctr">
                    <a:noFill/>
                    <a:lnB w="12700" cap="flat" cmpd="sng" algn="ctr">
                      <a:solidFill>
                        <a:srgbClr val="1E2530"/>
                      </a:solidFill>
                      <a:prstDash val="solid"/>
                    </a:lnB>
                    <a:lnL w="0">
                      <a:noFill/>
                    </a:lnL>
                    <a:lnR w="0">
                      <a:noFill/>
                    </a:lnR>
                    <a:lnT w="0">
                      <a:noFill/>
                    </a:lnT>
                  </a:tcPr>
                </a:tc>
              </a:tr>
              <a:tr h="502920">
                <a:tc>
                  <a:txBody>
                    <a:bodyPr/>
                    <a:lstStyle/>
                    <a:p>
                      <a:r>
                        <a:rPr sz="1500" b="1">
                          <a:solidFill>
                            <a:srgbClr val="1E2530"/>
                          </a:solidFill>
                          <a:latin typeface="Calibri"/>
                        </a:rPr>
                        <a:t>Septal 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Below 7 cm/s</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Lateral 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Below 10 cm/s</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Average E/e′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Above 14</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TR peak velocity</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Above 2.8 m/s</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LA volume index</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Above 34 mL/m²</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Mitral E/A</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2 or more (0.8 or less with E at or below 50: normal)</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8412480" y="1874519"/>
            <a:ext cx="310896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0" y="1965960"/>
            <a:ext cx="3108960" cy="228600"/>
          </a:xfrm>
          <a:prstGeom prst="rect">
            <a:avLst/>
          </a:prstGeom>
          <a:noFill/>
        </p:spPr>
        <p:txBody>
          <a:bodyPr wrap="square" lIns="0" rIns="0" tIns="0" bIns="0">
            <a:spAutoFit/>
          </a:bodyPr>
          <a:lstStyle/>
          <a:p>
            <a:pPr algn="l"/>
            <a:r>
              <a:rPr sz="1000" b="1" i="0" spc="120">
                <a:solidFill>
                  <a:srgbClr val="8A2D36"/>
                </a:solidFill>
                <a:latin typeface="Calibri"/>
              </a:rPr>
              <a:t>ATRIAL FIBRILLATION</a:t>
            </a:r>
          </a:p>
        </p:txBody>
      </p:sp>
      <p:sp>
        <p:nvSpPr>
          <p:cNvPr id="10" name="TextBox 9"/>
          <p:cNvSpPr txBox="1"/>
          <p:nvPr/>
        </p:nvSpPr>
        <p:spPr>
          <a:xfrm>
            <a:off x="8412480" y="2258568"/>
            <a:ext cx="3108960" cy="1828800"/>
          </a:xfrm>
          <a:prstGeom prst="rect">
            <a:avLst/>
          </a:prstGeom>
          <a:noFill/>
        </p:spPr>
        <p:txBody>
          <a:bodyPr wrap="square" lIns="0" rIns="0" tIns="0" bIns="0">
            <a:spAutoFit/>
          </a:bodyPr>
          <a:lstStyle/>
          <a:p>
            <a:pPr algn="l"/>
            <a:r>
              <a:rPr sz="1350" b="0" i="1">
                <a:solidFill>
                  <a:srgbClr val="1E2530"/>
                </a:solidFill>
                <a:latin typeface="Cambria"/>
              </a:rPr>
              <a:t>Septal E/e′ 11 or more, DT 160 ms or less, IVRT 65 ms or less, TR above 2.8 m/s.</a:t>
            </a:r>
          </a:p>
        </p:txBody>
      </p:sp>
      <p:cxnSp>
        <p:nvCxnSpPr>
          <p:cNvPr id="11" name="Connector 10"/>
          <p:cNvCxnSpPr/>
          <p:nvPr/>
        </p:nvCxnSpPr>
        <p:spPr>
          <a:xfrm>
            <a:off x="8412480" y="3840480"/>
            <a:ext cx="3108960" cy="0"/>
          </a:xfrm>
          <a:prstGeom prst="line">
            <a:avLst/>
          </a:prstGeom>
          <a:ln w="12700">
            <a:solidFill>
              <a:srgbClr val="1E253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412480" y="3931920"/>
            <a:ext cx="3108960" cy="228600"/>
          </a:xfrm>
          <a:prstGeom prst="rect">
            <a:avLst/>
          </a:prstGeom>
          <a:noFill/>
        </p:spPr>
        <p:txBody>
          <a:bodyPr wrap="square" lIns="0" rIns="0" tIns="0" bIns="0">
            <a:spAutoFit/>
          </a:bodyPr>
          <a:lstStyle/>
          <a:p>
            <a:pPr algn="l"/>
            <a:r>
              <a:rPr sz="1000" b="1" i="0" spc="120">
                <a:solidFill>
                  <a:srgbClr val="1E2530"/>
                </a:solidFill>
                <a:latin typeface="Calibri"/>
              </a:rPr>
              <a:t>WHERE IT GOES WRONG</a:t>
            </a:r>
          </a:p>
        </p:txBody>
      </p:sp>
      <p:sp>
        <p:nvSpPr>
          <p:cNvPr id="13" name="TextBox 12"/>
          <p:cNvSpPr txBox="1"/>
          <p:nvPr/>
        </p:nvSpPr>
        <p:spPr>
          <a:xfrm>
            <a:off x="8412480" y="4224528"/>
            <a:ext cx="3108960" cy="1828800"/>
          </a:xfrm>
          <a:prstGeom prst="rect">
            <a:avLst/>
          </a:prstGeom>
          <a:noFill/>
        </p:spPr>
        <p:txBody>
          <a:bodyPr wrap="square" lIns="0" rIns="0" tIns="0" bIns="0">
            <a:spAutoFit/>
          </a:bodyPr>
          <a:lstStyle/>
          <a:p>
            <a:pPr algn="l"/>
            <a:r>
              <a:rPr sz="1350" b="0" i="1">
                <a:solidFill>
                  <a:srgbClr val="1E2530"/>
                </a:solidFill>
                <a:latin typeface="Cambria"/>
              </a:rPr>
              <a:t>E/e′ in moderate to severe MAC, mitral stenosis, mitral prosthesis or severe primary MR.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RIGHT HEART</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The right ventricle</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6</a:t>
            </a:r>
          </a:p>
        </p:txBody>
      </p:sp>
      <p:graphicFrame>
        <p:nvGraphicFramePr>
          <p:cNvPr id="7" name="Table 6"/>
          <p:cNvGraphicFramePr>
            <a:graphicFrameLocks noGrp="1"/>
          </p:cNvGraphicFramePr>
          <p:nvPr/>
        </p:nvGraphicFramePr>
        <p:xfrm>
          <a:off x="640080" y="1828800"/>
          <a:ext cx="6949440" cy="3520440"/>
        </p:xfrm>
        <a:graphic>
          <a:graphicData uri="http://schemas.openxmlformats.org/drawingml/2006/table">
            <a:tbl>
              <a:tblPr firstRow="0" bandRow="0">
                <a:tableStyleId>{2D5ABB26-0587-4C30-8999-92F81FD0307C}</a:tableStyleId>
              </a:tblPr>
              <a:tblGrid>
                <a:gridCol w="2926080"/>
                <a:gridCol w="4023360"/>
              </a:tblGrid>
              <a:tr h="502920">
                <a:tc>
                  <a:txBody>
                    <a:bodyPr/>
                    <a:lstStyle/>
                    <a:p>
                      <a:r>
                        <a:rPr sz="1200" b="1">
                          <a:solidFill>
                            <a:srgbClr val="626A75"/>
                          </a:solidFill>
                          <a:latin typeface="Calibri"/>
                        </a:rPr>
                        <a:t>Parameter</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200" b="1">
                          <a:solidFill>
                            <a:srgbClr val="626A75"/>
                          </a:solidFill>
                          <a:latin typeface="Calibri"/>
                        </a:rPr>
                        <a:t>Abnormal when</a:t>
                      </a:r>
                    </a:p>
                  </a:txBody>
                  <a:tcPr marL="0" marR="109728" marT="45720" marB="45720" anchor="ctr">
                    <a:noFill/>
                    <a:lnB w="12700" cap="flat" cmpd="sng" algn="ctr">
                      <a:solidFill>
                        <a:srgbClr val="1E2530"/>
                      </a:solidFill>
                      <a:prstDash val="solid"/>
                    </a:lnB>
                    <a:lnL w="0">
                      <a:noFill/>
                    </a:lnL>
                    <a:lnR w="0">
                      <a:noFill/>
                    </a:lnR>
                    <a:lnT w="0">
                      <a:noFill/>
                    </a:lnT>
                  </a:tcPr>
                </a:tc>
              </a:tr>
              <a:tr h="502920">
                <a:tc>
                  <a:txBody>
                    <a:bodyPr/>
                    <a:lstStyle/>
                    <a:p>
                      <a:r>
                        <a:rPr sz="1500" b="1">
                          <a:solidFill>
                            <a:srgbClr val="1E2530"/>
                          </a:solidFill>
                          <a:latin typeface="Calibri"/>
                        </a:rPr>
                        <a:t>TAPSE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Below 17 mm</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S′ (tissue Doppler)</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Below 9.5 cm/s</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Fractional area change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Below 35%</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Free-wall strain</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Less negative than about −20%</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Basal diameter</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Above 41 mm</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Right atrial area</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Above 18 cm²</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8229600" y="1874519"/>
            <a:ext cx="3291840" cy="0"/>
          </a:xfrm>
          <a:prstGeom prst="line">
            <a:avLst/>
          </a:prstGeom>
          <a:ln w="12700">
            <a:solidFill>
              <a:srgbClr val="3F5B7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0" y="1965960"/>
            <a:ext cx="3291840" cy="228600"/>
          </a:xfrm>
          <a:prstGeom prst="rect">
            <a:avLst/>
          </a:prstGeom>
          <a:noFill/>
        </p:spPr>
        <p:txBody>
          <a:bodyPr wrap="square" lIns="0" rIns="0" tIns="0" bIns="0">
            <a:spAutoFit/>
          </a:bodyPr>
          <a:lstStyle/>
          <a:p>
            <a:pPr algn="l"/>
            <a:r>
              <a:rPr sz="1000" b="1" i="0" spc="120">
                <a:solidFill>
                  <a:srgbClr val="3F5B73"/>
                </a:solidFill>
                <a:latin typeface="Calibri"/>
              </a:rPr>
              <a:t>UNCOUPLING</a:t>
            </a:r>
          </a:p>
        </p:txBody>
      </p:sp>
      <p:sp>
        <p:nvSpPr>
          <p:cNvPr id="10" name="TextBox 9"/>
          <p:cNvSpPr txBox="1"/>
          <p:nvPr/>
        </p:nvSpPr>
        <p:spPr>
          <a:xfrm>
            <a:off x="8229600" y="2258568"/>
            <a:ext cx="3291840" cy="1828800"/>
          </a:xfrm>
          <a:prstGeom prst="rect">
            <a:avLst/>
          </a:prstGeom>
          <a:noFill/>
        </p:spPr>
        <p:txBody>
          <a:bodyPr wrap="square" lIns="0" rIns="0" tIns="0" bIns="0">
            <a:spAutoFit/>
          </a:bodyPr>
          <a:lstStyle/>
          <a:p>
            <a:pPr algn="l"/>
            <a:r>
              <a:rPr sz="1350" b="0" i="1">
                <a:solidFill>
                  <a:srgbClr val="1E2530"/>
                </a:solidFill>
                <a:latin typeface="Cambria"/>
              </a:rPr>
              <a:t>TAPSE to PASP ratio below 0.55 mm/mmHg: a worse prognosis.</a:t>
            </a:r>
          </a:p>
        </p:txBody>
      </p:sp>
      <p:cxnSp>
        <p:nvCxnSpPr>
          <p:cNvPr id="11" name="Connector 10"/>
          <p:cNvCxnSpPr/>
          <p:nvPr/>
        </p:nvCxnSpPr>
        <p:spPr>
          <a:xfrm>
            <a:off x="8229600" y="3566160"/>
            <a:ext cx="3291840" cy="0"/>
          </a:xfrm>
          <a:prstGeom prst="line">
            <a:avLst/>
          </a:prstGeom>
          <a:ln w="12700">
            <a:solidFill>
              <a:srgbClr val="1E253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0" y="3657600"/>
            <a:ext cx="3291840" cy="228600"/>
          </a:xfrm>
          <a:prstGeom prst="rect">
            <a:avLst/>
          </a:prstGeom>
          <a:noFill/>
        </p:spPr>
        <p:txBody>
          <a:bodyPr wrap="square" lIns="0" rIns="0" tIns="0" bIns="0">
            <a:spAutoFit/>
          </a:bodyPr>
          <a:lstStyle/>
          <a:p>
            <a:pPr algn="l"/>
            <a:r>
              <a:rPr sz="1000" b="1" i="0" spc="120">
                <a:solidFill>
                  <a:srgbClr val="1E2530"/>
                </a:solidFill>
                <a:latin typeface="Calibri"/>
              </a:rPr>
              <a:t>WHERE IT GOES WRONG</a:t>
            </a:r>
          </a:p>
        </p:txBody>
      </p:sp>
      <p:sp>
        <p:nvSpPr>
          <p:cNvPr id="13" name="TextBox 12"/>
          <p:cNvSpPr txBox="1"/>
          <p:nvPr/>
        </p:nvSpPr>
        <p:spPr>
          <a:xfrm>
            <a:off x="8229600" y="3950208"/>
            <a:ext cx="3291840" cy="1828800"/>
          </a:xfrm>
          <a:prstGeom prst="rect">
            <a:avLst/>
          </a:prstGeom>
          <a:noFill/>
        </p:spPr>
        <p:txBody>
          <a:bodyPr wrap="square" lIns="0" rIns="0" tIns="0" bIns="0">
            <a:spAutoFit/>
          </a:bodyPr>
          <a:lstStyle/>
          <a:p>
            <a:pPr algn="l"/>
            <a:r>
              <a:rPr sz="1350" b="0" i="1">
                <a:solidFill>
                  <a:srgbClr val="1E2530"/>
                </a:solidFill>
                <a:latin typeface="Cambria"/>
              </a:rPr>
              <a:t>Reporting a pressure from a faint TR envelope. Enhance with agitated saline and say so.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RIGHT HEART</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Probability of pulmonary hypertension</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7</a:t>
            </a:r>
          </a:p>
        </p:txBody>
      </p:sp>
      <p:graphicFrame>
        <p:nvGraphicFramePr>
          <p:cNvPr id="7" name="Table 6"/>
          <p:cNvGraphicFramePr>
            <a:graphicFrameLocks noGrp="1"/>
          </p:cNvGraphicFramePr>
          <p:nvPr/>
        </p:nvGraphicFramePr>
        <p:xfrm>
          <a:off x="640080" y="1828800"/>
          <a:ext cx="6766560" cy="3017520"/>
        </p:xfrm>
        <a:graphic>
          <a:graphicData uri="http://schemas.openxmlformats.org/drawingml/2006/table">
            <a:tbl>
              <a:tblPr firstRow="0" bandRow="0">
                <a:tableStyleId>{2D5ABB26-0587-4C30-8999-92F81FD0307C}</a:tableStyleId>
              </a:tblPr>
              <a:tblGrid>
                <a:gridCol w="2926080"/>
                <a:gridCol w="2011680"/>
                <a:gridCol w="1828800"/>
              </a:tblGrid>
              <a:tr h="502920">
                <a:tc>
                  <a:txBody>
                    <a:bodyPr/>
                    <a:lstStyle/>
                    <a:p>
                      <a:r>
                        <a:rPr sz="1200" b="1">
                          <a:solidFill>
                            <a:srgbClr val="626A75"/>
                          </a:solidFill>
                          <a:latin typeface="Calibri"/>
                        </a:rPr>
                        <a:t>TR peak velocity</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200" b="1">
                          <a:solidFill>
                            <a:srgbClr val="626A75"/>
                          </a:solidFill>
                          <a:latin typeface="Calibri"/>
                        </a:rPr>
                        <a:t>Other PH signs</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200" b="1">
                          <a:solidFill>
                            <a:srgbClr val="626A75"/>
                          </a:solidFill>
                          <a:latin typeface="Calibri"/>
                        </a:rPr>
                        <a:t>Probability</a:t>
                      </a:r>
                    </a:p>
                  </a:txBody>
                  <a:tcPr marL="0" marR="109728" marT="45720" marB="45720" anchor="ctr">
                    <a:noFill/>
                    <a:lnB w="12700" cap="flat" cmpd="sng" algn="ctr">
                      <a:solidFill>
                        <a:srgbClr val="1E2530"/>
                      </a:solidFill>
                      <a:prstDash val="solid"/>
                    </a:lnB>
                    <a:lnL w="0">
                      <a:noFill/>
                    </a:lnL>
                    <a:lnR w="0">
                      <a:noFill/>
                    </a:lnR>
                    <a:lnT w="0">
                      <a:noFill/>
                    </a:lnT>
                  </a:tcPr>
                </a:tc>
              </a:tr>
              <a:tr h="502920">
                <a:tc>
                  <a:txBody>
                    <a:bodyPr/>
                    <a:lstStyle/>
                    <a:p>
                      <a:r>
                        <a:rPr sz="1500" b="1">
                          <a:solidFill>
                            <a:srgbClr val="1E2530"/>
                          </a:solidFill>
                          <a:latin typeface="Calibri"/>
                        </a:rPr>
                        <a:t>2.8 m/s or less, or not seen</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None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1">
                          <a:solidFill>
                            <a:srgbClr val="8A2D36"/>
                          </a:solidFill>
                          <a:latin typeface="Calibri"/>
                        </a:rPr>
                        <a:t>Low</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2.8 m/s or less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Present</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1">
                          <a:solidFill>
                            <a:srgbClr val="8A2D36"/>
                          </a:solidFill>
                          <a:latin typeface="Calibri"/>
                        </a:rPr>
                        <a:t>Intermediate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2.9 to 3.4 m/s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None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1">
                          <a:solidFill>
                            <a:srgbClr val="8A2D36"/>
                          </a:solidFill>
                          <a:latin typeface="Calibri"/>
                        </a:rPr>
                        <a:t>Intermediate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2.9 to 3.4 m/s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Present</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1">
                          <a:solidFill>
                            <a:srgbClr val="8A2D36"/>
                          </a:solidFill>
                          <a:latin typeface="Calibri"/>
                        </a:rPr>
                        <a:t>High</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500" b="1">
                          <a:solidFill>
                            <a:srgbClr val="1E2530"/>
                          </a:solidFill>
                          <a:latin typeface="Calibri"/>
                        </a:rPr>
                        <a:t>Above 3.4 m/s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0">
                          <a:solidFill>
                            <a:srgbClr val="1E2530"/>
                          </a:solidFill>
                          <a:latin typeface="Calibri"/>
                        </a:rPr>
                        <a:t>Not required</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500" b="1">
                          <a:solidFill>
                            <a:srgbClr val="8A2D36"/>
                          </a:solidFill>
                          <a:latin typeface="Calibri"/>
                        </a:rPr>
                        <a:t>High</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7955279" y="1874519"/>
            <a:ext cx="3566161"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955279" y="1965960"/>
            <a:ext cx="3566160" cy="228600"/>
          </a:xfrm>
          <a:prstGeom prst="rect">
            <a:avLst/>
          </a:prstGeom>
          <a:noFill/>
        </p:spPr>
        <p:txBody>
          <a:bodyPr wrap="square" lIns="0" rIns="0" tIns="0" bIns="0">
            <a:spAutoFit/>
          </a:bodyPr>
          <a:lstStyle/>
          <a:p>
            <a:pPr algn="l"/>
            <a:r>
              <a:rPr sz="1000" b="1" i="0" spc="120">
                <a:solidFill>
                  <a:srgbClr val="8A2D36"/>
                </a:solidFill>
                <a:latin typeface="Calibri"/>
              </a:rPr>
              <a:t>RIGHT ATRIAL PRESSURE</a:t>
            </a:r>
          </a:p>
        </p:txBody>
      </p:sp>
      <p:sp>
        <p:nvSpPr>
          <p:cNvPr id="10" name="TextBox 9"/>
          <p:cNvSpPr txBox="1"/>
          <p:nvPr/>
        </p:nvSpPr>
        <p:spPr>
          <a:xfrm>
            <a:off x="7955279" y="2258568"/>
            <a:ext cx="3566160" cy="1828800"/>
          </a:xfrm>
          <a:prstGeom prst="rect">
            <a:avLst/>
          </a:prstGeom>
          <a:noFill/>
        </p:spPr>
        <p:txBody>
          <a:bodyPr wrap="square" lIns="0" rIns="0" tIns="0" bIns="0">
            <a:spAutoFit/>
          </a:bodyPr>
          <a:lstStyle/>
          <a:p>
            <a:pPr algn="l"/>
            <a:r>
              <a:rPr sz="1350" b="0" i="1">
                <a:solidFill>
                  <a:srgbClr val="1E2530"/>
                </a:solidFill>
                <a:latin typeface="Cambria"/>
              </a:rPr>
              <a:t>3 mmHg: IVC 21 mm or less, collapses over 50%. 15 mmHg: IVC over 21 mm, collapses under 50%. 8 mmHg: between.</a:t>
            </a:r>
          </a:p>
        </p:txBody>
      </p:sp>
      <p:sp>
        <p:nvSpPr>
          <p:cNvPr id="11" name="TextBox 10"/>
          <p:cNvSpPr txBox="1"/>
          <p:nvPr/>
        </p:nvSpPr>
        <p:spPr>
          <a:xfrm>
            <a:off x="640080" y="5120640"/>
            <a:ext cx="6766560" cy="914400"/>
          </a:xfrm>
          <a:prstGeom prst="rect">
            <a:avLst/>
          </a:prstGeom>
          <a:noFill/>
        </p:spPr>
        <p:txBody>
          <a:bodyPr wrap="square" lIns="0" rIns="0" tIns="0" bIns="0">
            <a:spAutoFit/>
          </a:bodyPr>
          <a:lstStyle/>
          <a:p>
            <a:pPr algn="l"/>
            <a:r>
              <a:rPr sz="1300" b="0" i="0">
                <a:solidFill>
                  <a:srgbClr val="626A75"/>
                </a:solidFill>
                <a:latin typeface="Cambria"/>
              </a:rPr>
              <a:t>Other signs: RV to LV basal ratio above 1.0, septal flattening, RVOT acceleration time under 105 ms, PR early diastolic velocity above 2.2 m/s, PA diameter above 25 mm, IVC over 21 mm, RA area above 18 cm².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Aortic stenosis: measure it right</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8</a:t>
            </a:r>
          </a:p>
        </p:txBody>
      </p:sp>
      <p:pic>
        <p:nvPicPr>
          <p:cNvPr id="7" name="Picture 6" descr="continuity.png"/>
          <p:cNvPicPr>
            <a:picLocks noChangeAspect="1"/>
          </p:cNvPicPr>
          <p:nvPr/>
        </p:nvPicPr>
        <p:blipFill>
          <a:blip r:embed="rId3"/>
          <a:stretch>
            <a:fillRect/>
          </a:stretch>
        </p:blipFill>
        <p:spPr>
          <a:xfrm>
            <a:off x="640080" y="1783080"/>
            <a:ext cx="6309360" cy="2816269"/>
          </a:xfrm>
          <a:prstGeom prst="rect">
            <a:avLst/>
          </a:prstGeom>
        </p:spPr>
      </p:pic>
      <p:sp>
        <p:nvSpPr>
          <p:cNvPr id="8" name="TextBox 7"/>
          <p:cNvSpPr txBox="1"/>
          <p:nvPr/>
        </p:nvSpPr>
        <p:spPr>
          <a:xfrm>
            <a:off x="7315200" y="1828800"/>
            <a:ext cx="4297680" cy="4389120"/>
          </a:xfrm>
          <a:prstGeom prst="rect">
            <a:avLst/>
          </a:prstGeom>
          <a:noFill/>
        </p:spPr>
        <p:txBody>
          <a:bodyPr wrap="square" lIns="0" rIns="0" tIns="0" bIns="0">
            <a:spAutoFit/>
          </a:bodyPr>
          <a:lstStyle/>
          <a:p>
            <a:pPr>
              <a:spcAft>
                <a:spcPts val="800"/>
              </a:spcAft>
            </a:pPr>
            <a:r>
              <a:rPr b="1" sz="1500">
                <a:solidFill>
                  <a:srgbClr val="1E2530"/>
                </a:solidFill>
                <a:latin typeface="Cambria"/>
              </a:rPr>
              <a:t>Vmax</a:t>
            </a:r>
            <a:r>
              <a:rPr sz="1500">
                <a:solidFill>
                  <a:srgbClr val="1E2530"/>
                </a:solidFill>
                <a:latin typeface="Cambria"/>
              </a:rPr>
              <a:t>  several windows, dedicated probe, report the highest</a:t>
            </a:r>
          </a:p>
          <a:p>
            <a:pPr>
              <a:spcAft>
                <a:spcPts val="800"/>
              </a:spcAft>
            </a:pPr>
            <a:r>
              <a:rPr b="1" sz="1500">
                <a:solidFill>
                  <a:srgbClr val="1E2530"/>
                </a:solidFill>
                <a:latin typeface="Cambria"/>
              </a:rPr>
              <a:t>Mean gradient</a:t>
            </a:r>
            <a:r>
              <a:rPr sz="1500">
                <a:solidFill>
                  <a:srgbClr val="1E2530"/>
                </a:solidFill>
                <a:latin typeface="Cambria"/>
              </a:rPr>
              <a:t>  from the same envelope</a:t>
            </a:r>
          </a:p>
          <a:p>
            <a:pPr>
              <a:spcAft>
                <a:spcPts val="800"/>
              </a:spcAft>
            </a:pPr>
            <a:r>
              <a:rPr b="1" sz="1500">
                <a:solidFill>
                  <a:srgbClr val="1E2530"/>
                </a:solidFill>
                <a:latin typeface="Cambria"/>
              </a:rPr>
              <a:t>AVA</a:t>
            </a:r>
            <a:r>
              <a:rPr sz="1500">
                <a:solidFill>
                  <a:srgbClr val="1E2530"/>
                </a:solidFill>
                <a:latin typeface="Cambria"/>
              </a:rPr>
              <a:t>  continuity; LVOT diameter is squared</a:t>
            </a:r>
          </a:p>
          <a:p>
            <a:pPr>
              <a:spcAft>
                <a:spcPts val="800"/>
              </a:spcAft>
            </a:pPr>
            <a:r>
              <a:rPr b="1" sz="1500">
                <a:solidFill>
                  <a:srgbClr val="1E2530"/>
                </a:solidFill>
                <a:latin typeface="Cambria"/>
              </a:rPr>
              <a:t>DVI</a:t>
            </a:r>
            <a:r>
              <a:rPr sz="1500">
                <a:solidFill>
                  <a:srgbClr val="1E2530"/>
                </a:solidFill>
                <a:latin typeface="Cambria"/>
              </a:rPr>
              <a:t>  LVOT VTI over aortic VTI; severe at 0.25 or less</a:t>
            </a:r>
          </a:p>
          <a:p>
            <a:pPr>
              <a:spcAft>
                <a:spcPts val="800"/>
              </a:spcAft>
            </a:pPr>
            <a:r>
              <a:rPr b="1" sz="1500">
                <a:solidFill>
                  <a:srgbClr val="1E2530"/>
                </a:solidFill>
                <a:latin typeface="Cambria"/>
              </a:rPr>
              <a:t>SVi</a:t>
            </a:r>
            <a:r>
              <a:rPr sz="1500">
                <a:solidFill>
                  <a:srgbClr val="1E2530"/>
                </a:solidFill>
                <a:latin typeface="Cambria"/>
              </a:rPr>
              <a:t>  low flow is below 35 mL/m²</a:t>
            </a:r>
          </a:p>
        </p:txBody>
      </p:sp>
      <p:cxnSp>
        <p:nvCxnSpPr>
          <p:cNvPr id="9" name="Connector 8"/>
          <p:cNvCxnSpPr/>
          <p:nvPr/>
        </p:nvCxnSpPr>
        <p:spPr>
          <a:xfrm>
            <a:off x="7315200" y="5074920"/>
            <a:ext cx="420624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0" y="5166359"/>
            <a:ext cx="4206240" cy="228600"/>
          </a:xfrm>
          <a:prstGeom prst="rect">
            <a:avLst/>
          </a:prstGeom>
          <a:noFill/>
        </p:spPr>
        <p:txBody>
          <a:bodyPr wrap="square" lIns="0" rIns="0" tIns="0" bIns="0">
            <a:spAutoFit/>
          </a:bodyPr>
          <a:lstStyle/>
          <a:p>
            <a:pPr algn="l"/>
            <a:r>
              <a:rPr sz="1000" b="1" i="0" spc="120">
                <a:solidFill>
                  <a:srgbClr val="8A2D36"/>
                </a:solidFill>
                <a:latin typeface="Calibri"/>
              </a:rPr>
              <a:t>RULE</a:t>
            </a:r>
          </a:p>
        </p:txBody>
      </p:sp>
      <p:sp>
        <p:nvSpPr>
          <p:cNvPr id="11" name="TextBox 10"/>
          <p:cNvSpPr txBox="1"/>
          <p:nvPr/>
        </p:nvSpPr>
        <p:spPr>
          <a:xfrm>
            <a:off x="7315200" y="5458968"/>
            <a:ext cx="4206240" cy="1828800"/>
          </a:xfrm>
          <a:prstGeom prst="rect">
            <a:avLst/>
          </a:prstGeom>
          <a:noFill/>
        </p:spPr>
        <p:txBody>
          <a:bodyPr wrap="square" lIns="0" rIns="0" tIns="0" bIns="0">
            <a:spAutoFit/>
          </a:bodyPr>
          <a:lstStyle/>
          <a:p>
            <a:pPr algn="l"/>
            <a:r>
              <a:rPr sz="1350" b="0" i="1">
                <a:solidFill>
                  <a:srgbClr val="1E2530"/>
                </a:solidFill>
                <a:latin typeface="Cambria"/>
              </a:rPr>
              <a:t>Misalignment always underestimates velocity.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Grading severity</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9</a:t>
            </a:r>
          </a:p>
        </p:txBody>
      </p:sp>
      <p:pic>
        <p:nvPicPr>
          <p:cNvPr id="7" name="Picture 6" descr="ladder.png"/>
          <p:cNvPicPr>
            <a:picLocks noChangeAspect="1"/>
          </p:cNvPicPr>
          <p:nvPr/>
        </p:nvPicPr>
        <p:blipFill>
          <a:blip r:embed="rId3"/>
          <a:stretch>
            <a:fillRect/>
          </a:stretch>
        </p:blipFill>
        <p:spPr>
          <a:xfrm>
            <a:off x="640080" y="1828800"/>
            <a:ext cx="10881360" cy="3190217"/>
          </a:xfrm>
          <a:prstGeom prst="rect">
            <a:avLst/>
          </a:prstGeom>
        </p:spPr>
      </p:pic>
      <p:sp>
        <p:nvSpPr>
          <p:cNvPr id="8" name="TextBox 7"/>
          <p:cNvSpPr txBox="1"/>
          <p:nvPr/>
        </p:nvSpPr>
        <p:spPr>
          <a:xfrm>
            <a:off x="640080" y="5715000"/>
            <a:ext cx="10881360" cy="457200"/>
          </a:xfrm>
          <a:prstGeom prst="rect">
            <a:avLst/>
          </a:prstGeom>
          <a:noFill/>
        </p:spPr>
        <p:txBody>
          <a:bodyPr wrap="square" lIns="0" rIns="0" tIns="0" bIns="0">
            <a:spAutoFit/>
          </a:bodyPr>
          <a:lstStyle/>
          <a:p>
            <a:pPr algn="l"/>
            <a:r>
              <a:rPr sz="1200" b="0" i="0">
                <a:solidFill>
                  <a:srgbClr val="626A75"/>
                </a:solidFill>
                <a:latin typeface="Calibri"/>
              </a:rPr>
              <a:t>AVAi for severe AS: 0.6 cm²/m² or less. Source: ESC/EACTS, ASE/EACVI 2017, ACC/AHA 2020.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Critical aortic stenosis</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10</a:t>
            </a:r>
          </a:p>
        </p:txBody>
      </p:sp>
      <p:sp>
        <p:nvSpPr>
          <p:cNvPr id="7" name="Rectangle 6"/>
          <p:cNvSpPr/>
          <p:nvPr/>
        </p:nvSpPr>
        <p:spPr>
          <a:xfrm>
            <a:off x="640080" y="1828800"/>
            <a:ext cx="6675120" cy="4206240"/>
          </a:xfrm>
          <a:prstGeom prst="rect">
            <a:avLst/>
          </a:prstGeom>
          <a:solidFill>
            <a:srgbClr val="F1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28800"/>
            <a:ext cx="54864" cy="4206240"/>
          </a:xfrm>
          <a:prstGeom prst="rect">
            <a:avLst/>
          </a:prstGeom>
          <a:solidFill>
            <a:srgbClr val="8A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93392"/>
            <a:ext cx="6675120" cy="228600"/>
          </a:xfrm>
          <a:prstGeom prst="rect">
            <a:avLst/>
          </a:prstGeom>
          <a:noFill/>
        </p:spPr>
        <p:txBody>
          <a:bodyPr wrap="square" lIns="0" rIns="0" tIns="0" bIns="0">
            <a:spAutoFit/>
          </a:bodyPr>
          <a:lstStyle/>
          <a:p>
            <a:pPr algn="l"/>
            <a:r>
              <a:rPr sz="1000" b="1" i="0" spc="120">
                <a:solidFill>
                  <a:srgbClr val="8A2D36"/>
                </a:solidFill>
                <a:latin typeface="Calibri"/>
              </a:rPr>
              <a:t>DEFINITION</a:t>
            </a:r>
          </a:p>
        </p:txBody>
      </p:sp>
      <p:sp>
        <p:nvSpPr>
          <p:cNvPr id="10" name="TextBox 9"/>
          <p:cNvSpPr txBox="1"/>
          <p:nvPr/>
        </p:nvSpPr>
        <p:spPr>
          <a:xfrm>
            <a:off x="914400" y="2331720"/>
            <a:ext cx="6126480" cy="3657599"/>
          </a:xfrm>
          <a:prstGeom prst="rect">
            <a:avLst/>
          </a:prstGeom>
          <a:noFill/>
        </p:spPr>
        <p:txBody>
          <a:bodyPr wrap="square" lIns="0" rIns="0" tIns="0" bIns="0">
            <a:spAutoFit/>
          </a:bodyPr>
          <a:lstStyle/>
          <a:p>
            <a:pPr algn="l">
              <a:spcAft>
                <a:spcPts val="600"/>
              </a:spcAft>
            </a:pPr>
            <a:r>
              <a:rPr sz="1900" b="0" i="0">
                <a:solidFill>
                  <a:srgbClr val="1E2530"/>
                </a:solidFill>
                <a:latin typeface="Cambria"/>
              </a:rPr>
              <a:t>In adults, critical or very severe AS means a peak velocity of 5.0 m/s or more and / or a mean gradient of 60 mmHg or more, usually with an AVA below 0.6 cm².</a:t>
            </a:r>
          </a:p>
          <a:p>
            <a:pPr algn="l">
              <a:spcAft>
                <a:spcPts val="600"/>
              </a:spcAft>
            </a:pPr>
            <a:r>
              <a:rPr sz="1900" b="0" i="0">
                <a:solidFill>
                  <a:srgbClr val="1E2530"/>
                </a:solidFill>
                <a:latin typeface="Cambria"/>
              </a:rPr>
              <a:t>ACC/AHA 2020 says very severe. ESC/EACTS treats a velocity above 5.0 m/s as a marker that supports early intervention even without symptoms.</a:t>
            </a:r>
          </a:p>
          <a:p>
            <a:pPr algn="l">
              <a:spcAft>
                <a:spcPts val="600"/>
              </a:spcAft>
            </a:pPr>
            <a:r>
              <a:rPr sz="1900" b="0" i="0">
                <a:solidFill>
                  <a:srgbClr val="1E2530"/>
                </a:solidFill>
                <a:latin typeface="Cambria"/>
              </a:rPr>
              <a:t>Report the numbers, not only the label.</a:t>
            </a:r>
          </a:p>
        </p:txBody>
      </p:sp>
      <p:cxnSp>
        <p:nvCxnSpPr>
          <p:cNvPr id="11" name="Connector 10"/>
          <p:cNvCxnSpPr/>
          <p:nvPr/>
        </p:nvCxnSpPr>
        <p:spPr>
          <a:xfrm>
            <a:off x="7955279" y="1874519"/>
            <a:ext cx="3566161" cy="0"/>
          </a:xfrm>
          <a:prstGeom prst="line">
            <a:avLst/>
          </a:prstGeom>
          <a:ln w="12700">
            <a:solidFill>
              <a:srgbClr val="3F5B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955279" y="1965960"/>
            <a:ext cx="3566160" cy="228600"/>
          </a:xfrm>
          <a:prstGeom prst="rect">
            <a:avLst/>
          </a:prstGeom>
          <a:noFill/>
        </p:spPr>
        <p:txBody>
          <a:bodyPr wrap="square" lIns="0" rIns="0" tIns="0" bIns="0">
            <a:spAutoFit/>
          </a:bodyPr>
          <a:lstStyle/>
          <a:p>
            <a:pPr algn="l"/>
            <a:r>
              <a:rPr sz="1000" b="1" i="0" spc="120">
                <a:solidFill>
                  <a:srgbClr val="3F5B73"/>
                </a:solidFill>
                <a:latin typeface="Calibri"/>
              </a:rPr>
              <a:t>NEONATES</a:t>
            </a:r>
          </a:p>
        </p:txBody>
      </p:sp>
      <p:sp>
        <p:nvSpPr>
          <p:cNvPr id="13" name="TextBox 12"/>
          <p:cNvSpPr txBox="1"/>
          <p:nvPr/>
        </p:nvSpPr>
        <p:spPr>
          <a:xfrm>
            <a:off x="7955279" y="2258568"/>
            <a:ext cx="3566160" cy="1828800"/>
          </a:xfrm>
          <a:prstGeom prst="rect">
            <a:avLst/>
          </a:prstGeom>
          <a:noFill/>
        </p:spPr>
        <p:txBody>
          <a:bodyPr wrap="square" lIns="0" rIns="0" tIns="0" bIns="0">
            <a:spAutoFit/>
          </a:bodyPr>
          <a:lstStyle/>
          <a:p>
            <a:pPr algn="l"/>
            <a:r>
              <a:rPr sz="1400" b="0" i="1">
                <a:solidFill>
                  <a:srgbClr val="1E2530"/>
                </a:solidFill>
                <a:latin typeface="Cambria"/>
              </a:rPr>
              <a:t>Critical AS in a newborn is a duct-dependent systemic circulation. Adult cut-offs do not apply.</a:t>
            </a:r>
          </a:p>
        </p:txBody>
      </p:sp>
      <p:cxnSp>
        <p:nvCxnSpPr>
          <p:cNvPr id="14" name="Connector 13"/>
          <p:cNvCxnSpPr/>
          <p:nvPr/>
        </p:nvCxnSpPr>
        <p:spPr>
          <a:xfrm>
            <a:off x="7955279" y="3840480"/>
            <a:ext cx="3566161"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955279" y="3931920"/>
            <a:ext cx="3566160" cy="228600"/>
          </a:xfrm>
          <a:prstGeom prst="rect">
            <a:avLst/>
          </a:prstGeom>
          <a:noFill/>
        </p:spPr>
        <p:txBody>
          <a:bodyPr wrap="square" lIns="0" rIns="0" tIns="0" bIns="0">
            <a:spAutoFit/>
          </a:bodyPr>
          <a:lstStyle/>
          <a:p>
            <a:pPr algn="l"/>
            <a:r>
              <a:rPr sz="1000" b="1" i="0" spc="120">
                <a:solidFill>
                  <a:srgbClr val="8A2D36"/>
                </a:solidFill>
                <a:latin typeface="Calibri"/>
              </a:rPr>
              <a:t>MIND THE FLOW</a:t>
            </a:r>
          </a:p>
        </p:txBody>
      </p:sp>
      <p:sp>
        <p:nvSpPr>
          <p:cNvPr id="16" name="TextBox 15"/>
          <p:cNvSpPr txBox="1"/>
          <p:nvPr/>
        </p:nvSpPr>
        <p:spPr>
          <a:xfrm>
            <a:off x="7955279" y="4224528"/>
            <a:ext cx="3566160" cy="1828800"/>
          </a:xfrm>
          <a:prstGeom prst="rect">
            <a:avLst/>
          </a:prstGeom>
          <a:noFill/>
        </p:spPr>
        <p:txBody>
          <a:bodyPr wrap="square" lIns="0" rIns="0" tIns="0" bIns="0">
            <a:spAutoFit/>
          </a:bodyPr>
          <a:lstStyle/>
          <a:p>
            <a:pPr algn="l"/>
            <a:r>
              <a:rPr sz="1400" b="0" i="1">
                <a:solidFill>
                  <a:srgbClr val="1E2530"/>
                </a:solidFill>
                <a:latin typeface="Cambria"/>
              </a:rPr>
              <a:t>A very narrow valve with low stroke volume can give a modest gradient.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When the numbers disagree</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11</a:t>
            </a:r>
          </a:p>
        </p:txBody>
      </p:sp>
      <p:pic>
        <p:nvPicPr>
          <p:cNvPr id="7" name="Picture 6" descr="discord.png"/>
          <p:cNvPicPr>
            <a:picLocks noChangeAspect="1"/>
          </p:cNvPicPr>
          <p:nvPr/>
        </p:nvPicPr>
        <p:blipFill>
          <a:blip r:embed="rId3"/>
          <a:stretch>
            <a:fillRect/>
          </a:stretch>
        </p:blipFill>
        <p:spPr>
          <a:xfrm>
            <a:off x="640080" y="1691640"/>
            <a:ext cx="6675120" cy="4769002"/>
          </a:xfrm>
          <a:prstGeom prst="rect">
            <a:avLst/>
          </a:prstGeom>
        </p:spPr>
      </p:pic>
      <p:sp>
        <p:nvSpPr>
          <p:cNvPr id="8" name="TextBox 7"/>
          <p:cNvSpPr txBox="1"/>
          <p:nvPr/>
        </p:nvSpPr>
        <p:spPr>
          <a:xfrm>
            <a:off x="7680960" y="1920240"/>
            <a:ext cx="3931920" cy="4389120"/>
          </a:xfrm>
          <a:prstGeom prst="rect">
            <a:avLst/>
          </a:prstGeom>
          <a:noFill/>
        </p:spPr>
        <p:txBody>
          <a:bodyPr wrap="square" lIns="0" rIns="0" tIns="0" bIns="0">
            <a:spAutoFit/>
          </a:bodyPr>
          <a:lstStyle/>
          <a:p>
            <a:pPr>
              <a:spcAft>
                <a:spcPts val="1200"/>
              </a:spcAft>
            </a:pPr>
            <a:r>
              <a:rPr b="1" sz="1600">
                <a:solidFill>
                  <a:srgbClr val="1E2530"/>
                </a:solidFill>
                <a:latin typeface="Cambria"/>
              </a:rPr>
              <a:t>Flow first</a:t>
            </a:r>
            <a:r>
              <a:rPr sz="1600">
                <a:solidFill>
                  <a:srgbClr val="1E2530"/>
                </a:solidFill>
                <a:latin typeface="Cambria"/>
              </a:rPr>
              <a:t>  SVi below 35 mL/m² defines low flow, regardless of LVEF.</a:t>
            </a:r>
          </a:p>
          <a:p>
            <a:pPr>
              <a:spcAft>
                <a:spcPts val="1200"/>
              </a:spcAft>
            </a:pPr>
            <a:r>
              <a:rPr b="1" sz="1600">
                <a:solidFill>
                  <a:srgbClr val="1E2530"/>
                </a:solidFill>
                <a:latin typeface="Cambria"/>
              </a:rPr>
              <a:t>Then LVEF</a:t>
            </a:r>
            <a:r>
              <a:rPr sz="1600">
                <a:solidFill>
                  <a:srgbClr val="1E2530"/>
                </a:solidFill>
                <a:latin typeface="Cambria"/>
              </a:rPr>
              <a:t>  it separates the two low-flow types.</a:t>
            </a:r>
          </a:p>
          <a:p>
            <a:pPr>
              <a:spcAft>
                <a:spcPts val="1200"/>
              </a:spcAft>
            </a:pPr>
            <a:r>
              <a:rPr b="1" sz="1600">
                <a:solidFill>
                  <a:srgbClr val="1E2530"/>
                </a:solidFill>
                <a:latin typeface="Cambria"/>
              </a:rPr>
              <a:t>Then confirm</a:t>
            </a:r>
            <a:r>
              <a:rPr sz="1600">
                <a:solidFill>
                  <a:srgbClr val="1E2530"/>
                </a:solidFill>
                <a:latin typeface="Cambria"/>
              </a:rPr>
              <a:t>  DSE, CT calcium, or both.</a:t>
            </a:r>
          </a:p>
        </p:txBody>
      </p:sp>
      <p:cxnSp>
        <p:nvCxnSpPr>
          <p:cNvPr id="9" name="Connector 8"/>
          <p:cNvCxnSpPr/>
          <p:nvPr/>
        </p:nvCxnSpPr>
        <p:spPr>
          <a:xfrm>
            <a:off x="7680960" y="4572000"/>
            <a:ext cx="393192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680960" y="4663440"/>
            <a:ext cx="3931920" cy="228600"/>
          </a:xfrm>
          <a:prstGeom prst="rect">
            <a:avLst/>
          </a:prstGeom>
          <a:noFill/>
        </p:spPr>
        <p:txBody>
          <a:bodyPr wrap="square" lIns="0" rIns="0" tIns="0" bIns="0">
            <a:spAutoFit/>
          </a:bodyPr>
          <a:lstStyle/>
          <a:p>
            <a:pPr algn="l"/>
            <a:r>
              <a:rPr sz="1000" b="1" i="0" spc="120">
                <a:solidFill>
                  <a:srgbClr val="8A2D36"/>
                </a:solidFill>
                <a:latin typeface="Calibri"/>
              </a:rPr>
              <a:t>THIRD GROUP</a:t>
            </a:r>
          </a:p>
        </p:txBody>
      </p:sp>
      <p:sp>
        <p:nvSpPr>
          <p:cNvPr id="11" name="TextBox 10"/>
          <p:cNvSpPr txBox="1"/>
          <p:nvPr/>
        </p:nvSpPr>
        <p:spPr>
          <a:xfrm>
            <a:off x="7680960" y="4956048"/>
            <a:ext cx="3931920" cy="1828800"/>
          </a:xfrm>
          <a:prstGeom prst="rect">
            <a:avLst/>
          </a:prstGeom>
          <a:noFill/>
        </p:spPr>
        <p:txBody>
          <a:bodyPr wrap="square" lIns="0" rIns="0" tIns="0" bIns="0">
            <a:spAutoFit/>
          </a:bodyPr>
          <a:lstStyle/>
          <a:p>
            <a:pPr algn="l"/>
            <a:r>
              <a:rPr sz="1350" b="0" i="1">
                <a:solidFill>
                  <a:srgbClr val="1E2530"/>
                </a:solidFill>
                <a:latin typeface="Cambria"/>
              </a:rPr>
              <a:t>Normal-flow, low-gradient: usually moderate AS or a measurement inconsistency.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A working algorithm</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12</a:t>
            </a:r>
          </a:p>
        </p:txBody>
      </p:sp>
      <p:pic>
        <p:nvPicPr>
          <p:cNvPr id="7" name="Picture 6" descr="algo.png"/>
          <p:cNvPicPr>
            <a:picLocks noChangeAspect="1"/>
          </p:cNvPicPr>
          <p:nvPr/>
        </p:nvPicPr>
        <p:blipFill>
          <a:blip r:embed="rId3"/>
          <a:stretch>
            <a:fillRect/>
          </a:stretch>
        </p:blipFill>
        <p:spPr>
          <a:xfrm>
            <a:off x="2743200" y="1600200"/>
            <a:ext cx="6675120" cy="5053066"/>
          </a:xfrm>
          <a:prstGeom prst="rect">
            <a:avLst/>
          </a:prstGeom>
        </p:spPr>
      </p:pic>
      <p:cxnSp>
        <p:nvCxnSpPr>
          <p:cNvPr id="8" name="Connector 7"/>
          <p:cNvCxnSpPr/>
          <p:nvPr/>
        </p:nvCxnSpPr>
        <p:spPr>
          <a:xfrm>
            <a:off x="640080" y="2011680"/>
            <a:ext cx="182880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2103120"/>
            <a:ext cx="1828800" cy="228600"/>
          </a:xfrm>
          <a:prstGeom prst="rect">
            <a:avLst/>
          </a:prstGeom>
          <a:noFill/>
        </p:spPr>
        <p:txBody>
          <a:bodyPr wrap="square" lIns="0" rIns="0" tIns="0" bIns="0">
            <a:spAutoFit/>
          </a:bodyPr>
          <a:lstStyle/>
          <a:p>
            <a:pPr algn="l"/>
            <a:r>
              <a:rPr sz="1000" b="1" i="0" spc="120">
                <a:solidFill>
                  <a:srgbClr val="8A2D36"/>
                </a:solidFill>
                <a:latin typeface="Calibri"/>
              </a:rPr>
              <a:t>READ</a:t>
            </a:r>
          </a:p>
        </p:txBody>
      </p:sp>
      <p:sp>
        <p:nvSpPr>
          <p:cNvPr id="10" name="TextBox 9"/>
          <p:cNvSpPr txBox="1"/>
          <p:nvPr/>
        </p:nvSpPr>
        <p:spPr>
          <a:xfrm>
            <a:off x="640080" y="2395728"/>
            <a:ext cx="1828800" cy="1828800"/>
          </a:xfrm>
          <a:prstGeom prst="rect">
            <a:avLst/>
          </a:prstGeom>
          <a:noFill/>
        </p:spPr>
        <p:txBody>
          <a:bodyPr wrap="square" lIns="0" rIns="0" tIns="0" bIns="0">
            <a:spAutoFit/>
          </a:bodyPr>
          <a:lstStyle/>
          <a:p>
            <a:pPr algn="l"/>
            <a:r>
              <a:rPr sz="1300" b="0" i="1">
                <a:solidFill>
                  <a:srgbClr val="1E2530"/>
                </a:solidFill>
                <a:latin typeface="Cambria"/>
              </a:rPr>
              <a:t>Flow decides the branch.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Classical low-flow, low-gradient AS</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13</a:t>
            </a:r>
          </a:p>
        </p:txBody>
      </p:sp>
      <p:sp>
        <p:nvSpPr>
          <p:cNvPr id="7" name="TextBox 6"/>
          <p:cNvSpPr txBox="1"/>
          <p:nvPr/>
        </p:nvSpPr>
        <p:spPr>
          <a:xfrm>
            <a:off x="640080" y="1828800"/>
            <a:ext cx="6766560" cy="4389120"/>
          </a:xfrm>
          <a:prstGeom prst="rect">
            <a:avLst/>
          </a:prstGeom>
          <a:noFill/>
        </p:spPr>
        <p:txBody>
          <a:bodyPr wrap="square" lIns="0" rIns="0" tIns="0" bIns="0">
            <a:spAutoFit/>
          </a:bodyPr>
          <a:lstStyle/>
          <a:p>
            <a:pPr>
              <a:spcAft>
                <a:spcPts val="900"/>
              </a:spcAft>
            </a:pPr>
            <a:r>
              <a:rPr b="1" sz="1650">
                <a:solidFill>
                  <a:srgbClr val="1E2530"/>
                </a:solidFill>
                <a:latin typeface="Cambria"/>
              </a:rPr>
              <a:t>Definition</a:t>
            </a:r>
            <a:r>
              <a:rPr sz="1650">
                <a:solidFill>
                  <a:srgbClr val="1E2530"/>
                </a:solidFill>
                <a:latin typeface="Cambria"/>
              </a:rPr>
              <a:t>  AVA 1.0 or less, MG below 40, LVEF below 50%, SVi below 35 (stage D2).</a:t>
            </a:r>
          </a:p>
          <a:p>
            <a:pPr>
              <a:spcAft>
                <a:spcPts val="900"/>
              </a:spcAft>
            </a:pPr>
            <a:r>
              <a:rPr b="1" sz="1650">
                <a:solidFill>
                  <a:srgbClr val="1E2530"/>
                </a:solidFill>
                <a:latin typeface="Cambria"/>
              </a:rPr>
              <a:t>The question</a:t>
            </a:r>
            <a:r>
              <a:rPr sz="1650">
                <a:solidFill>
                  <a:srgbClr val="1E2530"/>
                </a:solidFill>
                <a:latin typeface="Cambria"/>
              </a:rPr>
              <a:t>  true-severe, or a weak ventricle with a moderate valve?</a:t>
            </a:r>
          </a:p>
          <a:p>
            <a:pPr>
              <a:spcAft>
                <a:spcPts val="900"/>
              </a:spcAft>
            </a:pPr>
            <a:r>
              <a:rPr b="1" sz="1650">
                <a:solidFill>
                  <a:srgbClr val="1E2530"/>
                </a:solidFill>
                <a:latin typeface="Cambria"/>
              </a:rPr>
              <a:t>DSE</a:t>
            </a:r>
            <a:r>
              <a:rPr sz="1650">
                <a:solidFill>
                  <a:srgbClr val="1E2530"/>
                </a:solidFill>
                <a:latin typeface="Cambria"/>
              </a:rPr>
              <a:t>  2.5 to 5, up to 20 µg/kg/min.</a:t>
            </a:r>
          </a:p>
          <a:p>
            <a:pPr>
              <a:spcAft>
                <a:spcPts val="900"/>
              </a:spcAft>
            </a:pPr>
            <a:r>
              <a:rPr b="1" sz="1650">
                <a:solidFill>
                  <a:srgbClr val="1E2530"/>
                </a:solidFill>
                <a:latin typeface="Cambria"/>
              </a:rPr>
              <a:t>Flow reserve</a:t>
            </a:r>
            <a:r>
              <a:rPr sz="1650">
                <a:solidFill>
                  <a:srgbClr val="1E2530"/>
                </a:solidFill>
                <a:latin typeface="Cambria"/>
              </a:rPr>
              <a:t>  stroke volume rise of 20% or more.</a:t>
            </a:r>
          </a:p>
          <a:p>
            <a:pPr>
              <a:spcAft>
                <a:spcPts val="900"/>
              </a:spcAft>
            </a:pPr>
            <a:r>
              <a:rPr b="1" sz="1650">
                <a:solidFill>
                  <a:srgbClr val="1E2530"/>
                </a:solidFill>
                <a:latin typeface="Cambria"/>
              </a:rPr>
              <a:t>True-severe</a:t>
            </a:r>
            <a:r>
              <a:rPr sz="1650">
                <a:solidFill>
                  <a:srgbClr val="1E2530"/>
                </a:solidFill>
                <a:latin typeface="Cambria"/>
              </a:rPr>
              <a:t>  AVA stays 1.0 or less with Vmax 4 m/s or more.</a:t>
            </a:r>
          </a:p>
          <a:p>
            <a:pPr>
              <a:spcAft>
                <a:spcPts val="900"/>
              </a:spcAft>
            </a:pPr>
            <a:r>
              <a:rPr b="1" sz="1650">
                <a:solidFill>
                  <a:srgbClr val="1E2530"/>
                </a:solidFill>
                <a:latin typeface="Cambria"/>
              </a:rPr>
              <a:t>Pseudo-severe</a:t>
            </a:r>
            <a:r>
              <a:rPr sz="1650">
                <a:solidFill>
                  <a:srgbClr val="1E2530"/>
                </a:solidFill>
                <a:latin typeface="Cambria"/>
              </a:rPr>
              <a:t>  AVA rises above about 1.0 to 1.2; gradient stays low.</a:t>
            </a:r>
          </a:p>
          <a:p>
            <a:pPr>
              <a:spcAft>
                <a:spcPts val="900"/>
              </a:spcAft>
            </a:pPr>
            <a:r>
              <a:rPr b="1" sz="1650">
                <a:solidFill>
                  <a:srgbClr val="1E2530"/>
                </a:solidFill>
                <a:latin typeface="Cambria"/>
              </a:rPr>
              <a:t>No flow reserve</a:t>
            </a:r>
            <a:r>
              <a:rPr sz="1650">
                <a:solidFill>
                  <a:srgbClr val="1E2530"/>
                </a:solidFill>
                <a:latin typeface="Cambria"/>
              </a:rPr>
              <a:t>  use CT calcium; replacement still helps.</a:t>
            </a:r>
          </a:p>
        </p:txBody>
      </p:sp>
      <p:cxnSp>
        <p:nvCxnSpPr>
          <p:cNvPr id="8" name="Connector 7"/>
          <p:cNvCxnSpPr/>
          <p:nvPr/>
        </p:nvCxnSpPr>
        <p:spPr>
          <a:xfrm>
            <a:off x="8046720" y="1874519"/>
            <a:ext cx="347472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046720" y="1965960"/>
            <a:ext cx="3474720" cy="228600"/>
          </a:xfrm>
          <a:prstGeom prst="rect">
            <a:avLst/>
          </a:prstGeom>
          <a:noFill/>
        </p:spPr>
        <p:txBody>
          <a:bodyPr wrap="square" lIns="0" rIns="0" tIns="0" bIns="0">
            <a:spAutoFit/>
          </a:bodyPr>
          <a:lstStyle/>
          <a:p>
            <a:pPr algn="l"/>
            <a:r>
              <a:rPr sz="1000" b="1" i="0" spc="120">
                <a:solidFill>
                  <a:srgbClr val="8A2D36"/>
                </a:solidFill>
                <a:latin typeface="Calibri"/>
              </a:rPr>
              <a:t>PROJECTED AVA</a:t>
            </a:r>
          </a:p>
        </p:txBody>
      </p:sp>
      <p:sp>
        <p:nvSpPr>
          <p:cNvPr id="10" name="TextBox 9"/>
          <p:cNvSpPr txBox="1"/>
          <p:nvPr/>
        </p:nvSpPr>
        <p:spPr>
          <a:xfrm>
            <a:off x="8046720" y="2258568"/>
            <a:ext cx="3474720" cy="1828800"/>
          </a:xfrm>
          <a:prstGeom prst="rect">
            <a:avLst/>
          </a:prstGeom>
          <a:noFill/>
        </p:spPr>
        <p:txBody>
          <a:bodyPr wrap="square" lIns="0" rIns="0" tIns="0" bIns="0">
            <a:spAutoFit/>
          </a:bodyPr>
          <a:lstStyle/>
          <a:p>
            <a:pPr algn="l"/>
            <a:r>
              <a:rPr sz="1300" b="0" i="1">
                <a:solidFill>
                  <a:srgbClr val="1E2530"/>
                </a:solidFill>
                <a:latin typeface="Cambria"/>
              </a:rPr>
              <a:t>AVA(rest) + [AVA(peak) − AVA(rest)] / [Q(peak) − Q(rest)] × (250 − Q(rest)). Severe if below 1.0 cm².</a:t>
            </a:r>
          </a:p>
        </p:txBody>
      </p:sp>
      <p:cxnSp>
        <p:nvCxnSpPr>
          <p:cNvPr id="11" name="Connector 10"/>
          <p:cNvCxnSpPr/>
          <p:nvPr/>
        </p:nvCxnSpPr>
        <p:spPr>
          <a:xfrm>
            <a:off x="8046720" y="3931920"/>
            <a:ext cx="3474720" cy="0"/>
          </a:xfrm>
          <a:prstGeom prst="line">
            <a:avLst/>
          </a:prstGeom>
          <a:ln w="12700">
            <a:solidFill>
              <a:srgbClr val="3F5B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46720" y="4023359"/>
            <a:ext cx="3474720" cy="228600"/>
          </a:xfrm>
          <a:prstGeom prst="rect">
            <a:avLst/>
          </a:prstGeom>
          <a:noFill/>
        </p:spPr>
        <p:txBody>
          <a:bodyPr wrap="square" lIns="0" rIns="0" tIns="0" bIns="0">
            <a:spAutoFit/>
          </a:bodyPr>
          <a:lstStyle/>
          <a:p>
            <a:pPr algn="l"/>
            <a:r>
              <a:rPr sz="1000" b="1" i="0" spc="120">
                <a:solidFill>
                  <a:srgbClr val="3F5B73"/>
                </a:solidFill>
                <a:latin typeface="Calibri"/>
              </a:rPr>
              <a:t>MANAGEMENT</a:t>
            </a:r>
          </a:p>
        </p:txBody>
      </p:sp>
      <p:sp>
        <p:nvSpPr>
          <p:cNvPr id="13" name="TextBox 12"/>
          <p:cNvSpPr txBox="1"/>
          <p:nvPr/>
        </p:nvSpPr>
        <p:spPr>
          <a:xfrm>
            <a:off x="8046720" y="4315968"/>
            <a:ext cx="3474720" cy="1828800"/>
          </a:xfrm>
          <a:prstGeom prst="rect">
            <a:avLst/>
          </a:prstGeom>
          <a:noFill/>
        </p:spPr>
        <p:txBody>
          <a:bodyPr wrap="square" lIns="0" rIns="0" tIns="0" bIns="0">
            <a:spAutoFit/>
          </a:bodyPr>
          <a:lstStyle/>
          <a:p>
            <a:pPr algn="l"/>
            <a:r>
              <a:rPr sz="1350" b="0" i="1">
                <a:solidFill>
                  <a:srgbClr val="1E2530"/>
                </a:solidFill>
                <a:latin typeface="Cambria"/>
              </a:rPr>
              <a:t>Confirmed severe: valve replacement. TAVI is often favoured when surgical risk is high.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Paradoxical low-flow AS</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14</a:t>
            </a:r>
          </a:p>
        </p:txBody>
      </p:sp>
      <p:sp>
        <p:nvSpPr>
          <p:cNvPr id="7" name="TextBox 6"/>
          <p:cNvSpPr txBox="1"/>
          <p:nvPr/>
        </p:nvSpPr>
        <p:spPr>
          <a:xfrm>
            <a:off x="640080" y="1828800"/>
            <a:ext cx="5852160" cy="4389120"/>
          </a:xfrm>
          <a:prstGeom prst="rect">
            <a:avLst/>
          </a:prstGeom>
          <a:noFill/>
        </p:spPr>
        <p:txBody>
          <a:bodyPr wrap="square" lIns="0" rIns="0" tIns="0" bIns="0">
            <a:spAutoFit/>
          </a:bodyPr>
          <a:lstStyle/>
          <a:p>
            <a:pPr>
              <a:spcAft>
                <a:spcPts val="1000"/>
              </a:spcAft>
            </a:pPr>
            <a:r>
              <a:rPr b="1" sz="1650">
                <a:solidFill>
                  <a:srgbClr val="1E2530"/>
                </a:solidFill>
                <a:latin typeface="Cambria"/>
              </a:rPr>
              <a:t>Definition</a:t>
            </a:r>
            <a:r>
              <a:rPr sz="1650">
                <a:solidFill>
                  <a:srgbClr val="1E2530"/>
                </a:solidFill>
                <a:latin typeface="Cambria"/>
              </a:rPr>
              <a:t>  AVA 1.0 or less (AVAi 0.6 or less), MG below 40, LVEF 50% or more, SVi below 35 (stage D3).</a:t>
            </a:r>
          </a:p>
          <a:p>
            <a:pPr>
              <a:spcAft>
                <a:spcPts val="1000"/>
              </a:spcAft>
            </a:pPr>
            <a:r>
              <a:rPr b="1" sz="1650">
                <a:solidFill>
                  <a:srgbClr val="1E2530"/>
                </a:solidFill>
                <a:latin typeface="Cambria"/>
              </a:rPr>
              <a:t>Typical</a:t>
            </a:r>
            <a:r>
              <a:rPr sz="1650">
                <a:solidFill>
                  <a:srgbClr val="1E2530"/>
                </a:solidFill>
                <a:latin typeface="Cambria"/>
              </a:rPr>
              <a:t>  older women, small hypertrophied LV, hypertension, atrial fibrillation.</a:t>
            </a:r>
          </a:p>
          <a:p>
            <a:pPr>
              <a:spcAft>
                <a:spcPts val="1000"/>
              </a:spcAft>
            </a:pPr>
            <a:r>
              <a:rPr b="1" sz="1650">
                <a:solidFill>
                  <a:srgbClr val="1E2530"/>
                </a:solidFill>
                <a:latin typeface="Cambria"/>
              </a:rPr>
              <a:t>Prognosis</a:t>
            </a:r>
            <a:r>
              <a:rPr sz="1650">
                <a:solidFill>
                  <a:srgbClr val="1E2530"/>
                </a:solidFill>
                <a:latin typeface="Cambria"/>
              </a:rPr>
              <a:t>  comparable with high-gradient severe AS.</a:t>
            </a:r>
          </a:p>
          <a:p>
            <a:pPr>
              <a:spcAft>
                <a:spcPts val="1000"/>
              </a:spcAft>
            </a:pPr>
            <a:r>
              <a:rPr b="1" sz="1650">
                <a:solidFill>
                  <a:srgbClr val="1E2530"/>
                </a:solidFill>
                <a:latin typeface="Cambria"/>
              </a:rPr>
              <a:t>Test</a:t>
            </a:r>
            <a:r>
              <a:rPr sz="1650">
                <a:solidFill>
                  <a:srgbClr val="1E2530"/>
                </a:solidFill>
                <a:latin typeface="Cambria"/>
              </a:rPr>
              <a:t>  exclude errors, then CT calcium. Dobutamine cannot raise flow in a small stiff LV.</a:t>
            </a:r>
          </a:p>
        </p:txBody>
      </p:sp>
      <p:graphicFrame>
        <p:nvGraphicFramePr>
          <p:cNvPr id="8" name="Table 7"/>
          <p:cNvGraphicFramePr>
            <a:graphicFrameLocks noGrp="1"/>
          </p:cNvGraphicFramePr>
          <p:nvPr/>
        </p:nvGraphicFramePr>
        <p:xfrm>
          <a:off x="6949440" y="1828800"/>
          <a:ext cx="4572000" cy="2743200"/>
        </p:xfrm>
        <a:graphic>
          <a:graphicData uri="http://schemas.openxmlformats.org/drawingml/2006/table">
            <a:tbl>
              <a:tblPr firstRow="0" bandRow="0">
                <a:tableStyleId>{2D5ABB26-0587-4C30-8999-92F81FD0307C}</a:tableStyleId>
              </a:tblPr>
              <a:tblGrid>
                <a:gridCol w="1737360"/>
                <a:gridCol w="2834640"/>
              </a:tblGrid>
              <a:tr h="457200">
                <a:tc>
                  <a:txBody>
                    <a:bodyPr/>
                    <a:lstStyle/>
                    <a:p>
                      <a:r>
                        <a:rPr sz="1100" b="1">
                          <a:solidFill>
                            <a:srgbClr val="626A75"/>
                          </a:solidFill>
                          <a:latin typeface="Calibri"/>
                        </a:rPr>
                        <a:t>Check first</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
                      </a:r>
                    </a:p>
                  </a:txBody>
                  <a:tcPr marL="0" marR="109728" marT="45720" marB="45720" anchor="ctr">
                    <a:noFill/>
                    <a:lnB w="12700" cap="flat" cmpd="sng" algn="ctr">
                      <a:solidFill>
                        <a:srgbClr val="1E2530"/>
                      </a:solidFill>
                      <a:prstDash val="solid"/>
                    </a:lnB>
                    <a:lnL w="0">
                      <a:noFill/>
                    </a:lnL>
                    <a:lnR w="0">
                      <a:noFill/>
                    </a:lnR>
                    <a:lnT w="0">
                      <a:noFill/>
                    </a:lnT>
                  </a:tcPr>
                </a:tc>
              </a:tr>
              <a:tr h="457200">
                <a:tc>
                  <a:txBody>
                    <a:bodyPr/>
                    <a:lstStyle/>
                    <a:p>
                      <a:r>
                        <a:rPr sz="1400" b="1">
                          <a:solidFill>
                            <a:srgbClr val="1E2530"/>
                          </a:solidFill>
                          <a:latin typeface="Calibri"/>
                        </a:rPr>
                        <a:t>Blood pressure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Systolic below 140</a:t>
                      </a:r>
                    </a:p>
                  </a:txBody>
                  <a:tcPr marL="0" marR="109728" marT="45720" marB="45720" anchor="ctr">
                    <a:noFill/>
                    <a:lnB w="6350" cap="flat" cmpd="sng" algn="ctr">
                      <a:solidFill>
                        <a:srgbClr val="D8D1C2"/>
                      </a:solidFill>
                      <a:prstDash val="solid"/>
                    </a:lnB>
                    <a:lnL w="0">
                      <a:noFill/>
                    </a:lnL>
                    <a:lnR w="0">
                      <a:noFill/>
                    </a:lnR>
                    <a:lnT w="0">
                      <a:noFill/>
                    </a:lnT>
                  </a:tcPr>
                </a:tc>
              </a:tr>
              <a:tr h="457200">
                <a:tc>
                  <a:txBody>
                    <a:bodyPr/>
                    <a:lstStyle/>
                    <a:p>
                      <a:r>
                        <a:rPr sz="1400" b="1">
                          <a:solidFill>
                            <a:srgbClr val="1E2530"/>
                          </a:solidFill>
                          <a:latin typeface="Calibri"/>
                        </a:rPr>
                        <a:t>LVOT area</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3D echo or CT</a:t>
                      </a:r>
                    </a:p>
                  </a:txBody>
                  <a:tcPr marL="0" marR="109728" marT="45720" marB="45720" anchor="ctr">
                    <a:noFill/>
                    <a:lnB w="6350" cap="flat" cmpd="sng" algn="ctr">
                      <a:solidFill>
                        <a:srgbClr val="D8D1C2"/>
                      </a:solidFill>
                      <a:prstDash val="solid"/>
                    </a:lnB>
                    <a:lnL w="0">
                      <a:noFill/>
                    </a:lnL>
                    <a:lnR w="0">
                      <a:noFill/>
                    </a:lnR>
                    <a:lnT w="0">
                      <a:noFill/>
                    </a:lnT>
                  </a:tcPr>
                </a:tc>
              </a:tr>
              <a:tr h="457200">
                <a:tc>
                  <a:txBody>
                    <a:bodyPr/>
                    <a:lstStyle/>
                    <a:p>
                      <a:r>
                        <a:rPr sz="1400" b="1">
                          <a:solidFill>
                            <a:srgbClr val="1E2530"/>
                          </a:solidFill>
                          <a:latin typeface="Calibri"/>
                        </a:rPr>
                        <a:t>Body size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Use AVAi</a:t>
                      </a:r>
                    </a:p>
                  </a:txBody>
                  <a:tcPr marL="0" marR="109728" marT="45720" marB="45720" anchor="ctr">
                    <a:noFill/>
                    <a:lnB w="6350" cap="flat" cmpd="sng" algn="ctr">
                      <a:solidFill>
                        <a:srgbClr val="D8D1C2"/>
                      </a:solidFill>
                      <a:prstDash val="solid"/>
                    </a:lnB>
                    <a:lnL w="0">
                      <a:noFill/>
                    </a:lnL>
                    <a:lnR w="0">
                      <a:noFill/>
                    </a:lnR>
                    <a:lnT w="0">
                      <a:noFill/>
                    </a:lnT>
                  </a:tcPr>
                </a:tc>
              </a:tr>
              <a:tr h="457200">
                <a:tc>
                  <a:txBody>
                    <a:bodyPr/>
                    <a:lstStyle/>
                    <a:p>
                      <a:r>
                        <a:rPr sz="1400" b="1">
                          <a:solidFill>
                            <a:srgbClr val="1E2530"/>
                          </a:solidFill>
                          <a:latin typeface="Calibri"/>
                        </a:rPr>
                        <a:t>Rhythm</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Average 5 beats in AF</a:t>
                      </a:r>
                    </a:p>
                  </a:txBody>
                  <a:tcPr marL="0" marR="109728" marT="45720" marB="45720" anchor="ctr">
                    <a:noFill/>
                    <a:lnB w="6350" cap="flat" cmpd="sng" algn="ctr">
                      <a:solidFill>
                        <a:srgbClr val="D8D1C2"/>
                      </a:solidFill>
                      <a:prstDash val="solid"/>
                    </a:lnB>
                    <a:lnL w="0">
                      <a:noFill/>
                    </a:lnL>
                    <a:lnR w="0">
                      <a:noFill/>
                    </a:lnR>
                    <a:lnT w="0">
                      <a:noFill/>
                    </a:lnT>
                  </a:tcPr>
                </a:tc>
              </a:tr>
              <a:tr h="457200">
                <a:tc>
                  <a:txBody>
                    <a:bodyPr/>
                    <a:lstStyle/>
                    <a:p>
                      <a:r>
                        <a:rPr sz="1400" b="1">
                          <a:solidFill>
                            <a:srgbClr val="1E2530"/>
                          </a:solidFill>
                          <a:latin typeface="Calibri"/>
                        </a:rPr>
                        <a:t>Mimics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Amyloid, MR, MS, AR</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9" name="Connector 8"/>
          <p:cNvCxnSpPr/>
          <p:nvPr/>
        </p:nvCxnSpPr>
        <p:spPr>
          <a:xfrm>
            <a:off x="640080" y="5120640"/>
            <a:ext cx="585216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5212079"/>
            <a:ext cx="5852160" cy="228600"/>
          </a:xfrm>
          <a:prstGeom prst="rect">
            <a:avLst/>
          </a:prstGeom>
          <a:noFill/>
        </p:spPr>
        <p:txBody>
          <a:bodyPr wrap="square" lIns="0" rIns="0" tIns="0" bIns="0">
            <a:spAutoFit/>
          </a:bodyPr>
          <a:lstStyle/>
          <a:p>
            <a:pPr algn="l"/>
            <a:r>
              <a:rPr sz="1000" b="1" i="0" spc="120">
                <a:solidFill>
                  <a:srgbClr val="8A2D36"/>
                </a:solidFill>
                <a:latin typeface="Calibri"/>
              </a:rPr>
              <a:t>WHY IT MATTERS</a:t>
            </a:r>
          </a:p>
        </p:txBody>
      </p:sp>
      <p:sp>
        <p:nvSpPr>
          <p:cNvPr id="11" name="TextBox 10"/>
          <p:cNvSpPr txBox="1"/>
          <p:nvPr/>
        </p:nvSpPr>
        <p:spPr>
          <a:xfrm>
            <a:off x="640080" y="5504688"/>
            <a:ext cx="5852160" cy="1828800"/>
          </a:xfrm>
          <a:prstGeom prst="rect">
            <a:avLst/>
          </a:prstGeom>
          <a:noFill/>
        </p:spPr>
        <p:txBody>
          <a:bodyPr wrap="square" lIns="0" rIns="0" tIns="0" bIns="0">
            <a:spAutoFit/>
          </a:bodyPr>
          <a:lstStyle/>
          <a:p>
            <a:pPr algn="l"/>
            <a:r>
              <a:rPr sz="1400" b="0" i="1">
                <a:solidFill>
                  <a:srgbClr val="1E2530"/>
                </a:solidFill>
                <a:latin typeface="Cambria"/>
              </a:rPr>
              <a:t>Missing this group leaves symptomatic patients with severe disease untreated.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CT calcium score</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15</a:t>
            </a:r>
          </a:p>
        </p:txBody>
      </p:sp>
      <p:graphicFrame>
        <p:nvGraphicFramePr>
          <p:cNvPr id="7" name="Table 6"/>
          <p:cNvGraphicFramePr>
            <a:graphicFrameLocks noGrp="1"/>
          </p:cNvGraphicFramePr>
          <p:nvPr/>
        </p:nvGraphicFramePr>
        <p:xfrm>
          <a:off x="640080" y="1828800"/>
          <a:ext cx="6675120" cy="2194560"/>
        </p:xfrm>
        <a:graphic>
          <a:graphicData uri="http://schemas.openxmlformats.org/drawingml/2006/table">
            <a:tbl>
              <a:tblPr firstRow="0" bandRow="0">
                <a:tableStyleId>{2D5ABB26-0587-4C30-8999-92F81FD0307C}</a:tableStyleId>
              </a:tblPr>
              <a:tblGrid>
                <a:gridCol w="2834640"/>
                <a:gridCol w="1920240"/>
                <a:gridCol w="1920240"/>
              </a:tblGrid>
              <a:tr h="548640">
                <a:tc>
                  <a:txBody>
                    <a:bodyPr/>
                    <a:lstStyle/>
                    <a:p>
                      <a:r>
                        <a:rPr sz="1300" b="1">
                          <a:solidFill>
                            <a:srgbClr val="626A75"/>
                          </a:solidFill>
                          <a:latin typeface="Calibri"/>
                        </a:rPr>
                        <a:t>Agatston units</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300" b="1">
                          <a:solidFill>
                            <a:srgbClr val="626A75"/>
                          </a:solidFill>
                          <a:latin typeface="Calibri"/>
                        </a:rPr>
                        <a:t>Men</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300" b="1">
                          <a:solidFill>
                            <a:srgbClr val="626A75"/>
                          </a:solidFill>
                          <a:latin typeface="Calibri"/>
                        </a:rPr>
                        <a:t>Women</a:t>
                      </a:r>
                    </a:p>
                  </a:txBody>
                  <a:tcPr marL="0" marR="109728" marT="45720" marB="45720" anchor="ctr">
                    <a:noFill/>
                    <a:lnB w="12700" cap="flat" cmpd="sng" algn="ctr">
                      <a:solidFill>
                        <a:srgbClr val="1E2530"/>
                      </a:solidFill>
                      <a:prstDash val="solid"/>
                    </a:lnB>
                    <a:lnL w="0">
                      <a:noFill/>
                    </a:lnL>
                    <a:lnR w="0">
                      <a:noFill/>
                    </a:lnR>
                    <a:lnT w="0">
                      <a:noFill/>
                    </a:lnT>
                  </a:tcPr>
                </a:tc>
              </a:tr>
              <a:tr h="548640">
                <a:tc>
                  <a:txBody>
                    <a:bodyPr/>
                    <a:lstStyle/>
                    <a:p>
                      <a:r>
                        <a:rPr sz="1600" b="1">
                          <a:solidFill>
                            <a:srgbClr val="1E2530"/>
                          </a:solidFill>
                          <a:latin typeface="Calibri"/>
                        </a:rPr>
                        <a:t>Severe AS very likely</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600" b="0">
                          <a:solidFill>
                            <a:srgbClr val="1E2530"/>
                          </a:solidFill>
                          <a:latin typeface="Calibri"/>
                        </a:rPr>
                        <a:t>3000 or more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600" b="0">
                          <a:solidFill>
                            <a:srgbClr val="1E2530"/>
                          </a:solidFill>
                          <a:latin typeface="Calibri"/>
                        </a:rPr>
                        <a:t>1600 or more</a:t>
                      </a:r>
                    </a:p>
                  </a:txBody>
                  <a:tcPr marL="0" marR="109728" marT="45720" marB="45720" anchor="ctr">
                    <a:noFill/>
                    <a:lnB w="6350" cap="flat" cmpd="sng" algn="ctr">
                      <a:solidFill>
                        <a:srgbClr val="D8D1C2"/>
                      </a:solidFill>
                      <a:prstDash val="solid"/>
                    </a:lnB>
                    <a:lnL w="0">
                      <a:noFill/>
                    </a:lnL>
                    <a:lnR w="0">
                      <a:noFill/>
                    </a:lnR>
                    <a:lnT w="0">
                      <a:noFill/>
                    </a:lnT>
                  </a:tcPr>
                </a:tc>
              </a:tr>
              <a:tr h="548640">
                <a:tc>
                  <a:txBody>
                    <a:bodyPr/>
                    <a:lstStyle/>
                    <a:p>
                      <a:r>
                        <a:rPr sz="1600" b="1">
                          <a:solidFill>
                            <a:srgbClr val="1E2530"/>
                          </a:solidFill>
                          <a:latin typeface="Calibri"/>
                        </a:rPr>
                        <a:t>Severe AS likely</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600" b="0">
                          <a:solidFill>
                            <a:srgbClr val="1E2530"/>
                          </a:solidFill>
                          <a:latin typeface="Calibri"/>
                        </a:rPr>
                        <a:t>2000 or more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600" b="0">
                          <a:solidFill>
                            <a:srgbClr val="1E2530"/>
                          </a:solidFill>
                          <a:latin typeface="Calibri"/>
                        </a:rPr>
                        <a:t>1200 or more</a:t>
                      </a:r>
                    </a:p>
                  </a:txBody>
                  <a:tcPr marL="0" marR="109728" marT="45720" marB="45720" anchor="ctr">
                    <a:noFill/>
                    <a:lnB w="6350" cap="flat" cmpd="sng" algn="ctr">
                      <a:solidFill>
                        <a:srgbClr val="D8D1C2"/>
                      </a:solidFill>
                      <a:prstDash val="solid"/>
                    </a:lnB>
                    <a:lnL w="0">
                      <a:noFill/>
                    </a:lnL>
                    <a:lnR w="0">
                      <a:noFill/>
                    </a:lnR>
                    <a:lnT w="0">
                      <a:noFill/>
                    </a:lnT>
                  </a:tcPr>
                </a:tc>
              </a:tr>
              <a:tr h="548640">
                <a:tc>
                  <a:txBody>
                    <a:bodyPr/>
                    <a:lstStyle/>
                    <a:p>
                      <a:r>
                        <a:rPr sz="1600" b="1">
                          <a:solidFill>
                            <a:srgbClr val="1E2530"/>
                          </a:solidFill>
                          <a:latin typeface="Calibri"/>
                        </a:rPr>
                        <a:t>Severe AS unlikely</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600" b="0">
                          <a:solidFill>
                            <a:srgbClr val="1E2530"/>
                          </a:solidFill>
                          <a:latin typeface="Calibri"/>
                        </a:rPr>
                        <a:t>Below 1600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600" b="0">
                          <a:solidFill>
                            <a:srgbClr val="1E2530"/>
                          </a:solidFill>
                          <a:latin typeface="Calibri"/>
                        </a:rPr>
                        <a:t>Below 800</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7863840" y="1874519"/>
            <a:ext cx="365760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863840" y="1965960"/>
            <a:ext cx="3657600" cy="228600"/>
          </a:xfrm>
          <a:prstGeom prst="rect">
            <a:avLst/>
          </a:prstGeom>
          <a:noFill/>
        </p:spPr>
        <p:txBody>
          <a:bodyPr wrap="square" lIns="0" rIns="0" tIns="0" bIns="0">
            <a:spAutoFit/>
          </a:bodyPr>
          <a:lstStyle/>
          <a:p>
            <a:pPr algn="l"/>
            <a:r>
              <a:rPr sz="1000" b="1" i="0" spc="120">
                <a:solidFill>
                  <a:srgbClr val="8A2D36"/>
                </a:solidFill>
                <a:latin typeface="Calibri"/>
              </a:rPr>
              <a:t>REMEMBER</a:t>
            </a:r>
          </a:p>
        </p:txBody>
      </p:sp>
      <p:sp>
        <p:nvSpPr>
          <p:cNvPr id="10" name="TextBox 9"/>
          <p:cNvSpPr txBox="1"/>
          <p:nvPr/>
        </p:nvSpPr>
        <p:spPr>
          <a:xfrm>
            <a:off x="7863840" y="2258568"/>
            <a:ext cx="3657600" cy="1828800"/>
          </a:xfrm>
          <a:prstGeom prst="rect">
            <a:avLst/>
          </a:prstGeom>
          <a:noFill/>
        </p:spPr>
        <p:txBody>
          <a:bodyPr wrap="square" lIns="0" rIns="0" tIns="0" bIns="0">
            <a:spAutoFit/>
          </a:bodyPr>
          <a:lstStyle/>
          <a:p>
            <a:pPr algn="l"/>
            <a:r>
              <a:rPr sz="1400" b="0" i="1">
                <a:solidFill>
                  <a:srgbClr val="1E2530"/>
                </a:solidFill>
                <a:latin typeface="Cambria"/>
              </a:rPr>
              <a:t>Calcium confirms burden. It does not replace haemodynamics.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AORTIC STENOSIS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From numbers to decisions</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16</a:t>
            </a:r>
          </a:p>
        </p:txBody>
      </p:sp>
      <p:graphicFrame>
        <p:nvGraphicFramePr>
          <p:cNvPr id="7" name="Table 6"/>
          <p:cNvGraphicFramePr>
            <a:graphicFrameLocks noGrp="1"/>
          </p:cNvGraphicFramePr>
          <p:nvPr/>
        </p:nvGraphicFramePr>
        <p:xfrm>
          <a:off x="640080" y="1783080"/>
          <a:ext cx="10881360" cy="4242816"/>
        </p:xfrm>
        <a:graphic>
          <a:graphicData uri="http://schemas.openxmlformats.org/drawingml/2006/table">
            <a:tbl>
              <a:tblPr firstRow="0" bandRow="0">
                <a:tableStyleId>{2D5ABB26-0587-4C30-8999-92F81FD0307C}</a:tableStyleId>
              </a:tblPr>
              <a:tblGrid>
                <a:gridCol w="4297680"/>
                <a:gridCol w="6583680"/>
              </a:tblGrid>
              <a:tr h="530352">
                <a:tc>
                  <a:txBody>
                    <a:bodyPr/>
                    <a:lstStyle/>
                    <a:p>
                      <a:r>
                        <a:rPr sz="1100" b="1">
                          <a:solidFill>
                            <a:srgbClr val="626A75"/>
                          </a:solidFill>
                          <a:latin typeface="Calibri"/>
                        </a:rPr>
                        <a:t>Situation</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Typical recommendation</a:t>
                      </a:r>
                    </a:p>
                  </a:txBody>
                  <a:tcPr marL="0" marR="109728" marT="45720" marB="45720" anchor="ctr">
                    <a:noFill/>
                    <a:lnB w="12700" cap="flat" cmpd="sng" algn="ctr">
                      <a:solidFill>
                        <a:srgbClr val="1E2530"/>
                      </a:solidFill>
                      <a:prstDash val="solid"/>
                    </a:lnB>
                    <a:lnL w="0">
                      <a:noFill/>
                    </a:lnL>
                    <a:lnR w="0">
                      <a:noFill/>
                    </a:lnR>
                    <a:lnT w="0">
                      <a:noFill/>
                    </a:lnT>
                  </a:tcPr>
                </a:tc>
              </a:tr>
              <a:tr h="530352">
                <a:tc>
                  <a:txBody>
                    <a:bodyPr/>
                    <a:lstStyle/>
                    <a:p>
                      <a:r>
                        <a:rPr sz="1400" b="1">
                          <a:solidFill>
                            <a:srgbClr val="1E2530"/>
                          </a:solidFill>
                          <a:latin typeface="Calibri"/>
                        </a:rPr>
                        <a:t>Symptomatic, high-gradient severe AS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Intervention (class I). TAVI or surgery by age, risk, anatomy, Heart Team</a:t>
                      </a:r>
                    </a:p>
                  </a:txBody>
                  <a:tcPr marL="0" marR="109728" marT="45720" marB="45720" anchor="ctr">
                    <a:noFill/>
                    <a:lnB w="6350" cap="flat" cmpd="sng" algn="ctr">
                      <a:solidFill>
                        <a:srgbClr val="D8D1C2"/>
                      </a:solidFill>
                      <a:prstDash val="solid"/>
                    </a:lnB>
                    <a:lnL w="0">
                      <a:noFill/>
                    </a:lnL>
                    <a:lnR w="0">
                      <a:noFill/>
                    </a:lnR>
                    <a:lnT w="0">
                      <a:noFill/>
                    </a:lnT>
                  </a:tcPr>
                </a:tc>
              </a:tr>
              <a:tr h="530352">
                <a:tc>
                  <a:txBody>
                    <a:bodyPr/>
                    <a:lstStyle/>
                    <a:p>
                      <a:r>
                        <a:rPr sz="1400" b="1">
                          <a:solidFill>
                            <a:srgbClr val="1E2530"/>
                          </a:solidFill>
                          <a:latin typeface="Calibri"/>
                        </a:rPr>
                        <a:t>Symptomatic, classical LFLG</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Intervention (class I) with flow reserve; with CT calcium support if none</a:t>
                      </a:r>
                    </a:p>
                  </a:txBody>
                  <a:tcPr marL="0" marR="109728" marT="45720" marB="45720" anchor="ctr">
                    <a:noFill/>
                    <a:lnB w="6350" cap="flat" cmpd="sng" algn="ctr">
                      <a:solidFill>
                        <a:srgbClr val="D8D1C2"/>
                      </a:solidFill>
                      <a:prstDash val="solid"/>
                    </a:lnB>
                    <a:lnL w="0">
                      <a:noFill/>
                    </a:lnL>
                    <a:lnR w="0">
                      <a:noFill/>
                    </a:lnR>
                    <a:lnT w="0">
                      <a:noFill/>
                    </a:lnT>
                  </a:tcPr>
                </a:tc>
              </a:tr>
              <a:tr h="530352">
                <a:tc>
                  <a:txBody>
                    <a:bodyPr/>
                    <a:lstStyle/>
                    <a:p>
                      <a:r>
                        <a:rPr sz="1400" b="1">
                          <a:solidFill>
                            <a:srgbClr val="1E2530"/>
                          </a:solidFill>
                          <a:latin typeface="Calibri"/>
                        </a:rPr>
                        <a:t>Symptomatic, paradoxical LFLG</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Intervention once confirmed (ESC 2021 IIa; ACC/AHA 2020 class I)</a:t>
                      </a:r>
                    </a:p>
                  </a:txBody>
                  <a:tcPr marL="0" marR="109728" marT="45720" marB="45720" anchor="ctr">
                    <a:noFill/>
                    <a:lnB w="6350" cap="flat" cmpd="sng" algn="ctr">
                      <a:solidFill>
                        <a:srgbClr val="D8D1C2"/>
                      </a:solidFill>
                      <a:prstDash val="solid"/>
                    </a:lnB>
                    <a:lnL w="0">
                      <a:noFill/>
                    </a:lnL>
                    <a:lnR w="0">
                      <a:noFill/>
                    </a:lnR>
                    <a:lnT w="0">
                      <a:noFill/>
                    </a:lnT>
                  </a:tcPr>
                </a:tc>
              </a:tr>
              <a:tr h="530352">
                <a:tc>
                  <a:txBody>
                    <a:bodyPr/>
                    <a:lstStyle/>
                    <a:p>
                      <a:r>
                        <a:rPr sz="1400" b="1">
                          <a:solidFill>
                            <a:srgbClr val="1E2530"/>
                          </a:solidFill>
                          <a:latin typeface="Calibri"/>
                        </a:rPr>
                        <a:t>Asymptomatic, LVEF below 50%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Intervention (class I). Check the 2025 LVEF cut-off</a:t>
                      </a:r>
                    </a:p>
                  </a:txBody>
                  <a:tcPr marL="0" marR="109728" marT="45720" marB="45720" anchor="ctr">
                    <a:noFill/>
                    <a:lnB w="6350" cap="flat" cmpd="sng" algn="ctr">
                      <a:solidFill>
                        <a:srgbClr val="D8D1C2"/>
                      </a:solidFill>
                      <a:prstDash val="solid"/>
                    </a:lnB>
                    <a:lnL w="0">
                      <a:noFill/>
                    </a:lnL>
                    <a:lnR w="0">
                      <a:noFill/>
                    </a:lnR>
                    <a:lnT w="0">
                      <a:noFill/>
                    </a:lnT>
                  </a:tcPr>
                </a:tc>
              </a:tr>
              <a:tr h="530352">
                <a:tc>
                  <a:txBody>
                    <a:bodyPr/>
                    <a:lstStyle/>
                    <a:p>
                      <a:r>
                        <a:rPr sz="1400" b="1">
                          <a:solidFill>
                            <a:srgbClr val="1E2530"/>
                          </a:solidFill>
                          <a:latin typeface="Calibri"/>
                        </a:rPr>
                        <a:t>Asymptomatic, symptoms on exercise test</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Intervention (ESC class I)</a:t>
                      </a:r>
                    </a:p>
                  </a:txBody>
                  <a:tcPr marL="0" marR="109728" marT="45720" marB="45720" anchor="ctr">
                    <a:noFill/>
                    <a:lnB w="6350" cap="flat" cmpd="sng" algn="ctr">
                      <a:solidFill>
                        <a:srgbClr val="D8D1C2"/>
                      </a:solidFill>
                      <a:prstDash val="solid"/>
                    </a:lnB>
                    <a:lnL w="0">
                      <a:noFill/>
                    </a:lnL>
                    <a:lnR w="0">
                      <a:noFill/>
                    </a:lnR>
                    <a:lnT w="0">
                      <a:noFill/>
                    </a:lnT>
                  </a:tcPr>
                </a:tc>
              </a:tr>
              <a:tr h="530352">
                <a:tc>
                  <a:txBody>
                    <a:bodyPr/>
                    <a:lstStyle/>
                    <a:p>
                      <a:r>
                        <a:rPr sz="1400" b="1">
                          <a:solidFill>
                            <a:srgbClr val="1E2530"/>
                          </a:solidFill>
                          <a:latin typeface="Calibri"/>
                        </a:rPr>
                        <a:t>Asymptomatic, Vmax 5 m/s or more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Consider intervention in low-risk patients (IIa)</a:t>
                      </a:r>
                    </a:p>
                  </a:txBody>
                  <a:tcPr marL="0" marR="109728" marT="45720" marB="45720" anchor="ctr">
                    <a:noFill/>
                    <a:lnB w="6350" cap="flat" cmpd="sng" algn="ctr">
                      <a:solidFill>
                        <a:srgbClr val="D8D1C2"/>
                      </a:solidFill>
                      <a:prstDash val="solid"/>
                    </a:lnB>
                    <a:lnL w="0">
                      <a:noFill/>
                    </a:lnL>
                    <a:lnR w="0">
                      <a:noFill/>
                    </a:lnR>
                    <a:lnT w="0">
                      <a:noFill/>
                    </a:lnT>
                  </a:tcPr>
                </a:tc>
              </a:tr>
              <a:tr h="530352">
                <a:tc>
                  <a:txBody>
                    <a:bodyPr/>
                    <a:lstStyle/>
                    <a:p>
                      <a:r>
                        <a:rPr sz="1400" b="1">
                          <a:solidFill>
                            <a:srgbClr val="1E2530"/>
                          </a:solidFill>
                          <a:latin typeface="Calibri"/>
                        </a:rPr>
                        <a:t>Asymptomatic, BNP over 3x, rapid progression, marked calcium</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Consider intervention (IIa)</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REGURGITANT LESIONS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Aortic regurgitation</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17</a:t>
            </a:r>
          </a:p>
        </p:txBody>
      </p:sp>
      <p:graphicFrame>
        <p:nvGraphicFramePr>
          <p:cNvPr id="7" name="Table 6"/>
          <p:cNvGraphicFramePr>
            <a:graphicFrameLocks noGrp="1"/>
          </p:cNvGraphicFramePr>
          <p:nvPr/>
        </p:nvGraphicFramePr>
        <p:xfrm>
          <a:off x="640080" y="1828800"/>
          <a:ext cx="7132320" cy="3520440"/>
        </p:xfrm>
        <a:graphic>
          <a:graphicData uri="http://schemas.openxmlformats.org/drawingml/2006/table">
            <a:tbl>
              <a:tblPr firstRow="0" bandRow="0">
                <a:tableStyleId>{2D5ABB26-0587-4C30-8999-92F81FD0307C}</a:tableStyleId>
              </a:tblPr>
              <a:tblGrid>
                <a:gridCol w="2377440"/>
                <a:gridCol w="1554480"/>
                <a:gridCol w="1554480"/>
                <a:gridCol w="1645920"/>
              </a:tblGrid>
              <a:tr h="502920">
                <a:tc>
                  <a:txBody>
                    <a:bodyPr/>
                    <a:lstStyle/>
                    <a:p>
                      <a:r>
                        <a:rPr sz="1100" b="1">
                          <a:solidFill>
                            <a:srgbClr val="626A75"/>
                          </a:solidFill>
                          <a:latin typeface="Calibri"/>
                        </a:rPr>
                        <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Mild</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Moderate</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Severe</a:t>
                      </a:r>
                    </a:p>
                  </a:txBody>
                  <a:tcPr marL="0" marR="109728" marT="45720" marB="45720" anchor="ctr">
                    <a:noFill/>
                    <a:lnB w="12700" cap="flat" cmpd="sng" algn="ctr">
                      <a:solidFill>
                        <a:srgbClr val="1E2530"/>
                      </a:solidFill>
                      <a:prstDash val="solid"/>
                    </a:lnB>
                    <a:lnL w="0">
                      <a:noFill/>
                    </a:lnL>
                    <a:lnR w="0">
                      <a:noFill/>
                    </a:lnR>
                    <a:lnT w="0">
                      <a:noFill/>
                    </a:lnT>
                  </a:tcPr>
                </a:tc>
              </a:tr>
              <a:tr h="502920">
                <a:tc>
                  <a:txBody>
                    <a:bodyPr/>
                    <a:lstStyle/>
                    <a:p>
                      <a:r>
                        <a:rPr sz="1400" b="1">
                          <a:solidFill>
                            <a:srgbClr val="1E2530"/>
                          </a:solidFill>
                          <a:latin typeface="Calibri"/>
                        </a:rPr>
                        <a:t>Vena contracta</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3 mm</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 to 6 mm</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Above 6 mm</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Jet width / LVOT</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25%</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25 to 64%</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65% or more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Pressure half-time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Above 500 ms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200 to 500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Below 200 ms</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EROA</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0.10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0.10 to 0.29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0.30 cm² or more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Regurgitant volume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30 mL</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30 to 59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60 mL or more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Regurgitant fraction</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30%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30 to 49%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50% or more</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8229600" y="1874519"/>
            <a:ext cx="329184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0" y="1965960"/>
            <a:ext cx="3291840" cy="228600"/>
          </a:xfrm>
          <a:prstGeom prst="rect">
            <a:avLst/>
          </a:prstGeom>
          <a:noFill/>
        </p:spPr>
        <p:txBody>
          <a:bodyPr wrap="square" lIns="0" rIns="0" tIns="0" bIns="0">
            <a:spAutoFit/>
          </a:bodyPr>
          <a:lstStyle/>
          <a:p>
            <a:pPr algn="l"/>
            <a:r>
              <a:rPr sz="1000" b="1" i="0" spc="120">
                <a:solidFill>
                  <a:srgbClr val="8A2D36"/>
                </a:solidFill>
                <a:latin typeface="Calibri"/>
              </a:rPr>
              <a:t>SURGERY, CHRONIC SEVERE</a:t>
            </a:r>
          </a:p>
        </p:txBody>
      </p:sp>
      <p:sp>
        <p:nvSpPr>
          <p:cNvPr id="10" name="TextBox 9"/>
          <p:cNvSpPr txBox="1"/>
          <p:nvPr/>
        </p:nvSpPr>
        <p:spPr>
          <a:xfrm>
            <a:off x="8229600" y="2258568"/>
            <a:ext cx="3291840" cy="1828800"/>
          </a:xfrm>
          <a:prstGeom prst="rect">
            <a:avLst/>
          </a:prstGeom>
          <a:noFill/>
        </p:spPr>
        <p:txBody>
          <a:bodyPr wrap="square" lIns="0" rIns="0" tIns="0" bIns="0">
            <a:spAutoFit/>
          </a:bodyPr>
          <a:lstStyle/>
          <a:p>
            <a:pPr algn="l"/>
            <a:r>
              <a:rPr sz="1300" b="0" i="1">
                <a:solidFill>
                  <a:srgbClr val="1E2530"/>
                </a:solidFill>
                <a:latin typeface="Cambria"/>
              </a:rPr>
              <a:t>ESC 2021: LVESD above 50 mm or LVEF 50% or less. ACC/AHA 2020: LVEF 55% or less. Check root and ascending aorta.</a:t>
            </a:r>
          </a:p>
        </p:txBody>
      </p:sp>
      <p:cxnSp>
        <p:nvCxnSpPr>
          <p:cNvPr id="11" name="Connector 10"/>
          <p:cNvCxnSpPr/>
          <p:nvPr/>
        </p:nvCxnSpPr>
        <p:spPr>
          <a:xfrm>
            <a:off x="8229600" y="4160520"/>
            <a:ext cx="3291840" cy="0"/>
          </a:xfrm>
          <a:prstGeom prst="line">
            <a:avLst/>
          </a:prstGeom>
          <a:ln w="12700">
            <a:solidFill>
              <a:srgbClr val="3F5B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0" y="4251959"/>
            <a:ext cx="3291840" cy="228600"/>
          </a:xfrm>
          <a:prstGeom prst="rect">
            <a:avLst/>
          </a:prstGeom>
          <a:noFill/>
        </p:spPr>
        <p:txBody>
          <a:bodyPr wrap="square" lIns="0" rIns="0" tIns="0" bIns="0">
            <a:spAutoFit/>
          </a:bodyPr>
          <a:lstStyle/>
          <a:p>
            <a:pPr algn="l"/>
            <a:r>
              <a:rPr sz="1000" b="1" i="0" spc="120">
                <a:solidFill>
                  <a:srgbClr val="3F5B73"/>
                </a:solidFill>
                <a:latin typeface="Calibri"/>
              </a:rPr>
              <a:t>ACUTE AR</a:t>
            </a:r>
          </a:p>
        </p:txBody>
      </p:sp>
      <p:sp>
        <p:nvSpPr>
          <p:cNvPr id="13" name="TextBox 12"/>
          <p:cNvSpPr txBox="1"/>
          <p:nvPr/>
        </p:nvSpPr>
        <p:spPr>
          <a:xfrm>
            <a:off x="8229600" y="4544568"/>
            <a:ext cx="3291840" cy="1828800"/>
          </a:xfrm>
          <a:prstGeom prst="rect">
            <a:avLst/>
          </a:prstGeom>
          <a:noFill/>
        </p:spPr>
        <p:txBody>
          <a:bodyPr wrap="square" lIns="0" rIns="0" tIns="0" bIns="0">
            <a:spAutoFit/>
          </a:bodyPr>
          <a:lstStyle/>
          <a:p>
            <a:pPr algn="l"/>
            <a:r>
              <a:rPr sz="1350" b="0" i="1">
                <a:solidFill>
                  <a:srgbClr val="1E2530"/>
                </a:solidFill>
                <a:latin typeface="Cambria"/>
              </a:rPr>
              <a:t>The LV is not dilated. Short PHT and early mitral closure. Urgent surgery.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REGURGITANT LESIONS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Mitral stenosis</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18</a:t>
            </a:r>
          </a:p>
        </p:txBody>
      </p:sp>
      <p:graphicFrame>
        <p:nvGraphicFramePr>
          <p:cNvPr id="7" name="Table 6"/>
          <p:cNvGraphicFramePr>
            <a:graphicFrameLocks noGrp="1"/>
          </p:cNvGraphicFramePr>
          <p:nvPr/>
        </p:nvGraphicFramePr>
        <p:xfrm>
          <a:off x="640080" y="1828800"/>
          <a:ext cx="7132320" cy="2834640"/>
        </p:xfrm>
        <a:graphic>
          <a:graphicData uri="http://schemas.openxmlformats.org/drawingml/2006/table">
            <a:tbl>
              <a:tblPr firstRow="0" bandRow="0">
                <a:tableStyleId>{2D5ABB26-0587-4C30-8999-92F81FD0307C}</a:tableStyleId>
              </a:tblPr>
              <a:tblGrid>
                <a:gridCol w="2194560"/>
                <a:gridCol w="1920240"/>
                <a:gridCol w="3017520"/>
              </a:tblGrid>
              <a:tr h="566928">
                <a:tc>
                  <a:txBody>
                    <a:bodyPr/>
                    <a:lstStyle/>
                    <a:p>
                      <a:r>
                        <a:rPr sz="1100" b="1">
                          <a:solidFill>
                            <a:srgbClr val="626A75"/>
                          </a:solidFill>
                          <a:latin typeface="Calibri"/>
                        </a:rPr>
                        <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Moderate</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Clinically significant</a:t>
                      </a:r>
                    </a:p>
                  </a:txBody>
                  <a:tcPr marL="0" marR="109728" marT="45720" marB="45720" anchor="ctr">
                    <a:noFill/>
                    <a:lnB w="12700" cap="flat" cmpd="sng" algn="ctr">
                      <a:solidFill>
                        <a:srgbClr val="1E2530"/>
                      </a:solidFill>
                      <a:prstDash val="solid"/>
                    </a:lnB>
                    <a:lnL w="0">
                      <a:noFill/>
                    </a:lnL>
                    <a:lnR w="0">
                      <a:noFill/>
                    </a:lnR>
                    <a:lnT w="0">
                      <a:noFill/>
                    </a:lnT>
                  </a:tcPr>
                </a:tc>
              </a:tr>
              <a:tr h="566928">
                <a:tc>
                  <a:txBody>
                    <a:bodyPr/>
                    <a:lstStyle/>
                    <a:p>
                      <a:r>
                        <a:rPr sz="1400" b="1">
                          <a:solidFill>
                            <a:srgbClr val="1E2530"/>
                          </a:solidFill>
                          <a:latin typeface="Calibri"/>
                        </a:rPr>
                        <a:t>Valve area</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1.0 to 1.5 cm²</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1.5 cm² or less; very severe 1.0 or less</a:t>
                      </a:r>
                    </a:p>
                  </a:txBody>
                  <a:tcPr marL="0" marR="109728" marT="45720" marB="45720" anchor="ctr">
                    <a:noFill/>
                    <a:lnB w="6350" cap="flat" cmpd="sng" algn="ctr">
                      <a:solidFill>
                        <a:srgbClr val="D8D1C2"/>
                      </a:solidFill>
                      <a:prstDash val="solid"/>
                    </a:lnB>
                    <a:lnL w="0">
                      <a:noFill/>
                    </a:lnL>
                    <a:lnR w="0">
                      <a:noFill/>
                    </a:lnR>
                    <a:lnT w="0">
                      <a:noFill/>
                    </a:lnT>
                  </a:tcPr>
                </a:tc>
              </a:tr>
              <a:tr h="566928">
                <a:tc>
                  <a:txBody>
                    <a:bodyPr/>
                    <a:lstStyle/>
                    <a:p>
                      <a:r>
                        <a:rPr sz="1400" b="1">
                          <a:solidFill>
                            <a:srgbClr val="1E2530"/>
                          </a:solidFill>
                          <a:latin typeface="Calibri"/>
                        </a:rPr>
                        <a:t>Pressure half-time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150 to 219 ms</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150 ms or more; very severe 220 or more</a:t>
                      </a:r>
                    </a:p>
                  </a:txBody>
                  <a:tcPr marL="0" marR="109728" marT="45720" marB="45720" anchor="ctr">
                    <a:noFill/>
                    <a:lnB w="6350" cap="flat" cmpd="sng" algn="ctr">
                      <a:solidFill>
                        <a:srgbClr val="D8D1C2"/>
                      </a:solidFill>
                      <a:prstDash val="solid"/>
                    </a:lnB>
                    <a:lnL w="0">
                      <a:noFill/>
                    </a:lnL>
                    <a:lnR w="0">
                      <a:noFill/>
                    </a:lnR>
                    <a:lnT w="0">
                      <a:noFill/>
                    </a:lnT>
                  </a:tcPr>
                </a:tc>
              </a:tr>
              <a:tr h="566928">
                <a:tc>
                  <a:txBody>
                    <a:bodyPr/>
                    <a:lstStyle/>
                    <a:p>
                      <a:r>
                        <a:rPr sz="1400" b="1">
                          <a:solidFill>
                            <a:srgbClr val="1E2530"/>
                          </a:solidFill>
                          <a:latin typeface="Calibri"/>
                        </a:rPr>
                        <a:t>Mean gradient</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5 to 10 mmHg</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Above 10 at HR 60 to 80</a:t>
                      </a:r>
                    </a:p>
                  </a:txBody>
                  <a:tcPr marL="0" marR="109728" marT="45720" marB="45720" anchor="ctr">
                    <a:noFill/>
                    <a:lnB w="6350" cap="flat" cmpd="sng" algn="ctr">
                      <a:solidFill>
                        <a:srgbClr val="D8D1C2"/>
                      </a:solidFill>
                      <a:prstDash val="solid"/>
                    </a:lnB>
                    <a:lnL w="0">
                      <a:noFill/>
                    </a:lnL>
                    <a:lnR w="0">
                      <a:noFill/>
                    </a:lnR>
                    <a:lnT w="0">
                      <a:noFill/>
                    </a:lnT>
                  </a:tcPr>
                </a:tc>
              </a:tr>
              <a:tr h="566928">
                <a:tc>
                  <a:txBody>
                    <a:bodyPr/>
                    <a:lstStyle/>
                    <a:p>
                      <a:r>
                        <a:rPr sz="1400" b="1">
                          <a:solidFill>
                            <a:srgbClr val="1E2530"/>
                          </a:solidFill>
                          <a:latin typeface="Calibri"/>
                        </a:rPr>
                        <a:t>Systolic PA pressure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30 to 50 mmHg</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Above 50 mmHg</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8229600" y="1874519"/>
            <a:ext cx="329184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0" y="1965960"/>
            <a:ext cx="3291840" cy="228600"/>
          </a:xfrm>
          <a:prstGeom prst="rect">
            <a:avLst/>
          </a:prstGeom>
          <a:noFill/>
        </p:spPr>
        <p:txBody>
          <a:bodyPr wrap="square" lIns="0" rIns="0" tIns="0" bIns="0">
            <a:spAutoFit/>
          </a:bodyPr>
          <a:lstStyle/>
          <a:p>
            <a:pPr algn="l"/>
            <a:r>
              <a:rPr sz="1000" b="1" i="0" spc="120">
                <a:solidFill>
                  <a:srgbClr val="8A2D36"/>
                </a:solidFill>
                <a:latin typeface="Calibri"/>
              </a:rPr>
              <a:t>BEFORE COMMISSUROTOMY</a:t>
            </a:r>
          </a:p>
        </p:txBody>
      </p:sp>
      <p:sp>
        <p:nvSpPr>
          <p:cNvPr id="10" name="TextBox 9"/>
          <p:cNvSpPr txBox="1"/>
          <p:nvPr/>
        </p:nvSpPr>
        <p:spPr>
          <a:xfrm>
            <a:off x="8229600" y="2258568"/>
            <a:ext cx="3291840" cy="1828800"/>
          </a:xfrm>
          <a:prstGeom prst="rect">
            <a:avLst/>
          </a:prstGeom>
          <a:noFill/>
        </p:spPr>
        <p:txBody>
          <a:bodyPr wrap="square" lIns="0" rIns="0" tIns="0" bIns="0">
            <a:spAutoFit/>
          </a:bodyPr>
          <a:lstStyle/>
          <a:p>
            <a:pPr algn="l"/>
            <a:r>
              <a:rPr sz="1350" b="0" i="1">
                <a:solidFill>
                  <a:srgbClr val="1E2530"/>
                </a:solidFill>
                <a:latin typeface="Cambria"/>
              </a:rPr>
              <a:t>Exclude LA thrombus on TEE and more than mild MR. Wilkins 8 or less favours success.</a:t>
            </a:r>
          </a:p>
        </p:txBody>
      </p:sp>
      <p:cxnSp>
        <p:nvCxnSpPr>
          <p:cNvPr id="11" name="Connector 10"/>
          <p:cNvCxnSpPr/>
          <p:nvPr/>
        </p:nvCxnSpPr>
        <p:spPr>
          <a:xfrm>
            <a:off x="8229600" y="3840480"/>
            <a:ext cx="3291840" cy="0"/>
          </a:xfrm>
          <a:prstGeom prst="line">
            <a:avLst/>
          </a:prstGeom>
          <a:ln w="12700">
            <a:solidFill>
              <a:srgbClr val="3F5B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0" y="3931920"/>
            <a:ext cx="3291840" cy="228600"/>
          </a:xfrm>
          <a:prstGeom prst="rect">
            <a:avLst/>
          </a:prstGeom>
          <a:noFill/>
        </p:spPr>
        <p:txBody>
          <a:bodyPr wrap="square" lIns="0" rIns="0" tIns="0" bIns="0">
            <a:spAutoFit/>
          </a:bodyPr>
          <a:lstStyle/>
          <a:p>
            <a:pPr algn="l"/>
            <a:r>
              <a:rPr sz="1000" b="1" i="0" spc="120">
                <a:solidFill>
                  <a:srgbClr val="3F5B73"/>
                </a:solidFill>
                <a:latin typeface="Calibri"/>
              </a:rPr>
              <a:t>PHT PITFALLS</a:t>
            </a:r>
          </a:p>
        </p:txBody>
      </p:sp>
      <p:sp>
        <p:nvSpPr>
          <p:cNvPr id="13" name="TextBox 12"/>
          <p:cNvSpPr txBox="1"/>
          <p:nvPr/>
        </p:nvSpPr>
        <p:spPr>
          <a:xfrm>
            <a:off x="8229600" y="4224528"/>
            <a:ext cx="3291840" cy="1828800"/>
          </a:xfrm>
          <a:prstGeom prst="rect">
            <a:avLst/>
          </a:prstGeom>
          <a:noFill/>
        </p:spPr>
        <p:txBody>
          <a:bodyPr wrap="square" lIns="0" rIns="0" tIns="0" bIns="0">
            <a:spAutoFit/>
          </a:bodyPr>
          <a:lstStyle/>
          <a:p>
            <a:pPr algn="l"/>
            <a:r>
              <a:rPr sz="1350" b="0" i="1">
                <a:solidFill>
                  <a:srgbClr val="1E2530"/>
                </a:solidFill>
                <a:latin typeface="Cambria"/>
              </a:rPr>
              <a:t>Unreliable in AF, tachycardia, after valvotomy, and with significant AR. Prefer planimetry.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REGURGITANT LESIONS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Mitral regurgitation</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19</a:t>
            </a:r>
          </a:p>
        </p:txBody>
      </p:sp>
      <p:graphicFrame>
        <p:nvGraphicFramePr>
          <p:cNvPr id="7" name="Table 6"/>
          <p:cNvGraphicFramePr>
            <a:graphicFrameLocks noGrp="1"/>
          </p:cNvGraphicFramePr>
          <p:nvPr/>
        </p:nvGraphicFramePr>
        <p:xfrm>
          <a:off x="640080" y="1828800"/>
          <a:ext cx="7132320" cy="3017520"/>
        </p:xfrm>
        <a:graphic>
          <a:graphicData uri="http://schemas.openxmlformats.org/drawingml/2006/table">
            <a:tbl>
              <a:tblPr firstRow="0" bandRow="0">
                <a:tableStyleId>{2D5ABB26-0587-4C30-8999-92F81FD0307C}</a:tableStyleId>
              </a:tblPr>
              <a:tblGrid>
                <a:gridCol w="2377440"/>
                <a:gridCol w="1554480"/>
                <a:gridCol w="1554480"/>
                <a:gridCol w="1645920"/>
              </a:tblGrid>
              <a:tr h="502920">
                <a:tc>
                  <a:txBody>
                    <a:bodyPr/>
                    <a:lstStyle/>
                    <a:p>
                      <a:r>
                        <a:rPr sz="1100" b="1">
                          <a:solidFill>
                            <a:srgbClr val="626A75"/>
                          </a:solidFill>
                          <a:latin typeface="Calibri"/>
                        </a:rPr>
                        <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Mild</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Moderate</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Severe</a:t>
                      </a:r>
                    </a:p>
                  </a:txBody>
                  <a:tcPr marL="0" marR="109728" marT="45720" marB="45720" anchor="ctr">
                    <a:noFill/>
                    <a:lnB w="12700" cap="flat" cmpd="sng" algn="ctr">
                      <a:solidFill>
                        <a:srgbClr val="1E2530"/>
                      </a:solidFill>
                      <a:prstDash val="solid"/>
                    </a:lnB>
                    <a:lnL w="0">
                      <a:noFill/>
                    </a:lnL>
                    <a:lnR w="0">
                      <a:noFill/>
                    </a:lnR>
                    <a:lnT w="0">
                      <a:noFill/>
                    </a:lnT>
                  </a:tcPr>
                </a:tc>
              </a:tr>
              <a:tr h="502920">
                <a:tc>
                  <a:txBody>
                    <a:bodyPr/>
                    <a:lstStyle/>
                    <a:p>
                      <a:r>
                        <a:rPr sz="1400" b="1">
                          <a:solidFill>
                            <a:srgbClr val="1E2530"/>
                          </a:solidFill>
                          <a:latin typeface="Calibri"/>
                        </a:rPr>
                        <a:t>Vena contracta</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3 mm</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 to 6.9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7 mm or more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EROA (primary)</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0.20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0.20 to 0.39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0.40 cm² or more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Regurgitant volume</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30 mL</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30 to 59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60 mL or more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Regurgitant fraction</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30%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30 to 49%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50% or more</a:t>
                      </a:r>
                    </a:p>
                  </a:txBody>
                  <a:tcPr marL="0" marR="109728" marT="45720" marB="45720" anchor="ctr">
                    <a:noFill/>
                    <a:lnB w="6350" cap="flat" cmpd="sng" algn="ctr">
                      <a:solidFill>
                        <a:srgbClr val="D8D1C2"/>
                      </a:solidFill>
                      <a:prstDash val="solid"/>
                    </a:lnB>
                    <a:lnL w="0">
                      <a:noFill/>
                    </a:lnL>
                    <a:lnR w="0">
                      <a:noFill/>
                    </a:lnR>
                    <a:lnT w="0">
                      <a:noFill/>
                    </a:lnT>
                  </a:tcPr>
                </a:tc>
              </a:tr>
              <a:tr h="502920">
                <a:tc>
                  <a:txBody>
                    <a:bodyPr/>
                    <a:lstStyle/>
                    <a:p>
                      <a:r>
                        <a:rPr sz="1400" b="1">
                          <a:solidFill>
                            <a:srgbClr val="1E2530"/>
                          </a:solidFill>
                          <a:latin typeface="Calibri"/>
                        </a:rPr>
                        <a:t>Pulmonary vein</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Systolic dominant</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Blunted</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Systolic reversal</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8229600" y="1874519"/>
            <a:ext cx="329184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0" y="1965960"/>
            <a:ext cx="3291840" cy="228600"/>
          </a:xfrm>
          <a:prstGeom prst="rect">
            <a:avLst/>
          </a:prstGeom>
          <a:noFill/>
        </p:spPr>
        <p:txBody>
          <a:bodyPr wrap="square" lIns="0" rIns="0" tIns="0" bIns="0">
            <a:spAutoFit/>
          </a:bodyPr>
          <a:lstStyle/>
          <a:p>
            <a:pPr algn="l"/>
            <a:r>
              <a:rPr sz="1000" b="1" i="0" spc="120">
                <a:solidFill>
                  <a:srgbClr val="8A2D36"/>
                </a:solidFill>
                <a:latin typeface="Calibri"/>
              </a:rPr>
              <a:t>PRIMARY: OPERATE</a:t>
            </a:r>
          </a:p>
        </p:txBody>
      </p:sp>
      <p:sp>
        <p:nvSpPr>
          <p:cNvPr id="10" name="TextBox 9"/>
          <p:cNvSpPr txBox="1"/>
          <p:nvPr/>
        </p:nvSpPr>
        <p:spPr>
          <a:xfrm>
            <a:off x="8229600" y="2258568"/>
            <a:ext cx="3291840" cy="1828800"/>
          </a:xfrm>
          <a:prstGeom prst="rect">
            <a:avLst/>
          </a:prstGeom>
          <a:noFill/>
        </p:spPr>
        <p:txBody>
          <a:bodyPr wrap="square" lIns="0" rIns="0" tIns="0" bIns="0">
            <a:spAutoFit/>
          </a:bodyPr>
          <a:lstStyle/>
          <a:p>
            <a:pPr algn="l"/>
            <a:r>
              <a:rPr sz="1300" b="0" i="1">
                <a:solidFill>
                  <a:srgbClr val="1E2530"/>
                </a:solidFill>
                <a:latin typeface="Cambria"/>
              </a:rPr>
              <a:t>Symptoms; LVESD 40 mm or more; LVEF 60% or less; new AF; PASP above 50; LAVI 60 or more.</a:t>
            </a:r>
          </a:p>
        </p:txBody>
      </p:sp>
      <p:cxnSp>
        <p:nvCxnSpPr>
          <p:cNvPr id="11" name="Connector 10"/>
          <p:cNvCxnSpPr/>
          <p:nvPr/>
        </p:nvCxnSpPr>
        <p:spPr>
          <a:xfrm>
            <a:off x="8229600" y="3840480"/>
            <a:ext cx="3291840" cy="0"/>
          </a:xfrm>
          <a:prstGeom prst="line">
            <a:avLst/>
          </a:prstGeom>
          <a:ln w="12700">
            <a:solidFill>
              <a:srgbClr val="3F5B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0" y="3931920"/>
            <a:ext cx="3291840" cy="228600"/>
          </a:xfrm>
          <a:prstGeom prst="rect">
            <a:avLst/>
          </a:prstGeom>
          <a:noFill/>
        </p:spPr>
        <p:txBody>
          <a:bodyPr wrap="square" lIns="0" rIns="0" tIns="0" bIns="0">
            <a:spAutoFit/>
          </a:bodyPr>
          <a:lstStyle/>
          <a:p>
            <a:pPr algn="l"/>
            <a:r>
              <a:rPr sz="1000" b="1" i="0" spc="120">
                <a:solidFill>
                  <a:srgbClr val="3F5B73"/>
                </a:solidFill>
                <a:latin typeface="Calibri"/>
              </a:rPr>
              <a:t>SECONDARY</a:t>
            </a:r>
          </a:p>
        </p:txBody>
      </p:sp>
      <p:sp>
        <p:nvSpPr>
          <p:cNvPr id="13" name="TextBox 12"/>
          <p:cNvSpPr txBox="1"/>
          <p:nvPr/>
        </p:nvSpPr>
        <p:spPr>
          <a:xfrm>
            <a:off x="8229600" y="4224528"/>
            <a:ext cx="3291840" cy="1828800"/>
          </a:xfrm>
          <a:prstGeom prst="rect">
            <a:avLst/>
          </a:prstGeom>
          <a:noFill/>
        </p:spPr>
        <p:txBody>
          <a:bodyPr wrap="square" lIns="0" rIns="0" tIns="0" bIns="0">
            <a:spAutoFit/>
          </a:bodyPr>
          <a:lstStyle/>
          <a:p>
            <a:pPr algn="l"/>
            <a:r>
              <a:rPr sz="1300" b="0" i="1">
                <a:solidFill>
                  <a:srgbClr val="1E2530"/>
                </a:solidFill>
                <a:latin typeface="Cambria"/>
              </a:rPr>
              <a:t>ESC: EROA 0.20 cm² or more, or RVol 30 mL or more. COAPT enrolled EROA above 0.30.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REGURGITANT LESIONS</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Tricuspid regurgitation: five grades</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20</a:t>
            </a:r>
          </a:p>
        </p:txBody>
      </p:sp>
      <p:graphicFrame>
        <p:nvGraphicFramePr>
          <p:cNvPr id="7" name="Table 6"/>
          <p:cNvGraphicFramePr>
            <a:graphicFrameLocks noGrp="1"/>
          </p:cNvGraphicFramePr>
          <p:nvPr/>
        </p:nvGraphicFramePr>
        <p:xfrm>
          <a:off x="640080" y="1828800"/>
          <a:ext cx="10881360" cy="2194560"/>
        </p:xfrm>
        <a:graphic>
          <a:graphicData uri="http://schemas.openxmlformats.org/drawingml/2006/table">
            <a:tbl>
              <a:tblPr firstRow="0" bandRow="0">
                <a:tableStyleId>{2D5ABB26-0587-4C30-8999-92F81FD0307C}</a:tableStyleId>
              </a:tblPr>
              <a:tblGrid>
                <a:gridCol w="2926080"/>
                <a:gridCol w="1645920"/>
                <a:gridCol w="1645920"/>
                <a:gridCol w="1554480"/>
                <a:gridCol w="1554480"/>
                <a:gridCol w="1554480"/>
              </a:tblGrid>
              <a:tr h="548640">
                <a:tc>
                  <a:txBody>
                    <a:bodyPr/>
                    <a:lstStyle/>
                    <a:p>
                      <a:r>
                        <a:rPr sz="1100" b="1">
                          <a:solidFill>
                            <a:srgbClr val="626A75"/>
                          </a:solidFill>
                          <a:latin typeface="Calibri"/>
                        </a:rPr>
                        <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Mild</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Moderate</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Severe</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Massive</a:t>
                      </a:r>
                    </a:p>
                  </a:txBody>
                  <a:tcPr marL="0" marR="109728" marT="45720" marB="45720" anchor="ctr">
                    <a:noFill/>
                    <a:lnB w="12700" cap="flat" cmpd="sng" algn="ctr">
                      <a:solidFill>
                        <a:srgbClr val="1E2530"/>
                      </a:solidFill>
                      <a:prstDash val="solid"/>
                    </a:lnB>
                    <a:lnL w="0">
                      <a:noFill/>
                    </a:lnL>
                    <a:lnR w="0">
                      <a:noFill/>
                    </a:lnR>
                    <a:lnT w="0">
                      <a:noFill/>
                    </a:lnT>
                  </a:tcPr>
                </a:tc>
                <a:tc>
                  <a:txBody>
                    <a:bodyPr/>
                    <a:lstStyle/>
                    <a:p>
                      <a:r>
                        <a:rPr sz="1100" b="1">
                          <a:solidFill>
                            <a:srgbClr val="626A75"/>
                          </a:solidFill>
                          <a:latin typeface="Calibri"/>
                        </a:rPr>
                        <a:t>Torrential</a:t>
                      </a:r>
                    </a:p>
                  </a:txBody>
                  <a:tcPr marL="0" marR="109728" marT="45720" marB="45720" anchor="ctr">
                    <a:noFill/>
                    <a:lnB w="12700" cap="flat" cmpd="sng" algn="ctr">
                      <a:solidFill>
                        <a:srgbClr val="1E2530"/>
                      </a:solidFill>
                      <a:prstDash val="solid"/>
                    </a:lnB>
                    <a:lnL w="0">
                      <a:noFill/>
                    </a:lnL>
                    <a:lnR w="0">
                      <a:noFill/>
                    </a:lnR>
                    <a:lnT w="0">
                      <a:noFill/>
                    </a:lnT>
                  </a:tcPr>
                </a:tc>
              </a:tr>
              <a:tr h="548640">
                <a:tc>
                  <a:txBody>
                    <a:bodyPr/>
                    <a:lstStyle/>
                    <a:p>
                      <a:r>
                        <a:rPr sz="1400" b="1">
                          <a:solidFill>
                            <a:srgbClr val="1E2530"/>
                          </a:solidFill>
                          <a:latin typeface="Calibri"/>
                        </a:rPr>
                        <a:t>Vena contracta</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3 mm</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 to 6.9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7 to 13</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14 to 20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21 mm or more</a:t>
                      </a:r>
                    </a:p>
                  </a:txBody>
                  <a:tcPr marL="0" marR="109728" marT="45720" marB="45720" anchor="ctr">
                    <a:noFill/>
                    <a:lnB w="6350" cap="flat" cmpd="sng" algn="ctr">
                      <a:solidFill>
                        <a:srgbClr val="D8D1C2"/>
                      </a:solidFill>
                      <a:prstDash val="solid"/>
                    </a:lnB>
                    <a:lnL w="0">
                      <a:noFill/>
                    </a:lnL>
                    <a:lnR w="0">
                      <a:noFill/>
                    </a:lnR>
                    <a:lnT w="0">
                      <a:noFill/>
                    </a:lnT>
                  </a:tcPr>
                </a:tc>
              </a:tr>
              <a:tr h="548640">
                <a:tc>
                  <a:txBody>
                    <a:bodyPr/>
                    <a:lstStyle/>
                    <a:p>
                      <a:r>
                        <a:rPr sz="1400" b="1">
                          <a:solidFill>
                            <a:srgbClr val="1E2530"/>
                          </a:solidFill>
                          <a:latin typeface="Calibri"/>
                        </a:rPr>
                        <a:t>EROA (mm²)</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20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20 to 39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40 to 59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60 to 79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80 or more</a:t>
                      </a:r>
                    </a:p>
                  </a:txBody>
                  <a:tcPr marL="0" marR="109728" marT="45720" marB="45720" anchor="ctr">
                    <a:noFill/>
                    <a:lnB w="6350" cap="flat" cmpd="sng" algn="ctr">
                      <a:solidFill>
                        <a:srgbClr val="D8D1C2"/>
                      </a:solidFill>
                      <a:prstDash val="solid"/>
                    </a:lnB>
                    <a:lnL w="0">
                      <a:noFill/>
                    </a:lnL>
                    <a:lnR w="0">
                      <a:noFill/>
                    </a:lnR>
                    <a:lnT w="0">
                      <a:noFill/>
                    </a:lnT>
                  </a:tcPr>
                </a:tc>
              </a:tr>
              <a:tr h="548640">
                <a:tc>
                  <a:txBody>
                    <a:bodyPr/>
                    <a:lstStyle/>
                    <a:p>
                      <a:r>
                        <a:rPr sz="1400" b="1">
                          <a:solidFill>
                            <a:srgbClr val="1E2530"/>
                          </a:solidFill>
                          <a:latin typeface="Calibri"/>
                        </a:rPr>
                        <a:t>Regurgitant volume (mL)</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Below 30</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0">
                          <a:solidFill>
                            <a:srgbClr val="1E2530"/>
                          </a:solidFill>
                          <a:latin typeface="Calibri"/>
                        </a:rPr>
                        <a:t>30 to 44</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45 to 59</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60 to 74</a:t>
                      </a:r>
                    </a:p>
                  </a:txBody>
                  <a:tcPr marL="0" marR="109728" marT="45720" marB="45720" anchor="ctr">
                    <a:noFill/>
                    <a:lnB w="6350" cap="flat" cmpd="sng" algn="ctr">
                      <a:solidFill>
                        <a:srgbClr val="D8D1C2"/>
                      </a:solidFill>
                      <a:prstDash val="solid"/>
                    </a:lnB>
                    <a:lnL w="0">
                      <a:noFill/>
                    </a:lnL>
                    <a:lnR w="0">
                      <a:noFill/>
                    </a:lnR>
                    <a:lnT w="0">
                      <a:noFill/>
                    </a:lnT>
                  </a:tcPr>
                </a:tc>
                <a:tc>
                  <a:txBody>
                    <a:bodyPr/>
                    <a:lstStyle/>
                    <a:p>
                      <a:r>
                        <a:rPr sz="1400" b="1">
                          <a:solidFill>
                            <a:srgbClr val="8A2D36"/>
                          </a:solidFill>
                          <a:latin typeface="Calibri"/>
                        </a:rPr>
                        <a:t>75 or more</a:t>
                      </a:r>
                    </a:p>
                  </a:txBody>
                  <a:tcPr marL="0" marR="109728" marT="45720" marB="45720" anchor="ctr">
                    <a:noFill/>
                    <a:lnB w="6350" cap="flat" cmpd="sng" algn="ctr">
                      <a:solidFill>
                        <a:srgbClr val="D8D1C2"/>
                      </a:solidFill>
                      <a:prstDash val="solid"/>
                    </a:lnB>
                    <a:lnL w="0">
                      <a:noFill/>
                    </a:lnL>
                    <a:lnR w="0">
                      <a:noFill/>
                    </a:lnR>
                    <a:lnT w="0">
                      <a:noFill/>
                    </a:lnT>
                  </a:tcPr>
                </a:tc>
              </a:tr>
            </a:tbl>
          </a:graphicData>
        </a:graphic>
      </p:graphicFrame>
      <p:cxnSp>
        <p:nvCxnSpPr>
          <p:cNvPr id="8" name="Connector 7"/>
          <p:cNvCxnSpPr/>
          <p:nvPr/>
        </p:nvCxnSpPr>
        <p:spPr>
          <a:xfrm>
            <a:off x="640080" y="4480560"/>
            <a:ext cx="512064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4572000"/>
            <a:ext cx="5120640" cy="228600"/>
          </a:xfrm>
          <a:prstGeom prst="rect">
            <a:avLst/>
          </a:prstGeom>
          <a:noFill/>
        </p:spPr>
        <p:txBody>
          <a:bodyPr wrap="square" lIns="0" rIns="0" tIns="0" bIns="0">
            <a:spAutoFit/>
          </a:bodyPr>
          <a:lstStyle/>
          <a:p>
            <a:pPr algn="l"/>
            <a:r>
              <a:rPr sz="1000" b="1" i="0" spc="120">
                <a:solidFill>
                  <a:srgbClr val="8A2D36"/>
                </a:solidFill>
                <a:latin typeface="Calibri"/>
              </a:rPr>
              <a:t>SUPPORTIVE SIGNS</a:t>
            </a:r>
          </a:p>
        </p:txBody>
      </p:sp>
      <p:sp>
        <p:nvSpPr>
          <p:cNvPr id="10" name="TextBox 9"/>
          <p:cNvSpPr txBox="1"/>
          <p:nvPr/>
        </p:nvSpPr>
        <p:spPr>
          <a:xfrm>
            <a:off x="640080" y="4864608"/>
            <a:ext cx="5120640" cy="1828800"/>
          </a:xfrm>
          <a:prstGeom prst="rect">
            <a:avLst/>
          </a:prstGeom>
          <a:noFill/>
        </p:spPr>
        <p:txBody>
          <a:bodyPr wrap="square" lIns="0" rIns="0" tIns="0" bIns="0">
            <a:spAutoFit/>
          </a:bodyPr>
          <a:lstStyle/>
          <a:p>
            <a:pPr algn="l"/>
            <a:r>
              <a:rPr sz="1400" b="0" i="1">
                <a:solidFill>
                  <a:srgbClr val="1E2530"/>
                </a:solidFill>
                <a:latin typeface="Cambria"/>
              </a:rPr>
              <a:t>Dense triangular CW signal, hepatic vein systolic reversal, E above 1.0 m/s, annulus above 40 mm.</a:t>
            </a:r>
          </a:p>
        </p:txBody>
      </p:sp>
      <p:cxnSp>
        <p:nvCxnSpPr>
          <p:cNvPr id="11" name="Connector 10"/>
          <p:cNvCxnSpPr/>
          <p:nvPr/>
        </p:nvCxnSpPr>
        <p:spPr>
          <a:xfrm>
            <a:off x="6400800" y="4480560"/>
            <a:ext cx="5120640" cy="0"/>
          </a:xfrm>
          <a:prstGeom prst="line">
            <a:avLst/>
          </a:prstGeom>
          <a:ln w="12700">
            <a:solidFill>
              <a:srgbClr val="1E253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0" y="4572000"/>
            <a:ext cx="5120640" cy="228600"/>
          </a:xfrm>
          <a:prstGeom prst="rect">
            <a:avLst/>
          </a:prstGeom>
          <a:noFill/>
        </p:spPr>
        <p:txBody>
          <a:bodyPr wrap="square" lIns="0" rIns="0" tIns="0" bIns="0">
            <a:spAutoFit/>
          </a:bodyPr>
          <a:lstStyle/>
          <a:p>
            <a:pPr algn="l"/>
            <a:r>
              <a:rPr sz="1000" b="1" i="0" spc="120">
                <a:solidFill>
                  <a:srgbClr val="1E2530"/>
                </a:solidFill>
                <a:latin typeface="Calibri"/>
              </a:rPr>
              <a:t>WHERE IT GOES WRONG</a:t>
            </a:r>
          </a:p>
        </p:txBody>
      </p:sp>
      <p:sp>
        <p:nvSpPr>
          <p:cNvPr id="13" name="TextBox 12"/>
          <p:cNvSpPr txBox="1"/>
          <p:nvPr/>
        </p:nvSpPr>
        <p:spPr>
          <a:xfrm>
            <a:off x="6400800" y="4864608"/>
            <a:ext cx="5120640" cy="1828800"/>
          </a:xfrm>
          <a:prstGeom prst="rect">
            <a:avLst/>
          </a:prstGeom>
          <a:noFill/>
        </p:spPr>
        <p:txBody>
          <a:bodyPr wrap="square" lIns="0" rIns="0" tIns="0" bIns="0">
            <a:spAutoFit/>
          </a:bodyPr>
          <a:lstStyle/>
          <a:p>
            <a:pPr algn="l"/>
            <a:r>
              <a:rPr sz="1400" b="0" i="1">
                <a:solidFill>
                  <a:srgbClr val="1E2530"/>
                </a:solidFill>
                <a:latin typeface="Cambria"/>
              </a:rPr>
              <a:t>A low TR velocity does not mean low PA pressure. It may mean equalised pressures.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REPORTING, ASE 2025</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The report that drives the decision</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21</a:t>
            </a:r>
          </a:p>
        </p:txBody>
      </p:sp>
      <p:sp>
        <p:nvSpPr>
          <p:cNvPr id="7" name="TextBox 6"/>
          <p:cNvSpPr txBox="1"/>
          <p:nvPr/>
        </p:nvSpPr>
        <p:spPr>
          <a:xfrm>
            <a:off x="640080" y="1828800"/>
            <a:ext cx="6766560" cy="4389120"/>
          </a:xfrm>
          <a:prstGeom prst="rect">
            <a:avLst/>
          </a:prstGeom>
          <a:noFill/>
        </p:spPr>
        <p:txBody>
          <a:bodyPr wrap="square" lIns="0" rIns="0" tIns="0" bIns="0">
            <a:spAutoFit/>
          </a:bodyPr>
          <a:lstStyle/>
          <a:p>
            <a:pPr>
              <a:spcAft>
                <a:spcPts val="1100"/>
              </a:spcAft>
            </a:pPr>
            <a:r>
              <a:rPr b="1" sz="1700">
                <a:solidFill>
                  <a:srgbClr val="1E2530"/>
                </a:solidFill>
                <a:latin typeface="Cambria"/>
              </a:rPr>
              <a:t>Indication</a:t>
            </a:r>
            <a:r>
              <a:rPr sz="1700">
                <a:solidFill>
                  <a:srgbClr val="1E2530"/>
                </a:solidFill>
                <a:latin typeface="Cambria"/>
              </a:rPr>
              <a:t>  quality, rhythm, heart rate, BP, BSA</a:t>
            </a:r>
          </a:p>
          <a:p>
            <a:pPr>
              <a:spcAft>
                <a:spcPts val="1100"/>
              </a:spcAft>
            </a:pPr>
            <a:r>
              <a:rPr b="1" sz="1700">
                <a:solidFill>
                  <a:srgbClr val="1E2530"/>
                </a:solidFill>
                <a:latin typeface="Cambria"/>
              </a:rPr>
              <a:t>LV</a:t>
            </a:r>
            <a:r>
              <a:rPr sz="1700">
                <a:solidFill>
                  <a:srgbClr val="1E2530"/>
                </a:solidFill>
                <a:latin typeface="Cambria"/>
              </a:rPr>
              <a:t>  size, mass, geometry, EF method, regional motion, strain</a:t>
            </a:r>
          </a:p>
          <a:p>
            <a:pPr>
              <a:spcAft>
                <a:spcPts val="1100"/>
              </a:spcAft>
            </a:pPr>
            <a:r>
              <a:rPr b="1" sz="1700">
                <a:solidFill>
                  <a:srgbClr val="1E2530"/>
                </a:solidFill>
                <a:latin typeface="Cambria"/>
              </a:rPr>
              <a:t>Diastology</a:t>
            </a:r>
            <a:r>
              <a:rPr sz="1700">
                <a:solidFill>
                  <a:srgbClr val="1E2530"/>
                </a:solidFill>
                <a:latin typeface="Cambria"/>
              </a:rPr>
              <a:t>  is LAP raised, and how do you know</a:t>
            </a:r>
          </a:p>
          <a:p>
            <a:pPr>
              <a:spcAft>
                <a:spcPts val="1100"/>
              </a:spcAft>
            </a:pPr>
            <a:r>
              <a:rPr b="1" sz="1700">
                <a:solidFill>
                  <a:srgbClr val="1E2530"/>
                </a:solidFill>
                <a:latin typeface="Cambria"/>
              </a:rPr>
              <a:t>RV</a:t>
            </a:r>
            <a:r>
              <a:rPr sz="1700">
                <a:solidFill>
                  <a:srgbClr val="1E2530"/>
                </a:solidFill>
                <a:latin typeface="Cambria"/>
              </a:rPr>
              <a:t>  size, function, PASP, PH probability</a:t>
            </a:r>
          </a:p>
          <a:p>
            <a:pPr>
              <a:spcAft>
                <a:spcPts val="1100"/>
              </a:spcAft>
            </a:pPr>
            <a:r>
              <a:rPr b="1" sz="1700">
                <a:solidFill>
                  <a:srgbClr val="1E2530"/>
                </a:solidFill>
                <a:latin typeface="Cambria"/>
              </a:rPr>
              <a:t>Valves</a:t>
            </a:r>
            <a:r>
              <a:rPr sz="1700">
                <a:solidFill>
                  <a:srgbClr val="1E2530"/>
                </a:solidFill>
                <a:latin typeface="Cambria"/>
              </a:rPr>
              <a:t>  mechanism, severity, parameters, consequence</a:t>
            </a:r>
          </a:p>
          <a:p>
            <a:pPr>
              <a:spcAft>
                <a:spcPts val="1100"/>
              </a:spcAft>
            </a:pPr>
            <a:r>
              <a:rPr b="1" sz="1700">
                <a:solidFill>
                  <a:srgbClr val="1E2530"/>
                </a:solidFill>
                <a:latin typeface="Cambria"/>
              </a:rPr>
              <a:t>Conclusion</a:t>
            </a:r>
            <a:r>
              <a:rPr sz="1700">
                <a:solidFill>
                  <a:srgbClr val="1E2530"/>
                </a:solidFill>
                <a:latin typeface="Cambria"/>
              </a:rPr>
              <a:t>  three to five lines, compared with the prior study</a:t>
            </a:r>
          </a:p>
        </p:txBody>
      </p:sp>
      <p:cxnSp>
        <p:nvCxnSpPr>
          <p:cNvPr id="8" name="Connector 7"/>
          <p:cNvCxnSpPr/>
          <p:nvPr/>
        </p:nvCxnSpPr>
        <p:spPr>
          <a:xfrm>
            <a:off x="8046720" y="1874519"/>
            <a:ext cx="347472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046720" y="1965960"/>
            <a:ext cx="3474720" cy="228600"/>
          </a:xfrm>
          <a:prstGeom prst="rect">
            <a:avLst/>
          </a:prstGeom>
          <a:noFill/>
        </p:spPr>
        <p:txBody>
          <a:bodyPr wrap="square" lIns="0" rIns="0" tIns="0" bIns="0">
            <a:spAutoFit/>
          </a:bodyPr>
          <a:lstStyle/>
          <a:p>
            <a:pPr algn="l"/>
            <a:r>
              <a:rPr sz="1000" b="1" i="0" spc="120">
                <a:solidFill>
                  <a:srgbClr val="8A2D36"/>
                </a:solidFill>
                <a:latin typeface="Calibri"/>
              </a:rPr>
              <a:t>THE FIVE-LINE AS REPORT</a:t>
            </a:r>
          </a:p>
        </p:txBody>
      </p:sp>
      <p:sp>
        <p:nvSpPr>
          <p:cNvPr id="10" name="TextBox 9"/>
          <p:cNvSpPr txBox="1"/>
          <p:nvPr/>
        </p:nvSpPr>
        <p:spPr>
          <a:xfrm>
            <a:off x="8046720" y="2258568"/>
            <a:ext cx="3474720" cy="1828800"/>
          </a:xfrm>
          <a:prstGeom prst="rect">
            <a:avLst/>
          </a:prstGeom>
          <a:noFill/>
        </p:spPr>
        <p:txBody>
          <a:bodyPr wrap="square" lIns="0" rIns="0" tIns="0" bIns="0">
            <a:spAutoFit/>
          </a:bodyPr>
          <a:lstStyle/>
          <a:p>
            <a:pPr algn="l"/>
            <a:r>
              <a:rPr sz="1400" b="0" i="1">
                <a:solidFill>
                  <a:srgbClr val="1E2530"/>
                </a:solidFill>
                <a:latin typeface="Cambria"/>
              </a:rPr>
              <a:t>Morphology. Vmax, MG, AVA, AVAi, DVI. SVi. LVEF and strain. One sentence on severity, flow and action.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CHECK YOURSELF</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Case 1</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22</a:t>
            </a:r>
          </a:p>
        </p:txBody>
      </p:sp>
      <p:sp>
        <p:nvSpPr>
          <p:cNvPr id="7" name="TextBox 6"/>
          <p:cNvSpPr txBox="1"/>
          <p:nvPr/>
        </p:nvSpPr>
        <p:spPr>
          <a:xfrm>
            <a:off x="640080" y="2011680"/>
            <a:ext cx="10515600" cy="2377440"/>
          </a:xfrm>
          <a:prstGeom prst="rect">
            <a:avLst/>
          </a:prstGeom>
          <a:noFill/>
        </p:spPr>
        <p:txBody>
          <a:bodyPr wrap="square" lIns="0" rIns="0" tIns="0" bIns="0">
            <a:spAutoFit/>
          </a:bodyPr>
          <a:lstStyle/>
          <a:p>
            <a:pPr algn="l">
              <a:spcAft>
                <a:spcPts val="1600"/>
              </a:spcAft>
            </a:pPr>
            <a:r>
              <a:rPr sz="2200" b="0" i="0">
                <a:solidFill>
                  <a:srgbClr val="1E2530"/>
                </a:solidFill>
                <a:latin typeface="Cambria"/>
              </a:rPr>
              <a:t>A 78-year-old woman with exertional dyspnoea and hypertension. Small LV cavity, LVEF 62%.</a:t>
            </a:r>
          </a:p>
          <a:p>
            <a:pPr algn="l">
              <a:spcAft>
                <a:spcPts val="1600"/>
              </a:spcAft>
            </a:pPr>
            <a:r>
              <a:rPr sz="2200" b="0" i="0">
                <a:solidFill>
                  <a:srgbClr val="1E2530"/>
                </a:solidFill>
                <a:latin typeface="Cambria"/>
              </a:rPr>
              <a:t>Vmax 3.4 m/s, mean gradient 32 mmHg, AVA 0.8 cm², AVAi 0.55 cm²/m², DVI 0.22, SVi 28 mL/m².</a:t>
            </a:r>
          </a:p>
          <a:p>
            <a:pPr algn="l">
              <a:spcAft>
                <a:spcPts val="1600"/>
              </a:spcAft>
            </a:pPr>
            <a:r>
              <a:rPr sz="2200" b="0" i="0">
                <a:solidFill>
                  <a:srgbClr val="1E2530"/>
                </a:solidFill>
                <a:latin typeface="Cambria"/>
              </a:rPr>
              <a:t>What is the diagnosis, and what is your next step?</a:t>
            </a:r>
          </a:p>
        </p:txBody>
      </p:sp>
      <p:cxnSp>
        <p:nvCxnSpPr>
          <p:cNvPr id="8" name="Connector 7"/>
          <p:cNvCxnSpPr/>
          <p:nvPr/>
        </p:nvCxnSpPr>
        <p:spPr>
          <a:xfrm>
            <a:off x="640080" y="4846320"/>
            <a:ext cx="548640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4937759"/>
            <a:ext cx="5486400" cy="228600"/>
          </a:xfrm>
          <a:prstGeom prst="rect">
            <a:avLst/>
          </a:prstGeom>
          <a:noFill/>
        </p:spPr>
        <p:txBody>
          <a:bodyPr wrap="square" lIns="0" rIns="0" tIns="0" bIns="0">
            <a:spAutoFit/>
          </a:bodyPr>
          <a:lstStyle/>
          <a:p>
            <a:pPr algn="l"/>
            <a:r>
              <a:rPr sz="1000" b="1" i="0" spc="120">
                <a:solidFill>
                  <a:srgbClr val="8A2D36"/>
                </a:solidFill>
                <a:latin typeface="Calibri"/>
              </a:rPr>
              <a:t>THINK</a:t>
            </a:r>
          </a:p>
        </p:txBody>
      </p:sp>
      <p:sp>
        <p:nvSpPr>
          <p:cNvPr id="10" name="TextBox 9"/>
          <p:cNvSpPr txBox="1"/>
          <p:nvPr/>
        </p:nvSpPr>
        <p:spPr>
          <a:xfrm>
            <a:off x="640080" y="5230368"/>
            <a:ext cx="5486400" cy="1828800"/>
          </a:xfrm>
          <a:prstGeom prst="rect">
            <a:avLst/>
          </a:prstGeom>
          <a:noFill/>
        </p:spPr>
        <p:txBody>
          <a:bodyPr wrap="square" lIns="0" rIns="0" tIns="0" bIns="0">
            <a:spAutoFit/>
          </a:bodyPr>
          <a:lstStyle/>
          <a:p>
            <a:pPr algn="l"/>
            <a:r>
              <a:rPr sz="1400" b="0" i="1">
                <a:solidFill>
                  <a:srgbClr val="1E2530"/>
                </a:solidFill>
                <a:latin typeface="Cambria"/>
              </a:rPr>
              <a:t>Flow? EF? Blood pressure during the scan? LVOT area? Sex-specific calcium threshold?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640080" y="411480"/>
            <a:ext cx="4572000" cy="228600"/>
          </a:xfrm>
          <a:prstGeom prst="rect">
            <a:avLst/>
          </a:prstGeom>
          <a:noFill/>
        </p:spPr>
        <p:txBody>
          <a:bodyPr wrap="square" lIns="0" rIns="0" tIns="0" bIns="0">
            <a:spAutoFit/>
          </a:bodyPr>
          <a:lstStyle/>
          <a:p>
            <a:pPr algn="l"/>
            <a:r>
              <a:rPr sz="1000" b="1" i="0" spc="120">
                <a:solidFill>
                  <a:srgbClr val="8A2D36"/>
                </a:solidFill>
                <a:latin typeface="Calibri"/>
              </a:rPr>
              <a:t>CHECK YOURSELF</a:t>
            </a:r>
          </a:p>
        </p:txBody>
      </p:sp>
      <p:sp>
        <p:nvSpPr>
          <p:cNvPr id="3" name="TextBox 2"/>
          <p:cNvSpPr txBox="1"/>
          <p:nvPr/>
        </p:nvSpPr>
        <p:spPr>
          <a:xfrm>
            <a:off x="640080" y="713232"/>
            <a:ext cx="10881360" cy="822960"/>
          </a:xfrm>
          <a:prstGeom prst="rect">
            <a:avLst/>
          </a:prstGeom>
          <a:noFill/>
        </p:spPr>
        <p:txBody>
          <a:bodyPr wrap="square" lIns="0" rIns="0" tIns="0" bIns="0">
            <a:spAutoFit/>
          </a:bodyPr>
          <a:lstStyle/>
          <a:p>
            <a:pPr algn="l"/>
            <a:r>
              <a:rPr sz="3000" b="1" i="0">
                <a:solidFill>
                  <a:srgbClr val="1E2530"/>
                </a:solidFill>
                <a:latin typeface="Cambria"/>
              </a:rPr>
              <a:t>Case 2</a:t>
            </a:r>
          </a:p>
        </p:txBody>
      </p:sp>
      <p:cxnSp>
        <p:nvCxnSpPr>
          <p:cNvPr id="4" name="Connector 3"/>
          <p:cNvCxnSpPr/>
          <p:nvPr/>
        </p:nvCxnSpPr>
        <p:spPr>
          <a:xfrm>
            <a:off x="640080" y="1481328"/>
            <a:ext cx="10908792" cy="0"/>
          </a:xfrm>
          <a:prstGeom prst="line">
            <a:avLst/>
          </a:prstGeom>
          <a:ln w="9525">
            <a:solidFill>
              <a:srgbClr val="1E25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419088"/>
            <a:ext cx="5486400" cy="228600"/>
          </a:xfrm>
          <a:prstGeom prst="rect">
            <a:avLst/>
          </a:prstGeom>
          <a:noFill/>
        </p:spPr>
        <p:txBody>
          <a:bodyPr wrap="square" lIns="0" rIns="0" tIns="0" bIns="0">
            <a:spAutoFit/>
          </a:bodyPr>
          <a:lstStyle/>
          <a:p>
            <a:pPr algn="l"/>
            <a:r>
              <a:rPr sz="800" b="1" i="0">
                <a:solidFill>
                  <a:srgbClr val="626A75"/>
                </a:solidFill>
                <a:latin typeface="Calibri"/>
              </a:rPr>
              <a:t>ECHO ESSENTIALS</a:t>
            </a:r>
          </a:p>
        </p:txBody>
      </p:sp>
      <p:sp>
        <p:nvSpPr>
          <p:cNvPr id="6" name="TextBox 5"/>
          <p:cNvSpPr txBox="1"/>
          <p:nvPr/>
        </p:nvSpPr>
        <p:spPr>
          <a:xfrm>
            <a:off x="10972800" y="6419088"/>
            <a:ext cx="576072" cy="228600"/>
          </a:xfrm>
          <a:prstGeom prst="rect">
            <a:avLst/>
          </a:prstGeom>
          <a:noFill/>
        </p:spPr>
        <p:txBody>
          <a:bodyPr wrap="square" lIns="0" rIns="0" tIns="0" bIns="0">
            <a:spAutoFit/>
          </a:bodyPr>
          <a:lstStyle/>
          <a:p>
            <a:pPr algn="r"/>
            <a:r>
              <a:rPr sz="900" b="1" i="0">
                <a:solidFill>
                  <a:srgbClr val="8A2D36"/>
                </a:solidFill>
                <a:latin typeface="Calibri"/>
              </a:rPr>
              <a:t>23</a:t>
            </a:r>
          </a:p>
        </p:txBody>
      </p:sp>
      <p:sp>
        <p:nvSpPr>
          <p:cNvPr id="7" name="TextBox 6"/>
          <p:cNvSpPr txBox="1"/>
          <p:nvPr/>
        </p:nvSpPr>
        <p:spPr>
          <a:xfrm>
            <a:off x="640080" y="2011680"/>
            <a:ext cx="10515600" cy="2377440"/>
          </a:xfrm>
          <a:prstGeom prst="rect">
            <a:avLst/>
          </a:prstGeom>
          <a:noFill/>
        </p:spPr>
        <p:txBody>
          <a:bodyPr wrap="square" lIns="0" rIns="0" tIns="0" bIns="0">
            <a:spAutoFit/>
          </a:bodyPr>
          <a:lstStyle/>
          <a:p>
            <a:pPr algn="l">
              <a:spcAft>
                <a:spcPts val="1600"/>
              </a:spcAft>
            </a:pPr>
            <a:r>
              <a:rPr sz="2200" b="0" i="0">
                <a:solidFill>
                  <a:srgbClr val="1E2530"/>
                </a:solidFill>
                <a:latin typeface="Cambria"/>
              </a:rPr>
              <a:t>A 62-year-old man with ischaemic cardiomyopathy, LVEF 30%, NYHA class III.</a:t>
            </a:r>
          </a:p>
          <a:p>
            <a:pPr algn="l">
              <a:spcAft>
                <a:spcPts val="1600"/>
              </a:spcAft>
            </a:pPr>
            <a:r>
              <a:rPr sz="2200" b="0" i="0">
                <a:solidFill>
                  <a:srgbClr val="1E2530"/>
                </a:solidFill>
                <a:latin typeface="Cambria"/>
              </a:rPr>
              <a:t>Vmax 3.3 m/s, mean gradient 28 mmHg, AVA 0.8 cm², SVi 24 mL/m².</a:t>
            </a:r>
          </a:p>
          <a:p>
            <a:pPr algn="l">
              <a:spcAft>
                <a:spcPts val="1600"/>
              </a:spcAft>
            </a:pPr>
            <a:r>
              <a:rPr sz="2200" b="0" i="0">
                <a:solidFill>
                  <a:srgbClr val="1E2530"/>
                </a:solidFill>
                <a:latin typeface="Cambria"/>
              </a:rPr>
              <a:t>How do you decide whether the valve is truly severe?</a:t>
            </a:r>
          </a:p>
        </p:txBody>
      </p:sp>
      <p:cxnSp>
        <p:nvCxnSpPr>
          <p:cNvPr id="8" name="Connector 7"/>
          <p:cNvCxnSpPr/>
          <p:nvPr/>
        </p:nvCxnSpPr>
        <p:spPr>
          <a:xfrm>
            <a:off x="640080" y="4846320"/>
            <a:ext cx="5486400" cy="0"/>
          </a:xfrm>
          <a:prstGeom prst="line">
            <a:avLst/>
          </a:prstGeom>
          <a:ln w="12700">
            <a:solidFill>
              <a:srgbClr val="8A2D3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4937759"/>
            <a:ext cx="5486400" cy="228600"/>
          </a:xfrm>
          <a:prstGeom prst="rect">
            <a:avLst/>
          </a:prstGeom>
          <a:noFill/>
        </p:spPr>
        <p:txBody>
          <a:bodyPr wrap="square" lIns="0" rIns="0" tIns="0" bIns="0">
            <a:spAutoFit/>
          </a:bodyPr>
          <a:lstStyle/>
          <a:p>
            <a:pPr algn="l"/>
            <a:r>
              <a:rPr sz="1000" b="1" i="0" spc="120">
                <a:solidFill>
                  <a:srgbClr val="8A2D36"/>
                </a:solidFill>
                <a:latin typeface="Calibri"/>
              </a:rPr>
              <a:t>THINK</a:t>
            </a:r>
          </a:p>
        </p:txBody>
      </p:sp>
      <p:sp>
        <p:nvSpPr>
          <p:cNvPr id="10" name="TextBox 9"/>
          <p:cNvSpPr txBox="1"/>
          <p:nvPr/>
        </p:nvSpPr>
        <p:spPr>
          <a:xfrm>
            <a:off x="640080" y="5230368"/>
            <a:ext cx="5486400" cy="1828800"/>
          </a:xfrm>
          <a:prstGeom prst="rect">
            <a:avLst/>
          </a:prstGeom>
          <a:noFill/>
        </p:spPr>
        <p:txBody>
          <a:bodyPr wrap="square" lIns="0" rIns="0" tIns="0" bIns="0">
            <a:spAutoFit/>
          </a:bodyPr>
          <a:lstStyle/>
          <a:p>
            <a:pPr algn="l"/>
            <a:r>
              <a:rPr sz="1400" b="0" i="1">
                <a:solidFill>
                  <a:srgbClr val="1E2530"/>
                </a:solidFill>
                <a:latin typeface="Cambria"/>
              </a:rPr>
              <a:t>Flow reserve? AVA at high flow? Calcium score? Surgical risk and the Heart Team?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B"/>
        </a:solidFill>
        <a:effectLst/>
      </p:bgPr>
    </p:bg>
    <p:spTree>
      <p:nvGrpSpPr>
        <p:cNvPr id="1" name=""/>
        <p:cNvGrpSpPr/>
        <p:nvPr/>
      </p:nvGrpSpPr>
      <p:grpSpPr/>
      <p:sp>
        <p:nvSpPr>
          <p:cNvPr id="2" name="TextBox 1"/>
          <p:cNvSpPr txBox="1"/>
          <p:nvPr/>
        </p:nvSpPr>
        <p:spPr>
          <a:xfrm>
            <a:off x="822960" y="822960"/>
            <a:ext cx="3657600" cy="228600"/>
          </a:xfrm>
          <a:prstGeom prst="rect">
            <a:avLst/>
          </a:prstGeom>
          <a:noFill/>
        </p:spPr>
        <p:txBody>
          <a:bodyPr wrap="square" lIns="0" rIns="0" tIns="0" bIns="0">
            <a:spAutoFit/>
          </a:bodyPr>
          <a:lstStyle/>
          <a:p>
            <a:pPr algn="l"/>
            <a:r>
              <a:rPr sz="1000" b="1" i="0" spc="120">
                <a:solidFill>
                  <a:srgbClr val="C79A5B"/>
                </a:solidFill>
                <a:latin typeface="Calibri"/>
              </a:rPr>
              <a:t>TAKE-HOME</a:t>
            </a:r>
          </a:p>
        </p:txBody>
      </p:sp>
      <p:sp>
        <p:nvSpPr>
          <p:cNvPr id="3" name="TextBox 2"/>
          <p:cNvSpPr txBox="1"/>
          <p:nvPr/>
        </p:nvSpPr>
        <p:spPr>
          <a:xfrm>
            <a:off x="822960" y="1554480"/>
            <a:ext cx="10058400" cy="3474720"/>
          </a:xfrm>
          <a:prstGeom prst="rect">
            <a:avLst/>
          </a:prstGeom>
          <a:noFill/>
        </p:spPr>
        <p:txBody>
          <a:bodyPr wrap="square" lIns="0" rIns="0" tIns="0" bIns="0">
            <a:spAutoFit/>
          </a:bodyPr>
          <a:lstStyle/>
          <a:p>
            <a:pPr algn="l">
              <a:spcAft>
                <a:spcPts val="1800"/>
              </a:spcAft>
            </a:pPr>
            <a:r>
              <a:rPr sz="2400" b="0" i="0">
                <a:solidFill>
                  <a:srgbClr val="F2EDE3"/>
                </a:solidFill>
                <a:latin typeface="Cambria"/>
              </a:rPr>
              <a:t>Say the flow in every discordant AS case.</a:t>
            </a:r>
          </a:p>
          <a:p>
            <a:pPr algn="l">
              <a:spcAft>
                <a:spcPts val="1800"/>
              </a:spcAft>
            </a:pPr>
            <a:r>
              <a:rPr sz="2400" b="0" i="0">
                <a:solidFill>
                  <a:srgbClr val="F2EDE3"/>
                </a:solidFill>
                <a:latin typeface="Cambria"/>
              </a:rPr>
              <a:t>There are two low-flow types: reduced EF and preserved EF.</a:t>
            </a:r>
          </a:p>
          <a:p>
            <a:pPr algn="l">
              <a:spcAft>
                <a:spcPts val="1800"/>
              </a:spcAft>
            </a:pPr>
            <a:r>
              <a:rPr sz="2400" b="0" i="0">
                <a:solidFill>
                  <a:srgbClr val="F2EDE3"/>
                </a:solidFill>
                <a:latin typeface="Cambria"/>
              </a:rPr>
              <a:t>Critical AS: Vmax 5 m/s or more and / or MG 60 mmHg or more. State the numbers.</a:t>
            </a:r>
          </a:p>
          <a:p>
            <a:pPr algn="l">
              <a:spcAft>
                <a:spcPts val="1800"/>
              </a:spcAft>
            </a:pPr>
            <a:r>
              <a:rPr sz="2400" b="0" i="0">
                <a:solidFill>
                  <a:srgbClr val="F2EDE3"/>
                </a:solidFill>
                <a:latin typeface="Cambria"/>
              </a:rPr>
              <a:t>Never grade regurgitation from one parameter.</a:t>
            </a:r>
          </a:p>
          <a:p>
            <a:pPr algn="l">
              <a:spcAft>
                <a:spcPts val="1800"/>
              </a:spcAft>
            </a:pPr>
            <a:r>
              <a:rPr sz="2400" b="0" i="0">
                <a:solidFill>
                  <a:srgbClr val="F2EDE3"/>
                </a:solidFill>
                <a:latin typeface="Cambria"/>
              </a:rPr>
              <a:t>The report must drive a decision.</a:t>
            </a:r>
          </a:p>
        </p:txBody>
      </p:sp>
      <p:sp>
        <p:nvSpPr>
          <p:cNvPr id="4" name="TextBox 3"/>
          <p:cNvSpPr txBox="1"/>
          <p:nvPr/>
        </p:nvSpPr>
        <p:spPr>
          <a:xfrm>
            <a:off x="822960" y="5989320"/>
            <a:ext cx="8229600" cy="274320"/>
          </a:xfrm>
          <a:prstGeom prst="rect">
            <a:avLst/>
          </a:prstGeom>
          <a:noFill/>
        </p:spPr>
        <p:txBody>
          <a:bodyPr wrap="square" lIns="0" rIns="0" tIns="0" bIns="0">
            <a:spAutoFit/>
          </a:bodyPr>
          <a:lstStyle/>
          <a:p>
            <a:pPr algn="l"/>
            <a:r>
              <a:rPr sz="1100" b="0" i="0">
                <a:solidFill>
                  <a:srgbClr val="B9B1A2"/>
                </a:solidFill>
                <a:latin typeface="Calibri"/>
              </a:rPr>
              <a:t>Dr. Elfadil Bilal Abdelrahman   /   Echo Essentials   /   Verify thresholds against current guideline editions.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