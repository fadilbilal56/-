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and the learning objectives: by the end, fellows should grade AS correctly including low-flow states, and quantify AR, MS, MR and TR using integrated criteria.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two minutes here. Tell the fellows the order: function, diastology, right heart, AS (the longest block), then the regurgitant lesions.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biplane Simpson's, contrast for poor endocardial definition, and foreshortening as the commonest error.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the 2025 update asks you to estimate left atrial pressure first and then grade, and that it adds an HFpEF diagnostic section. Show the published algorithm figure on the next slide if available.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PASP calculation and the ESC/ERS 2022 echo probability table.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fellows what the LVOT diameter error does to the AVA. A 1 mm error changes the AVA by about 0.2 cm² because the diameter is squared.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critical AS clearly. Most adult usage: Vmax of 5 m/s or more and/or mean gradient of 60 mmHg or more, usually with AVA below 0.6 cm². ACC/AHA calls this very severe. There is no single universal definition; report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algorithm top to bottom. The first question in discordance is always flow (SVi), then LVEF.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true-severe vs pseudo-severe. Flow reserve means stroke volume rises by at least 20 percent with low dose dobutamine.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second low-flow type. The patient looks well on EF but has a small, stiff, hypertrophied LV with a small stroke volume.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Always check the exact class and level in the current guideline text. The early-intervention evidence base (EARLY TAVR, AVATAR, RECOVERY) is shifting practice.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fellows that no single parameter grades 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Wilkins score: mobility, thickening, calcification, subvalvular thickening each 1 to 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versus secondary MR first. Thresholds are lower in secondary MR because the orifice is elliptical.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massive and torrential grades. They stratify outcome and select patients for transcatheter therapy.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the report must answer the clinical question in its first 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low-flow, low-gradient AS with preserved EF (paradoxical). Next step: exclude measurement error (BP, LVOT area), then CT calcium score. Women severe likely at 1200 AU or more.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low-flow, low-gradient AS with reduced EF. Do low-dose dobutamine stress echo (5 to 20 mcg/kg/min). A rise of 20 percent or more in stroke volume indicates flow reserve. AVA that stays at or below 1.0 with Vmax of 4 m/s or more confirms true-severe AS. If no flow reserve, use CT calcium (men 2000 AU or more severe likely).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863840" y="-1463040"/>
            <a:ext cx="6400800" cy="6400800"/>
          </a:xfrm>
          <a:prstGeom prst="ellipse">
            <a:avLst/>
          </a:prstGeom>
          <a:solidFill>
            <a:srgbClr val="1331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188720"/>
            <a:ext cx="822960" cy="54864"/>
          </a:xfrm>
          <a:prstGeom prst="rect">
            <a:avLst/>
          </a:prstGeom>
          <a:solidFill>
            <a:srgbClr val="C9A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8229600" cy="365760"/>
          </a:xfrm>
          <a:prstGeom prst="rect">
            <a:avLst/>
          </a:prstGeom>
          <a:noFill/>
        </p:spPr>
        <p:txBody>
          <a:bodyPr wrap="square" anchor="t" lIns="45720" rIns="45720">
            <a:spAutoFit/>
          </a:bodyPr>
          <a:lstStyle/>
          <a:p>
            <a:pPr algn="l"/>
            <a:r>
              <a:rPr sz="1300" b="1">
                <a:solidFill>
                  <a:srgbClr val="FFFFFF"/>
                </a:solidFill>
                <a:latin typeface="Calibri"/>
              </a:rPr>
              <a:t>ADULT ECHOCARDIOGRAPHY  |  TEACHING DECK FOR FELLOWS</a:t>
            </a:r>
          </a:p>
        </p:txBody>
      </p:sp>
      <p:sp>
        <p:nvSpPr>
          <p:cNvPr id="6" name="TextBox 5"/>
          <p:cNvSpPr txBox="1"/>
          <p:nvPr/>
        </p:nvSpPr>
        <p:spPr>
          <a:xfrm>
            <a:off x="731520" y="1828800"/>
            <a:ext cx="9144000" cy="1188720"/>
          </a:xfrm>
          <a:prstGeom prst="rect">
            <a:avLst/>
          </a:prstGeom>
          <a:noFill/>
        </p:spPr>
        <p:txBody>
          <a:bodyPr wrap="square" anchor="t" lIns="45720" rIns="45720">
            <a:spAutoFit/>
          </a:bodyPr>
          <a:lstStyle/>
          <a:p>
            <a:pPr algn="l"/>
            <a:r>
              <a:rPr sz="6200" b="1">
                <a:solidFill>
                  <a:srgbClr val="FFFFFF"/>
                </a:solidFill>
                <a:latin typeface="Cambria"/>
              </a:rPr>
              <a:t>ECHO ESSENTIALS</a:t>
            </a:r>
          </a:p>
        </p:txBody>
      </p:sp>
      <p:sp>
        <p:nvSpPr>
          <p:cNvPr id="7" name="TextBox 6"/>
          <p:cNvSpPr txBox="1"/>
          <p:nvPr/>
        </p:nvSpPr>
        <p:spPr>
          <a:xfrm>
            <a:off x="731520" y="3154680"/>
            <a:ext cx="9144000" cy="548640"/>
          </a:xfrm>
          <a:prstGeom prst="rect">
            <a:avLst/>
          </a:prstGeom>
          <a:noFill/>
        </p:spPr>
        <p:txBody>
          <a:bodyPr wrap="square" anchor="t" lIns="45720" rIns="45720">
            <a:spAutoFit/>
          </a:bodyPr>
          <a:lstStyle/>
          <a:p>
            <a:pPr algn="l"/>
            <a:r>
              <a:rPr sz="2200" b="0">
                <a:solidFill>
                  <a:srgbClr val="C9A24B"/>
                </a:solidFill>
                <a:latin typeface="Cambria"/>
              </a:rPr>
              <a:t>Guideline-based valve disease and cardiac function in 19 slides</a:t>
            </a:r>
          </a:p>
        </p:txBody>
      </p:sp>
      <p:sp>
        <p:nvSpPr>
          <p:cNvPr id="8" name="TextBox 7"/>
          <p:cNvSpPr txBox="1"/>
          <p:nvPr/>
        </p:nvSpPr>
        <p:spPr>
          <a:xfrm>
            <a:off x="731520" y="5029200"/>
            <a:ext cx="7315200" cy="365760"/>
          </a:xfrm>
          <a:prstGeom prst="rect">
            <a:avLst/>
          </a:prstGeom>
          <a:noFill/>
        </p:spPr>
        <p:txBody>
          <a:bodyPr wrap="square" anchor="t" lIns="45720" rIns="45720">
            <a:spAutoFit/>
          </a:bodyPr>
          <a:lstStyle/>
          <a:p>
            <a:pPr algn="l"/>
            <a:r>
              <a:rPr sz="2000" b="1">
                <a:solidFill>
                  <a:srgbClr val="FFFFFF"/>
                </a:solidFill>
                <a:latin typeface="Calibri"/>
              </a:rPr>
              <a:t>Dr. [Your Name]</a:t>
            </a:r>
          </a:p>
        </p:txBody>
      </p:sp>
      <p:sp>
        <p:nvSpPr>
          <p:cNvPr id="9" name="TextBox 8"/>
          <p:cNvSpPr txBox="1"/>
          <p:nvPr/>
        </p:nvSpPr>
        <p:spPr>
          <a:xfrm>
            <a:off x="731520" y="5440680"/>
            <a:ext cx="7315200" cy="365760"/>
          </a:xfrm>
          <a:prstGeom prst="rect">
            <a:avLst/>
          </a:prstGeom>
          <a:noFill/>
        </p:spPr>
        <p:txBody>
          <a:bodyPr wrap="square" anchor="t" lIns="45720" rIns="45720">
            <a:spAutoFit/>
          </a:bodyPr>
          <a:lstStyle/>
          <a:p>
            <a:pPr algn="l"/>
            <a:r>
              <a:rPr sz="1400" b="0">
                <a:solidFill>
                  <a:srgbClr val="C8D4E6"/>
                </a:solidFill>
                <a:latin typeface="Calibri"/>
              </a:rPr>
              <a:t>Consultant Cardiologist &amp; Echocardiographer</a:t>
            </a:r>
          </a:p>
        </p:txBody>
      </p:sp>
      <p:sp>
        <p:nvSpPr>
          <p:cNvPr id="10" name="TextBox 9"/>
          <p:cNvSpPr txBox="1"/>
          <p:nvPr/>
        </p:nvSpPr>
        <p:spPr>
          <a:xfrm>
            <a:off x="731520" y="6217920"/>
            <a:ext cx="10058400" cy="365760"/>
          </a:xfrm>
          <a:prstGeom prst="rect">
            <a:avLst/>
          </a:prstGeom>
          <a:noFill/>
        </p:spPr>
        <p:txBody>
          <a:bodyPr wrap="square" anchor="t" lIns="45720" rIns="45720">
            <a:spAutoFit/>
          </a:bodyPr>
          <a:lstStyle/>
          <a:p>
            <a:pPr algn="l"/>
            <a:r>
              <a:rPr sz="1100" b="0">
                <a:solidFill>
                  <a:srgbClr val="8FA3BF"/>
                </a:solidFill>
                <a:latin typeface="Calibri"/>
              </a:rPr>
              <a:t>Aligned with ASE/EACVI recommendations and the 2025 ESC/EACTS valvular guidelines. Speaker notes included.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45720"/>
          </a:xfrm>
          <a:prstGeom prst="rect">
            <a:avLst/>
          </a:prstGeom>
          <a:solidFill>
            <a:srgbClr val="C9A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8229600" cy="274320"/>
          </a:xfrm>
          <a:prstGeom prst="rect">
            <a:avLst/>
          </a:prstGeom>
          <a:noFill/>
        </p:spPr>
        <p:txBody>
          <a:bodyPr wrap="square" anchor="t" lIns="45720" rIns="45720">
            <a:spAutoFit/>
          </a:bodyPr>
          <a:lstStyle/>
          <a:p>
            <a:pPr algn="l"/>
            <a:r>
              <a:rPr sz="1100" b="1">
                <a:solidFill>
                  <a:srgbClr val="C9A24B"/>
                </a:solidFill>
                <a:latin typeface="Calibri"/>
              </a:rPr>
              <a:t>SESSION PLAN</a:t>
            </a:r>
          </a:p>
        </p:txBody>
      </p:sp>
      <p:sp>
        <p:nvSpPr>
          <p:cNvPr id="5" name="TextBox 4"/>
          <p:cNvSpPr txBox="1"/>
          <p:nvPr/>
        </p:nvSpPr>
        <p:spPr>
          <a:xfrm>
            <a:off x="502920" y="347472"/>
            <a:ext cx="10972800" cy="640080"/>
          </a:xfrm>
          <a:prstGeom prst="rect">
            <a:avLst/>
          </a:prstGeom>
          <a:noFill/>
        </p:spPr>
        <p:txBody>
          <a:bodyPr wrap="square" anchor="t" lIns="45720" rIns="45720">
            <a:spAutoFit/>
          </a:bodyPr>
          <a:lstStyle/>
          <a:p>
            <a:pPr algn="l"/>
            <a:r>
              <a:rPr sz="2800" b="1">
                <a:solidFill>
                  <a:srgbClr val="FFFFFF"/>
                </a:solidFill>
                <a:latin typeface="Cambria"/>
              </a:rPr>
              <a:t>Learning objectives</a:t>
            </a:r>
          </a:p>
        </p:txBody>
      </p:sp>
      <p:sp>
        <p:nvSpPr>
          <p:cNvPr id="6" name="TextBox 5"/>
          <p:cNvSpPr txBox="1"/>
          <p:nvPr/>
        </p:nvSpPr>
        <p:spPr>
          <a:xfrm>
            <a:off x="502920" y="6473952"/>
            <a:ext cx="8229600" cy="274320"/>
          </a:xfrm>
          <a:prstGeom prst="rect">
            <a:avLst/>
          </a:prstGeom>
          <a:noFill/>
        </p:spPr>
        <p:txBody>
          <a:bodyPr wrap="square" anchor="t" lIns="45720" rIns="45720">
            <a:spAutoFit/>
          </a:bodyPr>
          <a:lstStyle/>
          <a:p>
            <a:pPr algn="l"/>
            <a:r>
              <a:rPr sz="900" b="0">
                <a:solidFill>
                  <a:srgbClr val="6B7785"/>
                </a:solidFill>
                <a:latin typeface="Calibri"/>
              </a:rPr>
              <a:t>ECHO ESSENTIALS  |  Dr. [Your Name]</a:t>
            </a:r>
          </a:p>
        </p:txBody>
      </p:sp>
      <p:sp>
        <p:nvSpPr>
          <p:cNvPr id="7" name="TextBox 6"/>
          <p:cNvSpPr txBox="1"/>
          <p:nvPr/>
        </p:nvSpPr>
        <p:spPr>
          <a:xfrm>
            <a:off x="10972800" y="6473952"/>
            <a:ext cx="731520" cy="274320"/>
          </a:xfrm>
          <a:prstGeom prst="rect">
            <a:avLst/>
          </a:prstGeom>
          <a:noFill/>
        </p:spPr>
        <p:txBody>
          <a:bodyPr wrap="square" anchor="t" lIns="45720" rIns="45720">
            <a:spAutoFit/>
          </a:bodyPr>
          <a:lstStyle/>
          <a:p>
            <a:pPr algn="r"/>
            <a:r>
              <a:rPr sz="1000" b="1">
                <a:solidFill>
                  <a:srgbClr val="B3202E"/>
                </a:solidFill>
                <a:latin typeface="Calibri"/>
              </a:rPr>
              <a:t>2</a:t>
            </a:r>
          </a:p>
        </p:txBody>
      </p:sp>
      <p:sp>
        <p:nvSpPr>
          <p:cNvPr id="8" name="TextBox 7"/>
          <p:cNvSpPr txBox="1"/>
          <p:nvPr/>
        </p:nvSpPr>
        <p:spPr>
          <a:xfrm>
            <a:off x="640080" y="1554480"/>
            <a:ext cx="6583680" cy="4389120"/>
          </a:xfrm>
          <a:prstGeom prst="rect">
            <a:avLst/>
          </a:prstGeom>
          <a:noFill/>
        </p:spPr>
        <p:txBody>
          <a:bodyPr wrap="square">
            <a:spAutoFit/>
          </a:bodyPr>
          <a:lstStyle/>
          <a:p>
            <a:pPr>
              <a:spcAft>
                <a:spcPts val="1000"/>
              </a:spcAft>
            </a:pPr>
            <a:r>
              <a:rPr sz="1400">
                <a:solidFill>
                  <a:srgbClr val="B3202E"/>
                </a:solidFill>
                <a:latin typeface="Calibri"/>
              </a:rPr>
              <a:t>■  </a:t>
            </a:r>
            <a:r>
              <a:rPr b="1" sz="2000">
                <a:solidFill>
                  <a:srgbClr val="0B1F3A"/>
                </a:solidFill>
                <a:latin typeface="Calibri"/>
              </a:rPr>
              <a:t>Quantify</a:t>
            </a:r>
            <a:r>
              <a:rPr sz="2000">
                <a:solidFill>
                  <a:srgbClr val="1D2733"/>
                </a:solidFill>
                <a:latin typeface="Calibri"/>
              </a:rPr>
              <a:t>  LV size, mass and EF the way the guidelines expect</a:t>
            </a:r>
          </a:p>
          <a:p>
            <a:pPr>
              <a:spcAft>
                <a:spcPts val="1000"/>
              </a:spcAft>
            </a:pPr>
            <a:r>
              <a:rPr sz="1400">
                <a:solidFill>
                  <a:srgbClr val="B3202E"/>
                </a:solidFill>
                <a:latin typeface="Calibri"/>
              </a:rPr>
              <a:t>■  </a:t>
            </a:r>
            <a:r>
              <a:rPr b="1" sz="2000">
                <a:solidFill>
                  <a:srgbClr val="0B1F3A"/>
                </a:solidFill>
                <a:latin typeface="Calibri"/>
              </a:rPr>
              <a:t>Estimate</a:t>
            </a:r>
            <a:r>
              <a:rPr sz="2000">
                <a:solidFill>
                  <a:srgbClr val="1D2733"/>
                </a:solidFill>
                <a:latin typeface="Calibri"/>
              </a:rPr>
              <a:t>  left atrial pressure and diagnose HFpEF (ASE 2025)</a:t>
            </a:r>
          </a:p>
          <a:p>
            <a:pPr>
              <a:spcAft>
                <a:spcPts val="1000"/>
              </a:spcAft>
            </a:pPr>
            <a:r>
              <a:rPr sz="1400">
                <a:solidFill>
                  <a:srgbClr val="B3202E"/>
                </a:solidFill>
                <a:latin typeface="Calibri"/>
              </a:rPr>
              <a:t>■  </a:t>
            </a:r>
            <a:r>
              <a:rPr b="1" sz="2000">
                <a:solidFill>
                  <a:srgbClr val="0B1F3A"/>
                </a:solidFill>
                <a:latin typeface="Calibri"/>
              </a:rPr>
              <a:t>Assess</a:t>
            </a:r>
            <a:r>
              <a:rPr sz="2000">
                <a:solidFill>
                  <a:srgbClr val="1D2733"/>
                </a:solidFill>
                <a:latin typeface="Calibri"/>
              </a:rPr>
              <a:t>  the RV and the probability of pulmonary hypertension</a:t>
            </a:r>
          </a:p>
          <a:p>
            <a:pPr>
              <a:spcAft>
                <a:spcPts val="1000"/>
              </a:spcAft>
            </a:pPr>
            <a:r>
              <a:rPr sz="1400">
                <a:solidFill>
                  <a:srgbClr val="B3202E"/>
                </a:solidFill>
                <a:latin typeface="Calibri"/>
              </a:rPr>
              <a:t>■  </a:t>
            </a:r>
            <a:r>
              <a:rPr b="1" sz="2000">
                <a:solidFill>
                  <a:srgbClr val="0B1F3A"/>
                </a:solidFill>
                <a:latin typeface="Calibri"/>
              </a:rPr>
              <a:t>Grade AS</a:t>
            </a:r>
            <a:r>
              <a:rPr sz="2000">
                <a:solidFill>
                  <a:srgbClr val="1D2733"/>
                </a:solidFill>
                <a:latin typeface="Calibri"/>
              </a:rPr>
              <a:t>  including very severe / critical AS and both low-flow types</a:t>
            </a:r>
          </a:p>
          <a:p>
            <a:pPr>
              <a:spcAft>
                <a:spcPts val="1000"/>
              </a:spcAft>
            </a:pPr>
            <a:r>
              <a:rPr sz="1400">
                <a:solidFill>
                  <a:srgbClr val="B3202E"/>
                </a:solidFill>
                <a:latin typeface="Calibri"/>
              </a:rPr>
              <a:t>■  </a:t>
            </a:r>
            <a:r>
              <a:rPr b="1" sz="2000">
                <a:solidFill>
                  <a:srgbClr val="0B1F3A"/>
                </a:solidFill>
                <a:latin typeface="Calibri"/>
              </a:rPr>
              <a:t>Integrate</a:t>
            </a:r>
            <a:r>
              <a:rPr sz="2000">
                <a:solidFill>
                  <a:srgbClr val="1D2733"/>
                </a:solidFill>
                <a:latin typeface="Calibri"/>
              </a:rPr>
              <a:t>  AR, MS, MR and TR using multiple parameters</a:t>
            </a:r>
          </a:p>
          <a:p>
            <a:pPr>
              <a:spcAft>
                <a:spcPts val="1000"/>
              </a:spcAft>
            </a:pPr>
            <a:r>
              <a:rPr sz="1400">
                <a:solidFill>
                  <a:srgbClr val="B3202E"/>
                </a:solidFill>
                <a:latin typeface="Calibri"/>
              </a:rPr>
              <a:t>■  </a:t>
            </a:r>
            <a:r>
              <a:rPr b="1" sz="2000">
                <a:solidFill>
                  <a:srgbClr val="0B1F3A"/>
                </a:solidFill>
                <a:latin typeface="Calibri"/>
              </a:rPr>
              <a:t>Report</a:t>
            </a:r>
            <a:r>
              <a:rPr sz="2000">
                <a:solidFill>
                  <a:srgbClr val="1D2733"/>
                </a:solidFill>
                <a:latin typeface="Calibri"/>
              </a:rPr>
              <a:t>  with a clear conclusion that drives the decision</a:t>
            </a:r>
          </a:p>
        </p:txBody>
      </p:sp>
      <p:sp>
        <p:nvSpPr>
          <p:cNvPr id="9" name="Rectangle 8"/>
          <p:cNvSpPr/>
          <p:nvPr/>
        </p:nvSpPr>
        <p:spPr>
          <a:xfrm>
            <a:off x="7680960" y="1645920"/>
            <a:ext cx="4023360" cy="237744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680960" y="1645920"/>
            <a:ext cx="82296" cy="2377440"/>
          </a:xfrm>
          <a:prstGeom prst="rect">
            <a:avLst/>
          </a:prstGeom>
          <a:solidFill>
            <a:srgbClr val="C9A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09560" y="1719072"/>
            <a:ext cx="3657600" cy="274320"/>
          </a:xfrm>
          <a:prstGeom prst="rect">
            <a:avLst/>
          </a:prstGeom>
          <a:noFill/>
        </p:spPr>
        <p:txBody>
          <a:bodyPr wrap="square" anchor="t" lIns="45720" rIns="45720">
            <a:spAutoFit/>
          </a:bodyPr>
          <a:lstStyle/>
          <a:p>
            <a:pPr algn="l"/>
            <a:r>
              <a:rPr sz="1100" b="1">
                <a:solidFill>
                  <a:srgbClr val="C9A24B"/>
                </a:solidFill>
                <a:latin typeface="Calibri"/>
              </a:rPr>
              <a:t>TODAY'S RULE</a:t>
            </a:r>
          </a:p>
        </p:txBody>
      </p:sp>
      <p:sp>
        <p:nvSpPr>
          <p:cNvPr id="12" name="TextBox 11"/>
          <p:cNvSpPr txBox="1"/>
          <p:nvPr/>
        </p:nvSpPr>
        <p:spPr>
          <a:xfrm>
            <a:off x="7909560" y="2011680"/>
            <a:ext cx="3657600" cy="1965960"/>
          </a:xfrm>
          <a:prstGeom prst="rect">
            <a:avLst/>
          </a:prstGeom>
          <a:noFill/>
        </p:spPr>
        <p:txBody>
          <a:bodyPr wrap="square" anchor="t" lIns="45720" rIns="45720">
            <a:spAutoFit/>
          </a:bodyPr>
          <a:lstStyle/>
          <a:p>
            <a:pPr algn="l"/>
            <a:r>
              <a:rPr sz="1800" b="0">
                <a:solidFill>
                  <a:srgbClr val="1D2733"/>
                </a:solidFill>
                <a:latin typeface="Calibri"/>
              </a:rPr>
              <a:t>Gradient, area, flow, EF.
Four numbers, one story. If the story does not fit, a measurement is wrong.</a:t>
            </a:r>
          </a:p>
        </p:txBody>
      </p:sp>
      <p:sp>
        <p:nvSpPr>
          <p:cNvPr id="13" name="Rectangle 12"/>
          <p:cNvSpPr/>
          <p:nvPr/>
        </p:nvSpPr>
        <p:spPr>
          <a:xfrm>
            <a:off x="7680960" y="4297680"/>
            <a:ext cx="40233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680960" y="4297680"/>
            <a:ext cx="82296" cy="1645920"/>
          </a:xfrm>
          <a:prstGeom prst="rect">
            <a:avLst/>
          </a:prstGeom>
          <a:solidFill>
            <a:srgbClr val="1331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9560" y="4370832"/>
            <a:ext cx="3657600" cy="274320"/>
          </a:xfrm>
          <a:prstGeom prst="rect">
            <a:avLst/>
          </a:prstGeom>
          <a:noFill/>
        </p:spPr>
        <p:txBody>
          <a:bodyPr wrap="square" anchor="t" lIns="45720" rIns="45720">
            <a:spAutoFit/>
          </a:bodyPr>
          <a:lstStyle/>
          <a:p>
            <a:pPr algn="l"/>
            <a:r>
              <a:rPr sz="1100" b="1">
                <a:solidFill>
                  <a:srgbClr val="13315C"/>
                </a:solidFill>
                <a:latin typeface="Calibri"/>
              </a:rPr>
              <a:t>SOURCES</a:t>
            </a:r>
          </a:p>
        </p:txBody>
      </p:sp>
      <p:sp>
        <p:nvSpPr>
          <p:cNvPr id="16" name="TextBox 15"/>
          <p:cNvSpPr txBox="1"/>
          <p:nvPr/>
        </p:nvSpPr>
        <p:spPr>
          <a:xfrm>
            <a:off x="7909560" y="4663440"/>
            <a:ext cx="3657600" cy="1234440"/>
          </a:xfrm>
          <a:prstGeom prst="rect">
            <a:avLst/>
          </a:prstGeom>
          <a:noFill/>
        </p:spPr>
        <p:txBody>
          <a:bodyPr wrap="square" anchor="t" lIns="45720" rIns="45720">
            <a:spAutoFit/>
          </a:bodyPr>
          <a:lstStyle/>
          <a:p>
            <a:pPr algn="l"/>
            <a:r>
              <a:rPr sz="1400" b="0">
                <a:solidFill>
                  <a:srgbClr val="1D2733"/>
                </a:solidFill>
                <a:latin typeface="Calibri"/>
              </a:rPr>
              <a:t>ASE/EACVI 2015, 2017, 2025
ESC/EACTS 2025 VHD
ACC/AHA 2020 where different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45720"/>
          </a:xfrm>
          <a:prstGeom prst="rect">
            <a:avLst/>
          </a:prstGeom>
          <a:solidFill>
            <a:srgbClr val="C9A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8229600" cy="274320"/>
          </a:xfrm>
          <a:prstGeom prst="rect">
            <a:avLst/>
          </a:prstGeom>
          <a:noFill/>
        </p:spPr>
        <p:txBody>
          <a:bodyPr wrap="square" anchor="t" lIns="45720" rIns="45720">
            <a:spAutoFit/>
          </a:bodyPr>
          <a:lstStyle/>
          <a:p>
            <a:pPr algn="l"/>
            <a:r>
              <a:rPr sz="1100" b="1">
                <a:solidFill>
                  <a:srgbClr val="C9A24B"/>
                </a:solidFill>
                <a:latin typeface="Calibri"/>
              </a:rPr>
              <a:t>CHAMBER QUANTIFICATION</a:t>
            </a:r>
          </a:p>
        </p:txBody>
      </p:sp>
      <p:sp>
        <p:nvSpPr>
          <p:cNvPr id="5" name="TextBox 4"/>
          <p:cNvSpPr txBox="1"/>
          <p:nvPr/>
        </p:nvSpPr>
        <p:spPr>
          <a:xfrm>
            <a:off x="502920" y="347472"/>
            <a:ext cx="10972800" cy="640080"/>
          </a:xfrm>
          <a:prstGeom prst="rect">
            <a:avLst/>
          </a:prstGeom>
          <a:noFill/>
        </p:spPr>
        <p:txBody>
          <a:bodyPr wrap="square" anchor="t" lIns="45720" rIns="45720">
            <a:spAutoFit/>
          </a:bodyPr>
          <a:lstStyle/>
          <a:p>
            <a:pPr algn="l"/>
            <a:r>
              <a:rPr sz="2800" b="1">
                <a:solidFill>
                  <a:srgbClr val="FFFFFF"/>
                </a:solidFill>
                <a:latin typeface="Cambria"/>
              </a:rPr>
              <a:t>LV size and systolic function</a:t>
            </a:r>
          </a:p>
        </p:txBody>
      </p:sp>
      <p:sp>
        <p:nvSpPr>
          <p:cNvPr id="6" name="TextBox 5"/>
          <p:cNvSpPr txBox="1"/>
          <p:nvPr/>
        </p:nvSpPr>
        <p:spPr>
          <a:xfrm>
            <a:off x="502920" y="6473952"/>
            <a:ext cx="8229600" cy="274320"/>
          </a:xfrm>
          <a:prstGeom prst="rect">
            <a:avLst/>
          </a:prstGeom>
          <a:noFill/>
        </p:spPr>
        <p:txBody>
          <a:bodyPr wrap="square" anchor="t" lIns="45720" rIns="45720">
            <a:spAutoFit/>
          </a:bodyPr>
          <a:lstStyle/>
          <a:p>
            <a:pPr algn="l"/>
            <a:r>
              <a:rPr sz="900" b="0">
                <a:solidFill>
                  <a:srgbClr val="6B7785"/>
                </a:solidFill>
                <a:latin typeface="Calibri"/>
              </a:rPr>
              <a:t>ECHO ESSENTIALS  |  Dr. [Your Name]</a:t>
            </a:r>
          </a:p>
        </p:txBody>
      </p:sp>
      <p:sp>
        <p:nvSpPr>
          <p:cNvPr id="7" name="TextBox 6"/>
          <p:cNvSpPr txBox="1"/>
          <p:nvPr/>
        </p:nvSpPr>
        <p:spPr>
          <a:xfrm>
            <a:off x="10972800" y="6473952"/>
            <a:ext cx="731520" cy="274320"/>
          </a:xfrm>
          <a:prstGeom prst="rect">
            <a:avLst/>
          </a:prstGeom>
          <a:noFill/>
        </p:spPr>
        <p:txBody>
          <a:bodyPr wrap="square" anchor="t" lIns="45720" rIns="45720">
            <a:spAutoFit/>
          </a:bodyPr>
          <a:lstStyle/>
          <a:p>
            <a:pPr algn="r"/>
            <a:r>
              <a:rPr sz="1000" b="1">
                <a:solidFill>
                  <a:srgbClr val="B3202E"/>
                </a:solidFill>
                <a:latin typeface="Calibri"/>
              </a:rPr>
              <a:t>3</a:t>
            </a:r>
          </a:p>
        </p:txBody>
      </p:sp>
      <p:graphicFrame>
        <p:nvGraphicFramePr>
          <p:cNvPr id="8" name="Table 7"/>
          <p:cNvGraphicFramePr>
            <a:graphicFrameLocks noGrp="1"/>
          </p:cNvGraphicFramePr>
          <p:nvPr/>
        </p:nvGraphicFramePr>
        <p:xfrm>
          <a:off x="640080" y="1417320"/>
          <a:ext cx="6949440" cy="3200400"/>
        </p:xfrm>
        <a:graphic>
          <a:graphicData uri="http://schemas.openxmlformats.org/drawingml/2006/table">
            <a:tbl>
              <a:tblPr firstRow="1" bandRow="1">
                <a:tableStyleId>{5C22544A-7EE6-4342-B048-85BDC9FD1C3A}</a:tableStyleId>
              </a:tblPr>
              <a:tblGrid>
                <a:gridCol w="2743200"/>
                <a:gridCol w="2103120"/>
                <a:gridCol w="2103120"/>
              </a:tblGrid>
              <a:tr h="457200">
                <a:tc>
                  <a:txBody>
                    <a:bodyPr/>
                    <a:lstStyle/>
                    <a:p>
                      <a:r>
                        <a:rPr sz="1500" b="1">
                          <a:solidFill>
                            <a:srgbClr val="FFFFFF"/>
                          </a:solidFill>
                          <a:latin typeface="Calibri"/>
                        </a:rPr>
                        <a:t>Parameter</a:t>
                      </a:r>
                    </a:p>
                  </a:txBody>
                  <a:tcPr anchor="ctr">
                    <a:solidFill>
                      <a:srgbClr val="0B1F3A"/>
                    </a:solidFill>
                  </a:tcPr>
                </a:tc>
                <a:tc>
                  <a:txBody>
                    <a:bodyPr/>
                    <a:lstStyle/>
                    <a:p>
                      <a:r>
                        <a:rPr sz="1500" b="1">
                          <a:solidFill>
                            <a:srgbClr val="FFFFFF"/>
                          </a:solidFill>
                          <a:latin typeface="Calibri"/>
                        </a:rPr>
                        <a:t>Men</a:t>
                      </a:r>
                    </a:p>
                  </a:txBody>
                  <a:tcPr anchor="ctr">
                    <a:solidFill>
                      <a:srgbClr val="0B1F3A"/>
                    </a:solidFill>
                  </a:tcPr>
                </a:tc>
                <a:tc>
                  <a:txBody>
                    <a:bodyPr/>
                    <a:lstStyle/>
                    <a:p>
                      <a:r>
                        <a:rPr sz="1500" b="1">
                          <a:solidFill>
                            <a:srgbClr val="FFFFFF"/>
                          </a:solidFill>
                          <a:latin typeface="Calibri"/>
                        </a:rPr>
                        <a:t>Women</a:t>
                      </a:r>
                    </a:p>
                  </a:txBody>
                  <a:tcPr anchor="ctr">
                    <a:solidFill>
                      <a:srgbClr val="0B1F3A"/>
                    </a:solidFill>
                  </a:tcPr>
                </a:tc>
              </a:tr>
              <a:tr h="457200">
                <a:tc>
                  <a:txBody>
                    <a:bodyPr/>
                    <a:lstStyle/>
                    <a:p>
                      <a:r>
                        <a:rPr sz="1500" b="1">
                          <a:solidFill>
                            <a:srgbClr val="1D2733"/>
                          </a:solidFill>
                          <a:latin typeface="Calibri"/>
                        </a:rPr>
                        <a:t>LVEF</a:t>
                      </a:r>
                    </a:p>
                  </a:txBody>
                  <a:tcPr anchor="ctr">
                    <a:solidFill>
                      <a:srgbClr val="FFFFFF"/>
                    </a:solidFill>
                  </a:tcPr>
                </a:tc>
                <a:tc>
                  <a:txBody>
                    <a:bodyPr/>
                    <a:lstStyle/>
                    <a:p>
                      <a:r>
                        <a:rPr sz="1500" b="0">
                          <a:solidFill>
                            <a:srgbClr val="1D2733"/>
                          </a:solidFill>
                          <a:latin typeface="Calibri"/>
                        </a:rPr>
                        <a:t>52 - 72%</a:t>
                      </a:r>
                    </a:p>
                  </a:txBody>
                  <a:tcPr anchor="ctr">
                    <a:solidFill>
                      <a:srgbClr val="FFFFFF"/>
                    </a:solidFill>
                  </a:tcPr>
                </a:tc>
                <a:tc>
                  <a:txBody>
                    <a:bodyPr/>
                    <a:lstStyle/>
                    <a:p>
                      <a:r>
                        <a:rPr sz="1500" b="0">
                          <a:solidFill>
                            <a:srgbClr val="1D2733"/>
                          </a:solidFill>
                          <a:latin typeface="Calibri"/>
                        </a:rPr>
                        <a:t>54 - 74%</a:t>
                      </a:r>
                    </a:p>
                  </a:txBody>
                  <a:tcPr anchor="ctr">
                    <a:solidFill>
                      <a:srgbClr val="FFFFFF"/>
                    </a:solidFill>
                  </a:tcPr>
                </a:tc>
              </a:tr>
              <a:tr h="457200">
                <a:tc>
                  <a:txBody>
                    <a:bodyPr/>
                    <a:lstStyle/>
                    <a:p>
                      <a:r>
                        <a:rPr sz="1500" b="1">
                          <a:solidFill>
                            <a:srgbClr val="1D2733"/>
                          </a:solidFill>
                          <a:latin typeface="Calibri"/>
                        </a:rPr>
                        <a:t>LVEDD</a:t>
                      </a:r>
                    </a:p>
                  </a:txBody>
                  <a:tcPr anchor="ctr">
                    <a:solidFill>
                      <a:srgbClr val="EEF3F9"/>
                    </a:solidFill>
                  </a:tcPr>
                </a:tc>
                <a:tc>
                  <a:txBody>
                    <a:bodyPr/>
                    <a:lstStyle/>
                    <a:p>
                      <a:r>
                        <a:rPr sz="1500" b="0">
                          <a:solidFill>
                            <a:srgbClr val="1D2733"/>
                          </a:solidFill>
                          <a:latin typeface="Calibri"/>
                        </a:rPr>
                        <a:t>42 - 58 mm</a:t>
                      </a:r>
                    </a:p>
                  </a:txBody>
                  <a:tcPr anchor="ctr">
                    <a:solidFill>
                      <a:srgbClr val="EEF3F9"/>
                    </a:solidFill>
                  </a:tcPr>
                </a:tc>
                <a:tc>
                  <a:txBody>
                    <a:bodyPr/>
                    <a:lstStyle/>
                    <a:p>
                      <a:r>
                        <a:rPr sz="1500" b="0">
                          <a:solidFill>
                            <a:srgbClr val="1D2733"/>
                          </a:solidFill>
                          <a:latin typeface="Calibri"/>
                        </a:rPr>
                        <a:t>38 - 52 mm</a:t>
                      </a:r>
                    </a:p>
                  </a:txBody>
                  <a:tcPr anchor="ctr">
                    <a:solidFill>
                      <a:srgbClr val="EEF3F9"/>
                    </a:solidFill>
                  </a:tcPr>
                </a:tc>
              </a:tr>
              <a:tr h="457200">
                <a:tc>
                  <a:txBody>
                    <a:bodyPr/>
                    <a:lstStyle/>
                    <a:p>
                      <a:r>
                        <a:rPr sz="1500" b="1">
                          <a:solidFill>
                            <a:srgbClr val="1D2733"/>
                          </a:solidFill>
                          <a:latin typeface="Calibri"/>
                        </a:rPr>
                        <a:t>LVESD</a:t>
                      </a:r>
                    </a:p>
                  </a:txBody>
                  <a:tcPr anchor="ctr">
                    <a:solidFill>
                      <a:srgbClr val="FFFFFF"/>
                    </a:solidFill>
                  </a:tcPr>
                </a:tc>
                <a:tc>
                  <a:txBody>
                    <a:bodyPr/>
                    <a:lstStyle/>
                    <a:p>
                      <a:r>
                        <a:rPr sz="1500" b="0">
                          <a:solidFill>
                            <a:srgbClr val="1D2733"/>
                          </a:solidFill>
                          <a:latin typeface="Calibri"/>
                        </a:rPr>
                        <a:t>25 - 40 mm</a:t>
                      </a:r>
                    </a:p>
                  </a:txBody>
                  <a:tcPr anchor="ctr">
                    <a:solidFill>
                      <a:srgbClr val="FFFFFF"/>
                    </a:solidFill>
                  </a:tcPr>
                </a:tc>
                <a:tc>
                  <a:txBody>
                    <a:bodyPr/>
                    <a:lstStyle/>
                    <a:p>
                      <a:r>
                        <a:rPr sz="1500" b="0">
                          <a:solidFill>
                            <a:srgbClr val="1D2733"/>
                          </a:solidFill>
                          <a:latin typeface="Calibri"/>
                        </a:rPr>
                        <a:t>22 - 35 mm</a:t>
                      </a:r>
                    </a:p>
                  </a:txBody>
                  <a:tcPr anchor="ctr">
                    <a:solidFill>
                      <a:srgbClr val="FFFFFF"/>
                    </a:solidFill>
                  </a:tcPr>
                </a:tc>
              </a:tr>
              <a:tr h="457200">
                <a:tc>
                  <a:txBody>
                    <a:bodyPr/>
                    <a:lstStyle/>
                    <a:p>
                      <a:r>
                        <a:rPr sz="1500" b="1">
                          <a:solidFill>
                            <a:srgbClr val="1D2733"/>
                          </a:solidFill>
                          <a:latin typeface="Calibri"/>
                        </a:rPr>
                        <a:t>LV mass index (2D)</a:t>
                      </a:r>
                    </a:p>
                  </a:txBody>
                  <a:tcPr anchor="ctr">
                    <a:solidFill>
                      <a:srgbClr val="EEF3F9"/>
                    </a:solidFill>
                  </a:tcPr>
                </a:tc>
                <a:tc>
                  <a:txBody>
                    <a:bodyPr/>
                    <a:lstStyle/>
                    <a:p>
                      <a:r>
                        <a:rPr sz="1500" b="0">
                          <a:solidFill>
                            <a:srgbClr val="1D2733"/>
                          </a:solidFill>
                          <a:latin typeface="Calibri"/>
                        </a:rPr>
                        <a:t>50 - 102 g/m²</a:t>
                      </a:r>
                    </a:p>
                  </a:txBody>
                  <a:tcPr anchor="ctr">
                    <a:solidFill>
                      <a:srgbClr val="EEF3F9"/>
                    </a:solidFill>
                  </a:tcPr>
                </a:tc>
                <a:tc>
                  <a:txBody>
                    <a:bodyPr/>
                    <a:lstStyle/>
                    <a:p>
                      <a:r>
                        <a:rPr sz="1500" b="0">
                          <a:solidFill>
                            <a:srgbClr val="1D2733"/>
                          </a:solidFill>
                          <a:latin typeface="Calibri"/>
                        </a:rPr>
                        <a:t>44 - 88 g/m²</a:t>
                      </a:r>
                    </a:p>
                  </a:txBody>
                  <a:tcPr anchor="ctr">
                    <a:solidFill>
                      <a:srgbClr val="EEF3F9"/>
                    </a:solidFill>
                  </a:tcPr>
                </a:tc>
              </a:tr>
              <a:tr h="457200">
                <a:tc>
                  <a:txBody>
                    <a:bodyPr/>
                    <a:lstStyle/>
                    <a:p>
                      <a:r>
                        <a:rPr sz="1500" b="1">
                          <a:solidFill>
                            <a:srgbClr val="1D2733"/>
                          </a:solidFill>
                          <a:latin typeface="Calibri"/>
                        </a:rPr>
                        <a:t>RWT</a:t>
                      </a:r>
                    </a:p>
                  </a:txBody>
                  <a:tcPr anchor="ctr">
                    <a:solidFill>
                      <a:srgbClr val="FFFFFF"/>
                    </a:solidFill>
                  </a:tcPr>
                </a:tc>
                <a:tc>
                  <a:txBody>
                    <a:bodyPr/>
                    <a:lstStyle/>
                    <a:p>
                      <a:r>
                        <a:rPr sz="1500" b="0">
                          <a:solidFill>
                            <a:srgbClr val="1D2733"/>
                          </a:solidFill>
                          <a:latin typeface="Calibri"/>
                        </a:rPr>
                        <a:t>≤ 0.42</a:t>
                      </a:r>
                    </a:p>
                  </a:txBody>
                  <a:tcPr anchor="ctr">
                    <a:solidFill>
                      <a:srgbClr val="FFFFFF"/>
                    </a:solidFill>
                  </a:tcPr>
                </a:tc>
                <a:tc>
                  <a:txBody>
                    <a:bodyPr/>
                    <a:lstStyle/>
                    <a:p>
                      <a:r>
                        <a:rPr sz="1500" b="0">
                          <a:solidFill>
                            <a:srgbClr val="1D2733"/>
                          </a:solidFill>
                          <a:latin typeface="Calibri"/>
                        </a:rPr>
                        <a:t>≤ 0.42</a:t>
                      </a:r>
                    </a:p>
                  </a:txBody>
                  <a:tcPr anchor="ctr">
                    <a:solidFill>
                      <a:srgbClr val="FFFFFF"/>
                    </a:solidFill>
                  </a:tcPr>
                </a:tc>
              </a:tr>
              <a:tr h="457200">
                <a:tc>
                  <a:txBody>
                    <a:bodyPr/>
                    <a:lstStyle/>
                    <a:p>
                      <a:r>
                        <a:rPr sz="1500" b="1">
                          <a:solidFill>
                            <a:srgbClr val="1D2733"/>
                          </a:solidFill>
                          <a:latin typeface="Calibri"/>
                        </a:rPr>
                        <a:t>LA volume index</a:t>
                      </a:r>
                    </a:p>
                  </a:txBody>
                  <a:tcPr anchor="ctr">
                    <a:solidFill>
                      <a:srgbClr val="EEF3F9"/>
                    </a:solidFill>
                  </a:tcPr>
                </a:tc>
                <a:tc>
                  <a:txBody>
                    <a:bodyPr/>
                    <a:lstStyle/>
                    <a:p>
                      <a:r>
                        <a:rPr sz="1500" b="0">
                          <a:solidFill>
                            <a:srgbClr val="1D2733"/>
                          </a:solidFill>
                          <a:latin typeface="Calibri"/>
                        </a:rPr>
                        <a:t>16 - 34 mL/m²</a:t>
                      </a:r>
                    </a:p>
                  </a:txBody>
                  <a:tcPr anchor="ctr">
                    <a:solidFill>
                      <a:srgbClr val="EEF3F9"/>
                    </a:solidFill>
                  </a:tcPr>
                </a:tc>
                <a:tc>
                  <a:txBody>
                    <a:bodyPr/>
                    <a:lstStyle/>
                    <a:p>
                      <a:r>
                        <a:rPr sz="1500" b="0">
                          <a:solidFill>
                            <a:srgbClr val="1D2733"/>
                          </a:solidFill>
                          <a:latin typeface="Calibri"/>
                        </a:rPr>
                        <a:t>16 - 34 mL/m²</a:t>
                      </a:r>
                    </a:p>
                  </a:txBody>
                  <a:tcPr anchor="ctr">
                    <a:solidFill>
                      <a:srgbClr val="EEF3F9"/>
                    </a:solidFill>
                  </a:tcPr>
                </a:tc>
              </a:tr>
            </a:tbl>
          </a:graphicData>
        </a:graphic>
      </p:graphicFrame>
      <p:sp>
        <p:nvSpPr>
          <p:cNvPr id="9" name="Rectangle 8"/>
          <p:cNvSpPr/>
          <p:nvPr/>
        </p:nvSpPr>
        <p:spPr>
          <a:xfrm>
            <a:off x="7955279" y="1417320"/>
            <a:ext cx="3749039" cy="182880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955279" y="1417320"/>
            <a:ext cx="82296" cy="1828800"/>
          </a:xfrm>
          <a:prstGeom prst="rect">
            <a:avLst/>
          </a:prstGeom>
          <a:solidFill>
            <a:srgbClr val="1331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79" y="1490472"/>
            <a:ext cx="3383279" cy="274320"/>
          </a:xfrm>
          <a:prstGeom prst="rect">
            <a:avLst/>
          </a:prstGeom>
          <a:noFill/>
        </p:spPr>
        <p:txBody>
          <a:bodyPr wrap="square" anchor="t" lIns="45720" rIns="45720">
            <a:spAutoFit/>
          </a:bodyPr>
          <a:lstStyle/>
          <a:p>
            <a:pPr algn="l"/>
            <a:r>
              <a:rPr sz="1100" b="1">
                <a:solidFill>
                  <a:srgbClr val="13315C"/>
                </a:solidFill>
                <a:latin typeface="Calibri"/>
              </a:rPr>
              <a:t>EF CATEGORIES</a:t>
            </a:r>
          </a:p>
        </p:txBody>
      </p:sp>
      <p:sp>
        <p:nvSpPr>
          <p:cNvPr id="12" name="TextBox 11"/>
          <p:cNvSpPr txBox="1"/>
          <p:nvPr/>
        </p:nvSpPr>
        <p:spPr>
          <a:xfrm>
            <a:off x="8183879" y="1783080"/>
            <a:ext cx="3383279" cy="1417320"/>
          </a:xfrm>
          <a:prstGeom prst="rect">
            <a:avLst/>
          </a:prstGeom>
          <a:noFill/>
        </p:spPr>
        <p:txBody>
          <a:bodyPr wrap="square" anchor="t" lIns="45720" rIns="45720">
            <a:spAutoFit/>
          </a:bodyPr>
          <a:lstStyle/>
          <a:p>
            <a:pPr algn="l"/>
            <a:r>
              <a:rPr sz="1500" b="0">
                <a:solidFill>
                  <a:srgbClr val="1D2733"/>
                </a:solidFill>
                <a:latin typeface="Calibri"/>
              </a:rPr>
              <a:t>Mildly reduced 41-51 (M) / 41-53 (F)
Moderate 30-40
Severe &lt; 30</a:t>
            </a:r>
          </a:p>
        </p:txBody>
      </p:sp>
      <p:sp>
        <p:nvSpPr>
          <p:cNvPr id="13" name="Rectangle 12"/>
          <p:cNvSpPr/>
          <p:nvPr/>
        </p:nvSpPr>
        <p:spPr>
          <a:xfrm>
            <a:off x="7955279" y="3474720"/>
            <a:ext cx="3749039" cy="21945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955279" y="3474720"/>
            <a:ext cx="82296" cy="2194560"/>
          </a:xfrm>
          <a:prstGeom prst="rect">
            <a:avLst/>
          </a:prstGeom>
          <a:solidFill>
            <a:srgbClr val="1F7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79" y="3547872"/>
            <a:ext cx="3383279" cy="274320"/>
          </a:xfrm>
          <a:prstGeom prst="rect">
            <a:avLst/>
          </a:prstGeom>
          <a:noFill/>
        </p:spPr>
        <p:txBody>
          <a:bodyPr wrap="square" anchor="t" lIns="45720" rIns="45720">
            <a:spAutoFit/>
          </a:bodyPr>
          <a:lstStyle/>
          <a:p>
            <a:pPr algn="l"/>
            <a:r>
              <a:rPr sz="1100" b="1">
                <a:solidFill>
                  <a:srgbClr val="1F7A5A"/>
                </a:solidFill>
                <a:latin typeface="Calibri"/>
              </a:rPr>
              <a:t>PEARL</a:t>
            </a:r>
          </a:p>
        </p:txBody>
      </p:sp>
      <p:sp>
        <p:nvSpPr>
          <p:cNvPr id="16" name="TextBox 15"/>
          <p:cNvSpPr txBox="1"/>
          <p:nvPr/>
        </p:nvSpPr>
        <p:spPr>
          <a:xfrm>
            <a:off x="8183879" y="3840480"/>
            <a:ext cx="3383279" cy="1783080"/>
          </a:xfrm>
          <a:prstGeom prst="rect">
            <a:avLst/>
          </a:prstGeom>
          <a:noFill/>
        </p:spPr>
        <p:txBody>
          <a:bodyPr wrap="square" anchor="t" lIns="45720" rIns="45720">
            <a:spAutoFit/>
          </a:bodyPr>
          <a:lstStyle/>
          <a:p>
            <a:pPr algn="l"/>
            <a:r>
              <a:rPr sz="1500" b="0">
                <a:solidFill>
                  <a:srgbClr val="1D2733"/>
                </a:solidFill>
                <a:latin typeface="Calibri"/>
              </a:rPr>
              <a:t>GLS abnormal when less negative than about -16%. A relative fall of &gt; 15% from baseline signals cardiotoxicity. Always name the vendor.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45720"/>
          </a:xfrm>
          <a:prstGeom prst="rect">
            <a:avLst/>
          </a:prstGeom>
          <a:solidFill>
            <a:srgbClr val="C9A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8229600" cy="274320"/>
          </a:xfrm>
          <a:prstGeom prst="rect">
            <a:avLst/>
          </a:prstGeom>
          <a:noFill/>
        </p:spPr>
        <p:txBody>
          <a:bodyPr wrap="square" anchor="t" lIns="45720" rIns="45720">
            <a:spAutoFit/>
          </a:bodyPr>
          <a:lstStyle/>
          <a:p>
            <a:pPr algn="l"/>
            <a:r>
              <a:rPr sz="1100" b="1">
                <a:solidFill>
                  <a:srgbClr val="C9A24B"/>
                </a:solidFill>
                <a:latin typeface="Calibri"/>
              </a:rPr>
              <a:t>DIASTOLOGY</a:t>
            </a:r>
          </a:p>
        </p:txBody>
      </p:sp>
      <p:sp>
        <p:nvSpPr>
          <p:cNvPr id="5" name="TextBox 4"/>
          <p:cNvSpPr txBox="1"/>
          <p:nvPr/>
        </p:nvSpPr>
        <p:spPr>
          <a:xfrm>
            <a:off x="502920" y="347472"/>
            <a:ext cx="10972800" cy="640080"/>
          </a:xfrm>
          <a:prstGeom prst="rect">
            <a:avLst/>
          </a:prstGeom>
          <a:noFill/>
        </p:spPr>
        <p:txBody>
          <a:bodyPr wrap="square" anchor="t" lIns="45720" rIns="45720">
            <a:spAutoFit/>
          </a:bodyPr>
          <a:lstStyle/>
          <a:p>
            <a:pPr algn="l"/>
            <a:r>
              <a:rPr sz="2800" b="1">
                <a:solidFill>
                  <a:srgbClr val="FFFFFF"/>
                </a:solidFill>
                <a:latin typeface="Cambria"/>
              </a:rPr>
              <a:t>Diastolic function and HFpEF (ASE 2025)</a:t>
            </a:r>
          </a:p>
        </p:txBody>
      </p:sp>
      <p:sp>
        <p:nvSpPr>
          <p:cNvPr id="6" name="TextBox 5"/>
          <p:cNvSpPr txBox="1"/>
          <p:nvPr/>
        </p:nvSpPr>
        <p:spPr>
          <a:xfrm>
            <a:off x="502920" y="6473952"/>
            <a:ext cx="8229600" cy="274320"/>
          </a:xfrm>
          <a:prstGeom prst="rect">
            <a:avLst/>
          </a:prstGeom>
          <a:noFill/>
        </p:spPr>
        <p:txBody>
          <a:bodyPr wrap="square" anchor="t" lIns="45720" rIns="45720">
            <a:spAutoFit/>
          </a:bodyPr>
          <a:lstStyle/>
          <a:p>
            <a:pPr algn="l"/>
            <a:r>
              <a:rPr sz="900" b="0">
                <a:solidFill>
                  <a:srgbClr val="6B7785"/>
                </a:solidFill>
                <a:latin typeface="Calibri"/>
              </a:rPr>
              <a:t>ECHO ESSENTIALS  |  Dr. [Your Name]</a:t>
            </a:r>
          </a:p>
        </p:txBody>
      </p:sp>
      <p:sp>
        <p:nvSpPr>
          <p:cNvPr id="7" name="TextBox 6"/>
          <p:cNvSpPr txBox="1"/>
          <p:nvPr/>
        </p:nvSpPr>
        <p:spPr>
          <a:xfrm>
            <a:off x="10972800" y="6473952"/>
            <a:ext cx="731520" cy="274320"/>
          </a:xfrm>
          <a:prstGeom prst="rect">
            <a:avLst/>
          </a:prstGeom>
          <a:noFill/>
        </p:spPr>
        <p:txBody>
          <a:bodyPr wrap="square" anchor="t" lIns="45720" rIns="45720">
            <a:spAutoFit/>
          </a:bodyPr>
          <a:lstStyle/>
          <a:p>
            <a:pPr algn="r"/>
            <a:r>
              <a:rPr sz="1000" b="1">
                <a:solidFill>
                  <a:srgbClr val="B3202E"/>
                </a:solidFill>
                <a:latin typeface="Calibri"/>
              </a:rPr>
              <a:t>4</a:t>
            </a:r>
          </a:p>
        </p:txBody>
      </p:sp>
      <p:graphicFrame>
        <p:nvGraphicFramePr>
          <p:cNvPr id="8" name="Table 7"/>
          <p:cNvGraphicFramePr>
            <a:graphicFrameLocks noGrp="1"/>
          </p:cNvGraphicFramePr>
          <p:nvPr/>
        </p:nvGraphicFramePr>
        <p:xfrm>
          <a:off x="640080" y="1417320"/>
          <a:ext cx="6766560" cy="3200400"/>
        </p:xfrm>
        <a:graphic>
          <a:graphicData uri="http://schemas.openxmlformats.org/drawingml/2006/table">
            <a:tbl>
              <a:tblPr firstRow="1" bandRow="1">
                <a:tableStyleId>{5C22544A-7EE6-4342-B048-85BDC9FD1C3A}</a:tableStyleId>
              </a:tblPr>
              <a:tblGrid>
                <a:gridCol w="2743200"/>
                <a:gridCol w="4023360"/>
              </a:tblGrid>
              <a:tr h="457200">
                <a:tc>
                  <a:txBody>
                    <a:bodyPr/>
                    <a:lstStyle/>
                    <a:p>
                      <a:r>
                        <a:rPr sz="1500" b="1">
                          <a:solidFill>
                            <a:srgbClr val="FFFFFF"/>
                          </a:solidFill>
                          <a:latin typeface="Calibri"/>
                        </a:rPr>
                        <a:t>Parameter</a:t>
                      </a:r>
                    </a:p>
                  </a:txBody>
                  <a:tcPr anchor="ctr">
                    <a:solidFill>
                      <a:srgbClr val="0B1F3A"/>
                    </a:solidFill>
                  </a:tcPr>
                </a:tc>
                <a:tc>
                  <a:txBody>
                    <a:bodyPr/>
                    <a:lstStyle/>
                    <a:p>
                      <a:r>
                        <a:rPr sz="1500" b="1">
                          <a:solidFill>
                            <a:srgbClr val="FFFFFF"/>
                          </a:solidFill>
                          <a:latin typeface="Calibri"/>
                        </a:rPr>
                        <a:t>Abnormal</a:t>
                      </a:r>
                    </a:p>
                  </a:txBody>
                  <a:tcPr anchor="ctr">
                    <a:solidFill>
                      <a:srgbClr val="0B1F3A"/>
                    </a:solidFill>
                  </a:tcPr>
                </a:tc>
              </a:tr>
              <a:tr h="457200">
                <a:tc>
                  <a:txBody>
                    <a:bodyPr/>
                    <a:lstStyle/>
                    <a:p>
                      <a:r>
                        <a:rPr sz="1500" b="1">
                          <a:solidFill>
                            <a:srgbClr val="1D2733"/>
                          </a:solidFill>
                          <a:latin typeface="Calibri"/>
                        </a:rPr>
                        <a:t>Septal e'</a:t>
                      </a:r>
                    </a:p>
                  </a:txBody>
                  <a:tcPr anchor="ctr">
                    <a:solidFill>
                      <a:srgbClr val="FFFFFF"/>
                    </a:solidFill>
                  </a:tcPr>
                </a:tc>
                <a:tc>
                  <a:txBody>
                    <a:bodyPr/>
                    <a:lstStyle/>
                    <a:p>
                      <a:r>
                        <a:rPr sz="1500" b="0">
                          <a:solidFill>
                            <a:srgbClr val="1D2733"/>
                          </a:solidFill>
                          <a:latin typeface="Calibri"/>
                        </a:rPr>
                        <a:t>&lt; 7 cm/s</a:t>
                      </a:r>
                    </a:p>
                  </a:txBody>
                  <a:tcPr anchor="ctr">
                    <a:solidFill>
                      <a:srgbClr val="FFFFFF"/>
                    </a:solidFill>
                  </a:tcPr>
                </a:tc>
              </a:tr>
              <a:tr h="457200">
                <a:tc>
                  <a:txBody>
                    <a:bodyPr/>
                    <a:lstStyle/>
                    <a:p>
                      <a:r>
                        <a:rPr sz="1500" b="1">
                          <a:solidFill>
                            <a:srgbClr val="1D2733"/>
                          </a:solidFill>
                          <a:latin typeface="Calibri"/>
                        </a:rPr>
                        <a:t>Lateral e'</a:t>
                      </a:r>
                    </a:p>
                  </a:txBody>
                  <a:tcPr anchor="ctr">
                    <a:solidFill>
                      <a:srgbClr val="EEF3F9"/>
                    </a:solidFill>
                  </a:tcPr>
                </a:tc>
                <a:tc>
                  <a:txBody>
                    <a:bodyPr/>
                    <a:lstStyle/>
                    <a:p>
                      <a:r>
                        <a:rPr sz="1500" b="0">
                          <a:solidFill>
                            <a:srgbClr val="1D2733"/>
                          </a:solidFill>
                          <a:latin typeface="Calibri"/>
                        </a:rPr>
                        <a:t>&lt; 10 cm/s</a:t>
                      </a:r>
                    </a:p>
                  </a:txBody>
                  <a:tcPr anchor="ctr">
                    <a:solidFill>
                      <a:srgbClr val="EEF3F9"/>
                    </a:solidFill>
                  </a:tcPr>
                </a:tc>
              </a:tr>
              <a:tr h="457200">
                <a:tc>
                  <a:txBody>
                    <a:bodyPr/>
                    <a:lstStyle/>
                    <a:p>
                      <a:r>
                        <a:rPr sz="1500" b="1">
                          <a:solidFill>
                            <a:srgbClr val="1D2733"/>
                          </a:solidFill>
                          <a:latin typeface="Calibri"/>
                        </a:rPr>
                        <a:t>Average E/e'</a:t>
                      </a:r>
                    </a:p>
                  </a:txBody>
                  <a:tcPr anchor="ctr">
                    <a:solidFill>
                      <a:srgbClr val="FFFFFF"/>
                    </a:solidFill>
                  </a:tcPr>
                </a:tc>
                <a:tc>
                  <a:txBody>
                    <a:bodyPr/>
                    <a:lstStyle/>
                    <a:p>
                      <a:r>
                        <a:rPr sz="1500" b="0">
                          <a:solidFill>
                            <a:srgbClr val="1D2733"/>
                          </a:solidFill>
                          <a:latin typeface="Calibri"/>
                        </a:rPr>
                        <a:t>&gt; 14</a:t>
                      </a:r>
                    </a:p>
                  </a:txBody>
                  <a:tcPr anchor="ctr">
                    <a:solidFill>
                      <a:srgbClr val="FFFFFF"/>
                    </a:solidFill>
                  </a:tcPr>
                </a:tc>
              </a:tr>
              <a:tr h="457200">
                <a:tc>
                  <a:txBody>
                    <a:bodyPr/>
                    <a:lstStyle/>
                    <a:p>
                      <a:r>
                        <a:rPr sz="1500" b="1">
                          <a:solidFill>
                            <a:srgbClr val="1D2733"/>
                          </a:solidFill>
                          <a:latin typeface="Calibri"/>
                        </a:rPr>
                        <a:t>TR velocity</a:t>
                      </a:r>
                    </a:p>
                  </a:txBody>
                  <a:tcPr anchor="ctr">
                    <a:solidFill>
                      <a:srgbClr val="EEF3F9"/>
                    </a:solidFill>
                  </a:tcPr>
                </a:tc>
                <a:tc>
                  <a:txBody>
                    <a:bodyPr/>
                    <a:lstStyle/>
                    <a:p>
                      <a:r>
                        <a:rPr sz="1500" b="0">
                          <a:solidFill>
                            <a:srgbClr val="1D2733"/>
                          </a:solidFill>
                          <a:latin typeface="Calibri"/>
                        </a:rPr>
                        <a:t>&gt; 2.8 m/s</a:t>
                      </a:r>
                    </a:p>
                  </a:txBody>
                  <a:tcPr anchor="ctr">
                    <a:solidFill>
                      <a:srgbClr val="EEF3F9"/>
                    </a:solidFill>
                  </a:tcPr>
                </a:tc>
              </a:tr>
              <a:tr h="457200">
                <a:tc>
                  <a:txBody>
                    <a:bodyPr/>
                    <a:lstStyle/>
                    <a:p>
                      <a:r>
                        <a:rPr sz="1500" b="1">
                          <a:solidFill>
                            <a:srgbClr val="1D2733"/>
                          </a:solidFill>
                          <a:latin typeface="Calibri"/>
                        </a:rPr>
                        <a:t>LA volume index</a:t>
                      </a:r>
                    </a:p>
                  </a:txBody>
                  <a:tcPr anchor="ctr">
                    <a:solidFill>
                      <a:srgbClr val="FFFFFF"/>
                    </a:solidFill>
                  </a:tcPr>
                </a:tc>
                <a:tc>
                  <a:txBody>
                    <a:bodyPr/>
                    <a:lstStyle/>
                    <a:p>
                      <a:r>
                        <a:rPr sz="1500" b="0">
                          <a:solidFill>
                            <a:srgbClr val="1D2733"/>
                          </a:solidFill>
                          <a:latin typeface="Calibri"/>
                        </a:rPr>
                        <a:t>&gt; 34 mL/m²</a:t>
                      </a:r>
                    </a:p>
                  </a:txBody>
                  <a:tcPr anchor="ctr">
                    <a:solidFill>
                      <a:srgbClr val="FFFFFF"/>
                    </a:solidFill>
                  </a:tcPr>
                </a:tc>
              </a:tr>
              <a:tr h="457200">
                <a:tc>
                  <a:txBody>
                    <a:bodyPr/>
                    <a:lstStyle/>
                    <a:p>
                      <a:r>
                        <a:rPr sz="1500" b="1">
                          <a:solidFill>
                            <a:srgbClr val="1D2733"/>
                          </a:solidFill>
                          <a:latin typeface="Calibri"/>
                        </a:rPr>
                        <a:t>E/A</a:t>
                      </a:r>
                    </a:p>
                  </a:txBody>
                  <a:tcPr anchor="ctr">
                    <a:solidFill>
                      <a:srgbClr val="EEF3F9"/>
                    </a:solidFill>
                  </a:tcPr>
                </a:tc>
                <a:tc>
                  <a:txBody>
                    <a:bodyPr/>
                    <a:lstStyle/>
                    <a:p>
                      <a:r>
                        <a:rPr sz="1500" b="0">
                          <a:solidFill>
                            <a:srgbClr val="1D2733"/>
                          </a:solidFill>
                          <a:latin typeface="Calibri"/>
                        </a:rPr>
                        <a:t>≥ 2 raised LAP; ≤ 0.8 with E ≤ 50 = normal</a:t>
                      </a:r>
                    </a:p>
                  </a:txBody>
                  <a:tcPr anchor="ctr">
                    <a:solidFill>
                      <a:srgbClr val="EEF3F9"/>
                    </a:solidFill>
                  </a:tcPr>
                </a:tc>
              </a:tr>
            </a:tbl>
          </a:graphicData>
        </a:graphic>
      </p:graphicFrame>
      <p:sp>
        <p:nvSpPr>
          <p:cNvPr id="9" name="Rectangle 8"/>
          <p:cNvSpPr/>
          <p:nvPr/>
        </p:nvSpPr>
        <p:spPr>
          <a:xfrm>
            <a:off x="7772400" y="1417320"/>
            <a:ext cx="3931920" cy="20116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0" y="1417320"/>
            <a:ext cx="82296" cy="2011680"/>
          </a:xfrm>
          <a:prstGeom prst="rect">
            <a:avLst/>
          </a:prstGeom>
          <a:solidFill>
            <a:srgbClr val="C77C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01000" y="1490472"/>
            <a:ext cx="3566160" cy="274320"/>
          </a:xfrm>
          <a:prstGeom prst="rect">
            <a:avLst/>
          </a:prstGeom>
          <a:noFill/>
        </p:spPr>
        <p:txBody>
          <a:bodyPr wrap="square" anchor="t" lIns="45720" rIns="45720">
            <a:spAutoFit/>
          </a:bodyPr>
          <a:lstStyle/>
          <a:p>
            <a:pPr algn="l"/>
            <a:r>
              <a:rPr sz="1100" b="1">
                <a:solidFill>
                  <a:srgbClr val="C77C0E"/>
                </a:solidFill>
                <a:latin typeface="Calibri"/>
              </a:rPr>
              <a:t>AF</a:t>
            </a:r>
          </a:p>
        </p:txBody>
      </p:sp>
      <p:sp>
        <p:nvSpPr>
          <p:cNvPr id="12" name="TextBox 11"/>
          <p:cNvSpPr txBox="1"/>
          <p:nvPr/>
        </p:nvSpPr>
        <p:spPr>
          <a:xfrm>
            <a:off x="8001000" y="1783080"/>
            <a:ext cx="3566160" cy="1600200"/>
          </a:xfrm>
          <a:prstGeom prst="rect">
            <a:avLst/>
          </a:prstGeom>
          <a:noFill/>
        </p:spPr>
        <p:txBody>
          <a:bodyPr wrap="square" anchor="t" lIns="45720" rIns="45720">
            <a:spAutoFit/>
          </a:bodyPr>
          <a:lstStyle/>
          <a:p>
            <a:pPr algn="l"/>
            <a:r>
              <a:rPr sz="1500" b="0">
                <a:solidFill>
                  <a:srgbClr val="1D2733"/>
                </a:solidFill>
                <a:latin typeface="Calibri"/>
              </a:rPr>
              <a:t>Septal E/e' ≥ 11, DT ≤ 160 ms, IVRT ≤ 65 ms, TR &gt; 2.8 m/s.</a:t>
            </a:r>
          </a:p>
        </p:txBody>
      </p:sp>
      <p:sp>
        <p:nvSpPr>
          <p:cNvPr id="13" name="Rectangle 12"/>
          <p:cNvSpPr/>
          <p:nvPr/>
        </p:nvSpPr>
        <p:spPr>
          <a:xfrm>
            <a:off x="7772400" y="3657600"/>
            <a:ext cx="3931920" cy="237744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0" y="3657600"/>
            <a:ext cx="82296" cy="2377440"/>
          </a:xfrm>
          <a:prstGeom prst="rect">
            <a:avLst/>
          </a:prstGeom>
          <a:solidFill>
            <a:srgbClr val="B32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3730752"/>
            <a:ext cx="3566160" cy="274320"/>
          </a:xfrm>
          <a:prstGeom prst="rect">
            <a:avLst/>
          </a:prstGeom>
          <a:noFill/>
        </p:spPr>
        <p:txBody>
          <a:bodyPr wrap="square" anchor="t" lIns="45720" rIns="45720">
            <a:spAutoFit/>
          </a:bodyPr>
          <a:lstStyle/>
          <a:p>
            <a:pPr algn="l"/>
            <a:r>
              <a:rPr sz="1100" b="1">
                <a:solidFill>
                  <a:srgbClr val="B3202E"/>
                </a:solidFill>
                <a:latin typeface="Calibri"/>
              </a:rPr>
              <a:t>COMMON ERROR</a:t>
            </a:r>
          </a:p>
        </p:txBody>
      </p:sp>
      <p:sp>
        <p:nvSpPr>
          <p:cNvPr id="16" name="TextBox 15"/>
          <p:cNvSpPr txBox="1"/>
          <p:nvPr/>
        </p:nvSpPr>
        <p:spPr>
          <a:xfrm>
            <a:off x="8001000" y="4023360"/>
            <a:ext cx="3566160" cy="1965960"/>
          </a:xfrm>
          <a:prstGeom prst="rect">
            <a:avLst/>
          </a:prstGeom>
          <a:noFill/>
        </p:spPr>
        <p:txBody>
          <a:bodyPr wrap="square" anchor="t" lIns="45720" rIns="45720">
            <a:spAutoFit/>
          </a:bodyPr>
          <a:lstStyle/>
          <a:p>
            <a:pPr algn="l"/>
            <a:r>
              <a:rPr sz="1500" b="0">
                <a:solidFill>
                  <a:srgbClr val="1D2733"/>
                </a:solidFill>
                <a:latin typeface="Calibri"/>
              </a:rPr>
              <a:t>Using E/e' in significant MAC, MS, prosthetic mitral valve or severe primary MR. Use other markers.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45720"/>
          </a:xfrm>
          <a:prstGeom prst="rect">
            <a:avLst/>
          </a:prstGeom>
          <a:solidFill>
            <a:srgbClr val="C9A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8229600" cy="274320"/>
          </a:xfrm>
          <a:prstGeom prst="rect">
            <a:avLst/>
          </a:prstGeom>
          <a:noFill/>
        </p:spPr>
        <p:txBody>
          <a:bodyPr wrap="square" anchor="t" lIns="45720" rIns="45720">
            <a:spAutoFit/>
          </a:bodyPr>
          <a:lstStyle/>
          <a:p>
            <a:pPr algn="l"/>
            <a:r>
              <a:rPr sz="1100" b="1">
                <a:solidFill>
                  <a:srgbClr val="C9A24B"/>
                </a:solidFill>
                <a:latin typeface="Calibri"/>
              </a:rPr>
              <a:t>RIGHT HEART</a:t>
            </a:r>
          </a:p>
        </p:txBody>
      </p:sp>
      <p:sp>
        <p:nvSpPr>
          <p:cNvPr id="5" name="TextBox 4"/>
          <p:cNvSpPr txBox="1"/>
          <p:nvPr/>
        </p:nvSpPr>
        <p:spPr>
          <a:xfrm>
            <a:off x="502920" y="347472"/>
            <a:ext cx="10972800" cy="640080"/>
          </a:xfrm>
          <a:prstGeom prst="rect">
            <a:avLst/>
          </a:prstGeom>
          <a:noFill/>
        </p:spPr>
        <p:txBody>
          <a:bodyPr wrap="square" anchor="t" lIns="45720" rIns="45720">
            <a:spAutoFit/>
          </a:bodyPr>
          <a:lstStyle/>
          <a:p>
            <a:pPr algn="l"/>
            <a:r>
              <a:rPr sz="2800" b="1">
                <a:solidFill>
                  <a:srgbClr val="FFFFFF"/>
                </a:solidFill>
                <a:latin typeface="Cambria"/>
              </a:rPr>
              <a:t>The right ventricle and pulmonary hypertension</a:t>
            </a:r>
          </a:p>
        </p:txBody>
      </p:sp>
      <p:sp>
        <p:nvSpPr>
          <p:cNvPr id="6" name="TextBox 5"/>
          <p:cNvSpPr txBox="1"/>
          <p:nvPr/>
        </p:nvSpPr>
        <p:spPr>
          <a:xfrm>
            <a:off x="502920" y="6473952"/>
            <a:ext cx="8229600" cy="274320"/>
          </a:xfrm>
          <a:prstGeom prst="rect">
            <a:avLst/>
          </a:prstGeom>
          <a:noFill/>
        </p:spPr>
        <p:txBody>
          <a:bodyPr wrap="square" anchor="t" lIns="45720" rIns="45720">
            <a:spAutoFit/>
          </a:bodyPr>
          <a:lstStyle/>
          <a:p>
            <a:pPr algn="l"/>
            <a:r>
              <a:rPr sz="900" b="0">
                <a:solidFill>
                  <a:srgbClr val="6B7785"/>
                </a:solidFill>
                <a:latin typeface="Calibri"/>
              </a:rPr>
              <a:t>ECHO ESSENTIALS  |  Dr. [Your Name]</a:t>
            </a:r>
          </a:p>
        </p:txBody>
      </p:sp>
      <p:sp>
        <p:nvSpPr>
          <p:cNvPr id="7" name="TextBox 6"/>
          <p:cNvSpPr txBox="1"/>
          <p:nvPr/>
        </p:nvSpPr>
        <p:spPr>
          <a:xfrm>
            <a:off x="10972800" y="6473952"/>
            <a:ext cx="731520" cy="274320"/>
          </a:xfrm>
          <a:prstGeom prst="rect">
            <a:avLst/>
          </a:prstGeom>
          <a:noFill/>
        </p:spPr>
        <p:txBody>
          <a:bodyPr wrap="square" anchor="t" lIns="45720" rIns="45720">
            <a:spAutoFit/>
          </a:bodyPr>
          <a:lstStyle/>
          <a:p>
            <a:pPr algn="r"/>
            <a:r>
              <a:rPr sz="1000" b="1">
                <a:solidFill>
                  <a:srgbClr val="B3202E"/>
                </a:solidFill>
                <a:latin typeface="Calibri"/>
              </a:rPr>
              <a:t>5</a:t>
            </a:r>
          </a:p>
        </p:txBody>
      </p:sp>
      <p:graphicFrame>
        <p:nvGraphicFramePr>
          <p:cNvPr id="8" name="Table 7"/>
          <p:cNvGraphicFramePr>
            <a:graphicFrameLocks noGrp="1"/>
          </p:cNvGraphicFramePr>
          <p:nvPr/>
        </p:nvGraphicFramePr>
        <p:xfrm>
          <a:off x="640080" y="1417320"/>
          <a:ext cx="5669280" cy="3200400"/>
        </p:xfrm>
        <a:graphic>
          <a:graphicData uri="http://schemas.openxmlformats.org/drawingml/2006/table">
            <a:tbl>
              <a:tblPr firstRow="1" bandRow="1">
                <a:tableStyleId>{5C22544A-7EE6-4342-B048-85BDC9FD1C3A}</a:tableStyleId>
              </a:tblPr>
              <a:tblGrid>
                <a:gridCol w="2743200"/>
                <a:gridCol w="2926080"/>
              </a:tblGrid>
              <a:tr h="457200">
                <a:tc>
                  <a:txBody>
                    <a:bodyPr/>
                    <a:lstStyle/>
                    <a:p>
                      <a:r>
                        <a:rPr sz="1500" b="1">
                          <a:solidFill>
                            <a:srgbClr val="FFFFFF"/>
                          </a:solidFill>
                          <a:latin typeface="Calibri"/>
                        </a:rPr>
                        <a:t>RV parameter</a:t>
                      </a:r>
                    </a:p>
                  </a:txBody>
                  <a:tcPr anchor="ctr">
                    <a:solidFill>
                      <a:srgbClr val="0B1F3A"/>
                    </a:solidFill>
                  </a:tcPr>
                </a:tc>
                <a:tc>
                  <a:txBody>
                    <a:bodyPr/>
                    <a:lstStyle/>
                    <a:p>
                      <a:r>
                        <a:rPr sz="1500" b="1">
                          <a:solidFill>
                            <a:srgbClr val="FFFFFF"/>
                          </a:solidFill>
                          <a:latin typeface="Calibri"/>
                        </a:rPr>
                        <a:t>Abnormal</a:t>
                      </a:r>
                    </a:p>
                  </a:txBody>
                  <a:tcPr anchor="ctr">
                    <a:solidFill>
                      <a:srgbClr val="0B1F3A"/>
                    </a:solidFill>
                  </a:tcPr>
                </a:tc>
              </a:tr>
              <a:tr h="457200">
                <a:tc>
                  <a:txBody>
                    <a:bodyPr/>
                    <a:lstStyle/>
                    <a:p>
                      <a:r>
                        <a:rPr sz="1500" b="1">
                          <a:solidFill>
                            <a:srgbClr val="1D2733"/>
                          </a:solidFill>
                          <a:latin typeface="Calibri"/>
                        </a:rPr>
                        <a:t>TAPSE</a:t>
                      </a:r>
                    </a:p>
                  </a:txBody>
                  <a:tcPr anchor="ctr">
                    <a:solidFill>
                      <a:srgbClr val="FFFFFF"/>
                    </a:solidFill>
                  </a:tcPr>
                </a:tc>
                <a:tc>
                  <a:txBody>
                    <a:bodyPr/>
                    <a:lstStyle/>
                    <a:p>
                      <a:r>
                        <a:rPr sz="1500" b="0">
                          <a:solidFill>
                            <a:srgbClr val="1D2733"/>
                          </a:solidFill>
                          <a:latin typeface="Calibri"/>
                        </a:rPr>
                        <a:t>&lt; 17 mm</a:t>
                      </a:r>
                    </a:p>
                  </a:txBody>
                  <a:tcPr anchor="ctr">
                    <a:solidFill>
                      <a:srgbClr val="FFFFFF"/>
                    </a:solidFill>
                  </a:tcPr>
                </a:tc>
              </a:tr>
              <a:tr h="457200">
                <a:tc>
                  <a:txBody>
                    <a:bodyPr/>
                    <a:lstStyle/>
                    <a:p>
                      <a:r>
                        <a:rPr sz="1500" b="1">
                          <a:solidFill>
                            <a:srgbClr val="1D2733"/>
                          </a:solidFill>
                          <a:latin typeface="Calibri"/>
                        </a:rPr>
                        <a:t>S' (TDI)</a:t>
                      </a:r>
                    </a:p>
                  </a:txBody>
                  <a:tcPr anchor="ctr">
                    <a:solidFill>
                      <a:srgbClr val="EEF3F9"/>
                    </a:solidFill>
                  </a:tcPr>
                </a:tc>
                <a:tc>
                  <a:txBody>
                    <a:bodyPr/>
                    <a:lstStyle/>
                    <a:p>
                      <a:r>
                        <a:rPr sz="1500" b="0">
                          <a:solidFill>
                            <a:srgbClr val="1D2733"/>
                          </a:solidFill>
                          <a:latin typeface="Calibri"/>
                        </a:rPr>
                        <a:t>&lt; 9.5 cm/s</a:t>
                      </a:r>
                    </a:p>
                  </a:txBody>
                  <a:tcPr anchor="ctr">
                    <a:solidFill>
                      <a:srgbClr val="EEF3F9"/>
                    </a:solidFill>
                  </a:tcPr>
                </a:tc>
              </a:tr>
              <a:tr h="457200">
                <a:tc>
                  <a:txBody>
                    <a:bodyPr/>
                    <a:lstStyle/>
                    <a:p>
                      <a:r>
                        <a:rPr sz="1500" b="1">
                          <a:solidFill>
                            <a:srgbClr val="1D2733"/>
                          </a:solidFill>
                          <a:latin typeface="Calibri"/>
                        </a:rPr>
                        <a:t>FAC</a:t>
                      </a:r>
                    </a:p>
                  </a:txBody>
                  <a:tcPr anchor="ctr">
                    <a:solidFill>
                      <a:srgbClr val="FFFFFF"/>
                    </a:solidFill>
                  </a:tcPr>
                </a:tc>
                <a:tc>
                  <a:txBody>
                    <a:bodyPr/>
                    <a:lstStyle/>
                    <a:p>
                      <a:r>
                        <a:rPr sz="1500" b="0">
                          <a:solidFill>
                            <a:srgbClr val="1D2733"/>
                          </a:solidFill>
                          <a:latin typeface="Calibri"/>
                        </a:rPr>
                        <a:t>&lt; 35%</a:t>
                      </a:r>
                    </a:p>
                  </a:txBody>
                  <a:tcPr anchor="ctr">
                    <a:solidFill>
                      <a:srgbClr val="FFFFFF"/>
                    </a:solidFill>
                  </a:tcPr>
                </a:tc>
              </a:tr>
              <a:tr h="457200">
                <a:tc>
                  <a:txBody>
                    <a:bodyPr/>
                    <a:lstStyle/>
                    <a:p>
                      <a:r>
                        <a:rPr sz="1500" b="1">
                          <a:solidFill>
                            <a:srgbClr val="1D2733"/>
                          </a:solidFill>
                          <a:latin typeface="Calibri"/>
                        </a:rPr>
                        <a:t>Free wall strain</a:t>
                      </a:r>
                    </a:p>
                  </a:txBody>
                  <a:tcPr anchor="ctr">
                    <a:solidFill>
                      <a:srgbClr val="EEF3F9"/>
                    </a:solidFill>
                  </a:tcPr>
                </a:tc>
                <a:tc>
                  <a:txBody>
                    <a:bodyPr/>
                    <a:lstStyle/>
                    <a:p>
                      <a:r>
                        <a:rPr sz="1500" b="0">
                          <a:solidFill>
                            <a:srgbClr val="1D2733"/>
                          </a:solidFill>
                          <a:latin typeface="Calibri"/>
                        </a:rPr>
                        <a:t>less negative than -20%</a:t>
                      </a:r>
                    </a:p>
                  </a:txBody>
                  <a:tcPr anchor="ctr">
                    <a:solidFill>
                      <a:srgbClr val="EEF3F9"/>
                    </a:solidFill>
                  </a:tcPr>
                </a:tc>
              </a:tr>
              <a:tr h="457200">
                <a:tc>
                  <a:txBody>
                    <a:bodyPr/>
                    <a:lstStyle/>
                    <a:p>
                      <a:r>
                        <a:rPr sz="1500" b="1">
                          <a:solidFill>
                            <a:srgbClr val="1D2733"/>
                          </a:solidFill>
                          <a:latin typeface="Calibri"/>
                        </a:rPr>
                        <a:t>RA area</a:t>
                      </a:r>
                    </a:p>
                  </a:txBody>
                  <a:tcPr anchor="ctr">
                    <a:solidFill>
                      <a:srgbClr val="FFFFFF"/>
                    </a:solidFill>
                  </a:tcPr>
                </a:tc>
                <a:tc>
                  <a:txBody>
                    <a:bodyPr/>
                    <a:lstStyle/>
                    <a:p>
                      <a:r>
                        <a:rPr sz="1500" b="0">
                          <a:solidFill>
                            <a:srgbClr val="1D2733"/>
                          </a:solidFill>
                          <a:latin typeface="Calibri"/>
                        </a:rPr>
                        <a:t>&gt; 18 cm²</a:t>
                      </a:r>
                    </a:p>
                  </a:txBody>
                  <a:tcPr anchor="ctr">
                    <a:solidFill>
                      <a:srgbClr val="FFFFFF"/>
                    </a:solidFill>
                  </a:tcPr>
                </a:tc>
              </a:tr>
              <a:tr h="457200">
                <a:tc>
                  <a:txBody>
                    <a:bodyPr/>
                    <a:lstStyle/>
                    <a:p>
                      <a:r>
                        <a:rPr sz="1500" b="1">
                          <a:solidFill>
                            <a:srgbClr val="1D2733"/>
                          </a:solidFill>
                          <a:latin typeface="Calibri"/>
                        </a:rPr>
                        <a:t>Basal diameter</a:t>
                      </a:r>
                    </a:p>
                  </a:txBody>
                  <a:tcPr anchor="ctr">
                    <a:solidFill>
                      <a:srgbClr val="EEF3F9"/>
                    </a:solidFill>
                  </a:tcPr>
                </a:tc>
                <a:tc>
                  <a:txBody>
                    <a:bodyPr/>
                    <a:lstStyle/>
                    <a:p>
                      <a:r>
                        <a:rPr sz="1500" b="0">
                          <a:solidFill>
                            <a:srgbClr val="1D2733"/>
                          </a:solidFill>
                          <a:latin typeface="Calibri"/>
                        </a:rPr>
                        <a:t>&gt; 41 mm</a:t>
                      </a:r>
                    </a:p>
                  </a:txBody>
                  <a:tcPr anchor="ctr">
                    <a:solidFill>
                      <a:srgbClr val="EEF3F9"/>
                    </a:solidFill>
                  </a:tcPr>
                </a:tc>
              </a:tr>
            </a:tbl>
          </a:graphicData>
        </a:graphic>
      </p:graphicFrame>
      <p:graphicFrame>
        <p:nvGraphicFramePr>
          <p:cNvPr id="9" name="Table 8"/>
          <p:cNvGraphicFramePr>
            <a:graphicFrameLocks noGrp="1"/>
          </p:cNvGraphicFramePr>
          <p:nvPr/>
        </p:nvGraphicFramePr>
        <p:xfrm>
          <a:off x="6583680" y="1417320"/>
          <a:ext cx="5120640" cy="2743200"/>
        </p:xfrm>
        <a:graphic>
          <a:graphicData uri="http://schemas.openxmlformats.org/drawingml/2006/table">
            <a:tbl>
              <a:tblPr firstRow="1" bandRow="1">
                <a:tableStyleId>{5C22544A-7EE6-4342-B048-85BDC9FD1C3A}</a:tableStyleId>
              </a:tblPr>
              <a:tblGrid>
                <a:gridCol w="1737360"/>
                <a:gridCol w="1371600"/>
                <a:gridCol w="2011680"/>
              </a:tblGrid>
              <a:tr h="457200">
                <a:tc>
                  <a:txBody>
                    <a:bodyPr/>
                    <a:lstStyle/>
                    <a:p>
                      <a:r>
                        <a:rPr sz="1400" b="1">
                          <a:solidFill>
                            <a:srgbClr val="FFFFFF"/>
                          </a:solidFill>
                          <a:latin typeface="Calibri"/>
                        </a:rPr>
                        <a:t>TR Vmax</a:t>
                      </a:r>
                    </a:p>
                  </a:txBody>
                  <a:tcPr anchor="ctr">
                    <a:solidFill>
                      <a:srgbClr val="0B1F3A"/>
                    </a:solidFill>
                  </a:tcPr>
                </a:tc>
                <a:tc>
                  <a:txBody>
                    <a:bodyPr/>
                    <a:lstStyle/>
                    <a:p>
                      <a:r>
                        <a:rPr sz="1400" b="1">
                          <a:solidFill>
                            <a:srgbClr val="FFFFFF"/>
                          </a:solidFill>
                          <a:latin typeface="Calibri"/>
                        </a:rPr>
                        <a:t>Other signs</a:t>
                      </a:r>
                    </a:p>
                  </a:txBody>
                  <a:tcPr anchor="ctr">
                    <a:solidFill>
                      <a:srgbClr val="0B1F3A"/>
                    </a:solidFill>
                  </a:tcPr>
                </a:tc>
                <a:tc>
                  <a:txBody>
                    <a:bodyPr/>
                    <a:lstStyle/>
                    <a:p>
                      <a:r>
                        <a:rPr sz="1400" b="1">
                          <a:solidFill>
                            <a:srgbClr val="FFFFFF"/>
                          </a:solidFill>
                          <a:latin typeface="Calibri"/>
                        </a:rPr>
                        <a:t>PH probability</a:t>
                      </a:r>
                    </a:p>
                  </a:txBody>
                  <a:tcPr anchor="ctr">
                    <a:solidFill>
                      <a:srgbClr val="0B1F3A"/>
                    </a:solidFill>
                  </a:tcPr>
                </a:tc>
              </a:tr>
              <a:tr h="457200">
                <a:tc>
                  <a:txBody>
                    <a:bodyPr/>
                    <a:lstStyle/>
                    <a:p>
                      <a:r>
                        <a:rPr sz="1400" b="1">
                          <a:solidFill>
                            <a:srgbClr val="1D2733"/>
                          </a:solidFill>
                          <a:latin typeface="Calibri"/>
                        </a:rPr>
                        <a:t>≤ 2.8 or not seen</a:t>
                      </a:r>
                    </a:p>
                  </a:txBody>
                  <a:tcPr anchor="ctr">
                    <a:solidFill>
                      <a:srgbClr val="FFFFFF"/>
                    </a:solidFill>
                  </a:tcPr>
                </a:tc>
                <a:tc>
                  <a:txBody>
                    <a:bodyPr/>
                    <a:lstStyle/>
                    <a:p>
                      <a:r>
                        <a:rPr sz="1400" b="0">
                          <a:solidFill>
                            <a:srgbClr val="1D2733"/>
                          </a:solidFill>
                          <a:latin typeface="Calibri"/>
                        </a:rPr>
                        <a:t>No</a:t>
                      </a:r>
                    </a:p>
                  </a:txBody>
                  <a:tcPr anchor="ctr">
                    <a:solidFill>
                      <a:srgbClr val="FFFFFF"/>
                    </a:solidFill>
                  </a:tcPr>
                </a:tc>
                <a:tc>
                  <a:txBody>
                    <a:bodyPr/>
                    <a:lstStyle/>
                    <a:p>
                      <a:r>
                        <a:rPr sz="1400" b="0">
                          <a:solidFill>
                            <a:srgbClr val="1D2733"/>
                          </a:solidFill>
                          <a:latin typeface="Calibri"/>
                        </a:rPr>
                        <a:t>Low</a:t>
                      </a:r>
                    </a:p>
                  </a:txBody>
                  <a:tcPr anchor="ctr">
                    <a:solidFill>
                      <a:srgbClr val="FFFFFF"/>
                    </a:solidFill>
                  </a:tcPr>
                </a:tc>
              </a:tr>
              <a:tr h="457200">
                <a:tc>
                  <a:txBody>
                    <a:bodyPr/>
                    <a:lstStyle/>
                    <a:p>
                      <a:r>
                        <a:rPr sz="1400" b="1">
                          <a:solidFill>
                            <a:srgbClr val="1D2733"/>
                          </a:solidFill>
                          <a:latin typeface="Calibri"/>
                        </a:rPr>
                        <a:t>≤ 2.8</a:t>
                      </a:r>
                    </a:p>
                  </a:txBody>
                  <a:tcPr anchor="ctr">
                    <a:solidFill>
                      <a:srgbClr val="EEF3F9"/>
                    </a:solidFill>
                  </a:tcPr>
                </a:tc>
                <a:tc>
                  <a:txBody>
                    <a:bodyPr/>
                    <a:lstStyle/>
                    <a:p>
                      <a:r>
                        <a:rPr sz="1400" b="0">
                          <a:solidFill>
                            <a:srgbClr val="1D2733"/>
                          </a:solidFill>
                          <a:latin typeface="Calibri"/>
                        </a:rPr>
                        <a:t>Yes</a:t>
                      </a:r>
                    </a:p>
                  </a:txBody>
                  <a:tcPr anchor="ctr">
                    <a:solidFill>
                      <a:srgbClr val="EEF3F9"/>
                    </a:solidFill>
                  </a:tcPr>
                </a:tc>
                <a:tc>
                  <a:txBody>
                    <a:bodyPr/>
                    <a:lstStyle/>
                    <a:p>
                      <a:r>
                        <a:rPr sz="1400" b="0">
                          <a:solidFill>
                            <a:srgbClr val="1D2733"/>
                          </a:solidFill>
                          <a:latin typeface="Calibri"/>
                        </a:rPr>
                        <a:t>Intermediate</a:t>
                      </a:r>
                    </a:p>
                  </a:txBody>
                  <a:tcPr anchor="ctr">
                    <a:solidFill>
                      <a:srgbClr val="EEF3F9"/>
                    </a:solidFill>
                  </a:tcPr>
                </a:tc>
              </a:tr>
              <a:tr h="457200">
                <a:tc>
                  <a:txBody>
                    <a:bodyPr/>
                    <a:lstStyle/>
                    <a:p>
                      <a:r>
                        <a:rPr sz="1400" b="1">
                          <a:solidFill>
                            <a:srgbClr val="1D2733"/>
                          </a:solidFill>
                          <a:latin typeface="Calibri"/>
                        </a:rPr>
                        <a:t>2.9 - 3.4</a:t>
                      </a:r>
                    </a:p>
                  </a:txBody>
                  <a:tcPr anchor="ctr">
                    <a:solidFill>
                      <a:srgbClr val="FFFFFF"/>
                    </a:solidFill>
                  </a:tcPr>
                </a:tc>
                <a:tc>
                  <a:txBody>
                    <a:bodyPr/>
                    <a:lstStyle/>
                    <a:p>
                      <a:r>
                        <a:rPr sz="1400" b="0">
                          <a:solidFill>
                            <a:srgbClr val="1D2733"/>
                          </a:solidFill>
                          <a:latin typeface="Calibri"/>
                        </a:rPr>
                        <a:t>No</a:t>
                      </a:r>
                    </a:p>
                  </a:txBody>
                  <a:tcPr anchor="ctr">
                    <a:solidFill>
                      <a:srgbClr val="FFFFFF"/>
                    </a:solidFill>
                  </a:tcPr>
                </a:tc>
                <a:tc>
                  <a:txBody>
                    <a:bodyPr/>
                    <a:lstStyle/>
                    <a:p>
                      <a:r>
                        <a:rPr sz="1400" b="0">
                          <a:solidFill>
                            <a:srgbClr val="1D2733"/>
                          </a:solidFill>
                          <a:latin typeface="Calibri"/>
                        </a:rPr>
                        <a:t>Intermediate</a:t>
                      </a:r>
                    </a:p>
                  </a:txBody>
                  <a:tcPr anchor="ctr">
                    <a:solidFill>
                      <a:srgbClr val="FFFFFF"/>
                    </a:solidFill>
                  </a:tcPr>
                </a:tc>
              </a:tr>
              <a:tr h="457200">
                <a:tc>
                  <a:txBody>
                    <a:bodyPr/>
                    <a:lstStyle/>
                    <a:p>
                      <a:r>
                        <a:rPr sz="1400" b="1">
                          <a:solidFill>
                            <a:srgbClr val="1D2733"/>
                          </a:solidFill>
                          <a:latin typeface="Calibri"/>
                        </a:rPr>
                        <a:t>2.9 - 3.4</a:t>
                      </a:r>
                    </a:p>
                  </a:txBody>
                  <a:tcPr anchor="ctr">
                    <a:solidFill>
                      <a:srgbClr val="EEF3F9"/>
                    </a:solidFill>
                  </a:tcPr>
                </a:tc>
                <a:tc>
                  <a:txBody>
                    <a:bodyPr/>
                    <a:lstStyle/>
                    <a:p>
                      <a:r>
                        <a:rPr sz="1400" b="0">
                          <a:solidFill>
                            <a:srgbClr val="1D2733"/>
                          </a:solidFill>
                          <a:latin typeface="Calibri"/>
                        </a:rPr>
                        <a:t>Yes</a:t>
                      </a:r>
                    </a:p>
                  </a:txBody>
                  <a:tcPr anchor="ctr">
                    <a:solidFill>
                      <a:srgbClr val="EEF3F9"/>
                    </a:solidFill>
                  </a:tcPr>
                </a:tc>
                <a:tc>
                  <a:txBody>
                    <a:bodyPr/>
                    <a:lstStyle/>
                    <a:p>
                      <a:r>
                        <a:rPr sz="1400" b="0">
                          <a:solidFill>
                            <a:srgbClr val="1D2733"/>
                          </a:solidFill>
                          <a:latin typeface="Calibri"/>
                        </a:rPr>
                        <a:t>High</a:t>
                      </a:r>
                    </a:p>
                  </a:txBody>
                  <a:tcPr anchor="ctr">
                    <a:solidFill>
                      <a:srgbClr val="EEF3F9"/>
                    </a:solidFill>
                  </a:tcPr>
                </a:tc>
              </a:tr>
              <a:tr h="457200">
                <a:tc>
                  <a:txBody>
                    <a:bodyPr/>
                    <a:lstStyle/>
                    <a:p>
                      <a:r>
                        <a:rPr sz="1400" b="1">
                          <a:solidFill>
                            <a:srgbClr val="1D2733"/>
                          </a:solidFill>
                          <a:latin typeface="Calibri"/>
                        </a:rPr>
                        <a:t>&gt; 3.4</a:t>
                      </a:r>
                    </a:p>
                  </a:txBody>
                  <a:tcPr anchor="ctr">
                    <a:solidFill>
                      <a:srgbClr val="FFFFFF"/>
                    </a:solidFill>
                  </a:tcPr>
                </a:tc>
                <a:tc>
                  <a:txBody>
                    <a:bodyPr/>
                    <a:lstStyle/>
                    <a:p>
                      <a:r>
                        <a:rPr sz="1400" b="0">
                          <a:solidFill>
                            <a:srgbClr val="1D2733"/>
                          </a:solidFill>
                          <a:latin typeface="Calibri"/>
                        </a:rPr>
                        <a:t>-</a:t>
                      </a:r>
                    </a:p>
                  </a:txBody>
                  <a:tcPr anchor="ctr">
                    <a:solidFill>
                      <a:srgbClr val="FFFFFF"/>
                    </a:solidFill>
                  </a:tcPr>
                </a:tc>
                <a:tc>
                  <a:txBody>
                    <a:bodyPr/>
                    <a:lstStyle/>
                    <a:p>
                      <a:r>
                        <a:rPr sz="1400" b="0">
                          <a:solidFill>
                            <a:srgbClr val="1D2733"/>
                          </a:solidFill>
                          <a:latin typeface="Calibri"/>
                        </a:rPr>
                        <a:t>High</a:t>
                      </a:r>
                    </a:p>
                  </a:txBody>
                  <a:tcPr anchor="ctr">
                    <a:solidFill>
                      <a:srgbClr val="FFFFFF"/>
                    </a:solidFill>
                  </a:tcPr>
                </a:tc>
              </a:tr>
            </a:tbl>
          </a:graphicData>
        </a:graphic>
      </p:graphicFrame>
      <p:sp>
        <p:nvSpPr>
          <p:cNvPr id="10" name="Rectangle 9"/>
          <p:cNvSpPr/>
          <p:nvPr/>
        </p:nvSpPr>
        <p:spPr>
          <a:xfrm>
            <a:off x="640080" y="4846320"/>
            <a:ext cx="11064240" cy="12801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4846320"/>
            <a:ext cx="82296" cy="1280160"/>
          </a:xfrm>
          <a:prstGeom prst="rect">
            <a:avLst/>
          </a:prstGeom>
          <a:solidFill>
            <a:srgbClr val="1331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919472"/>
            <a:ext cx="10698480" cy="274320"/>
          </a:xfrm>
          <a:prstGeom prst="rect">
            <a:avLst/>
          </a:prstGeom>
          <a:noFill/>
        </p:spPr>
        <p:txBody>
          <a:bodyPr wrap="square" anchor="t" lIns="45720" rIns="45720">
            <a:spAutoFit/>
          </a:bodyPr>
          <a:lstStyle/>
          <a:p>
            <a:pPr algn="l"/>
            <a:r>
              <a:rPr sz="1100" b="1">
                <a:solidFill>
                  <a:srgbClr val="13315C"/>
                </a:solidFill>
                <a:latin typeface="Calibri"/>
              </a:rPr>
              <a:t>PASP</a:t>
            </a:r>
          </a:p>
        </p:txBody>
      </p:sp>
      <p:sp>
        <p:nvSpPr>
          <p:cNvPr id="13" name="TextBox 12"/>
          <p:cNvSpPr txBox="1"/>
          <p:nvPr/>
        </p:nvSpPr>
        <p:spPr>
          <a:xfrm>
            <a:off x="868680" y="5212080"/>
            <a:ext cx="10698480" cy="868680"/>
          </a:xfrm>
          <a:prstGeom prst="rect">
            <a:avLst/>
          </a:prstGeom>
          <a:noFill/>
        </p:spPr>
        <p:txBody>
          <a:bodyPr wrap="square" anchor="t" lIns="45720" rIns="45720">
            <a:spAutoFit/>
          </a:bodyPr>
          <a:lstStyle/>
          <a:p>
            <a:pPr algn="l"/>
            <a:r>
              <a:rPr sz="1500" b="0">
                <a:solidFill>
                  <a:srgbClr val="1D2733"/>
                </a:solidFill>
                <a:latin typeface="Calibri"/>
              </a:rPr>
              <a:t>PASP = 4 × Vmax² + RAP.   RAP 3 mmHg (IVC ≤ 21 mm, &gt; 50% collapse), 8 (intermediate), 15 mmHg (IVC &gt; 21 mm, &lt; 50% collapse).   TAPSE/PASP &lt; 0.55 = uncoupling.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45720"/>
          </a:xfrm>
          <a:prstGeom prst="rect">
            <a:avLst/>
          </a:prstGeom>
          <a:solidFill>
            <a:srgbClr val="C9A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8229600" cy="274320"/>
          </a:xfrm>
          <a:prstGeom prst="rect">
            <a:avLst/>
          </a:prstGeom>
          <a:noFill/>
        </p:spPr>
        <p:txBody>
          <a:bodyPr wrap="square" anchor="t" lIns="45720" rIns="45720">
            <a:spAutoFit/>
          </a:bodyPr>
          <a:lstStyle/>
          <a:p>
            <a:pPr algn="l"/>
            <a:r>
              <a:rPr sz="1100" b="1">
                <a:solidFill>
                  <a:srgbClr val="C9A24B"/>
                </a:solidFill>
                <a:latin typeface="Calibri"/>
              </a:rPr>
              <a:t>AORTIC STENOSIS</a:t>
            </a:r>
          </a:p>
        </p:txBody>
      </p:sp>
      <p:sp>
        <p:nvSpPr>
          <p:cNvPr id="5" name="TextBox 4"/>
          <p:cNvSpPr txBox="1"/>
          <p:nvPr/>
        </p:nvSpPr>
        <p:spPr>
          <a:xfrm>
            <a:off x="502920" y="347472"/>
            <a:ext cx="10972800" cy="640080"/>
          </a:xfrm>
          <a:prstGeom prst="rect">
            <a:avLst/>
          </a:prstGeom>
          <a:noFill/>
        </p:spPr>
        <p:txBody>
          <a:bodyPr wrap="square" anchor="t" lIns="45720" rIns="45720">
            <a:spAutoFit/>
          </a:bodyPr>
          <a:lstStyle/>
          <a:p>
            <a:pPr algn="l"/>
            <a:r>
              <a:rPr sz="2800" b="1">
                <a:solidFill>
                  <a:srgbClr val="FFFFFF"/>
                </a:solidFill>
                <a:latin typeface="Cambria"/>
              </a:rPr>
              <a:t>Aortic stenosis 1: measure it right</a:t>
            </a:r>
          </a:p>
        </p:txBody>
      </p:sp>
      <p:sp>
        <p:nvSpPr>
          <p:cNvPr id="6" name="TextBox 5"/>
          <p:cNvSpPr txBox="1"/>
          <p:nvPr/>
        </p:nvSpPr>
        <p:spPr>
          <a:xfrm>
            <a:off x="502920" y="6473952"/>
            <a:ext cx="8229600" cy="274320"/>
          </a:xfrm>
          <a:prstGeom prst="rect">
            <a:avLst/>
          </a:prstGeom>
          <a:noFill/>
        </p:spPr>
        <p:txBody>
          <a:bodyPr wrap="square" anchor="t" lIns="45720" rIns="45720">
            <a:spAutoFit/>
          </a:bodyPr>
          <a:lstStyle/>
          <a:p>
            <a:pPr algn="l"/>
            <a:r>
              <a:rPr sz="900" b="0">
                <a:solidFill>
                  <a:srgbClr val="6B7785"/>
                </a:solidFill>
                <a:latin typeface="Calibri"/>
              </a:rPr>
              <a:t>ECHO ESSENTIALS  |  Dr. [Your Name]</a:t>
            </a:r>
          </a:p>
        </p:txBody>
      </p:sp>
      <p:sp>
        <p:nvSpPr>
          <p:cNvPr id="7" name="TextBox 6"/>
          <p:cNvSpPr txBox="1"/>
          <p:nvPr/>
        </p:nvSpPr>
        <p:spPr>
          <a:xfrm>
            <a:off x="10972800" y="6473952"/>
            <a:ext cx="731520" cy="274320"/>
          </a:xfrm>
          <a:prstGeom prst="rect">
            <a:avLst/>
          </a:prstGeom>
          <a:noFill/>
        </p:spPr>
        <p:txBody>
          <a:bodyPr wrap="square" anchor="t" lIns="45720" rIns="45720">
            <a:spAutoFit/>
          </a:bodyPr>
          <a:lstStyle/>
          <a:p>
            <a:pPr algn="r"/>
            <a:r>
              <a:rPr sz="1000" b="1">
                <a:solidFill>
                  <a:srgbClr val="B3202E"/>
                </a:solidFill>
                <a:latin typeface="Calibri"/>
              </a:rPr>
              <a:t>6</a:t>
            </a:r>
          </a:p>
        </p:txBody>
      </p:sp>
      <p:sp>
        <p:nvSpPr>
          <p:cNvPr id="8" name="TextBox 7"/>
          <p:cNvSpPr txBox="1"/>
          <p:nvPr/>
        </p:nvSpPr>
        <p:spPr>
          <a:xfrm>
            <a:off x="640080" y="1463040"/>
            <a:ext cx="6766560" cy="4389120"/>
          </a:xfrm>
          <a:prstGeom prst="rect">
            <a:avLst/>
          </a:prstGeom>
          <a:noFill/>
        </p:spPr>
        <p:txBody>
          <a:bodyPr wrap="square">
            <a:spAutoFit/>
          </a:bodyPr>
          <a:lstStyle/>
          <a:p>
            <a:pPr>
              <a:spcAft>
                <a:spcPts val="1000"/>
              </a:spcAft>
            </a:pPr>
            <a:r>
              <a:rPr sz="1300">
                <a:solidFill>
                  <a:srgbClr val="B3202E"/>
                </a:solidFill>
                <a:latin typeface="Calibri"/>
              </a:rPr>
              <a:t>■  </a:t>
            </a:r>
            <a:r>
              <a:rPr b="1" sz="1900">
                <a:solidFill>
                  <a:srgbClr val="0B1F3A"/>
                </a:solidFill>
                <a:latin typeface="Calibri"/>
              </a:rPr>
              <a:t>Vmax</a:t>
            </a:r>
            <a:r>
              <a:rPr sz="1900">
                <a:solidFill>
                  <a:srgbClr val="1D2733"/>
                </a:solidFill>
                <a:latin typeface="Calibri"/>
              </a:rPr>
              <a:t>  multiple windows, dedicated non-imaging probe, report the highest</a:t>
            </a:r>
          </a:p>
          <a:p>
            <a:pPr>
              <a:spcAft>
                <a:spcPts val="1000"/>
              </a:spcAft>
            </a:pPr>
            <a:r>
              <a:rPr sz="1300">
                <a:solidFill>
                  <a:srgbClr val="B3202E"/>
                </a:solidFill>
                <a:latin typeface="Calibri"/>
              </a:rPr>
              <a:t>■  </a:t>
            </a:r>
            <a:r>
              <a:rPr b="1" sz="1900">
                <a:solidFill>
                  <a:srgbClr val="0B1F3A"/>
                </a:solidFill>
                <a:latin typeface="Calibri"/>
              </a:rPr>
              <a:t>Mean gradient</a:t>
            </a:r>
            <a:r>
              <a:rPr sz="1900">
                <a:solidFill>
                  <a:srgbClr val="1D2733"/>
                </a:solidFill>
                <a:latin typeface="Calibri"/>
              </a:rPr>
              <a:t>  trace the same CW envelope</a:t>
            </a:r>
          </a:p>
          <a:p>
            <a:pPr>
              <a:spcAft>
                <a:spcPts val="1000"/>
              </a:spcAft>
            </a:pPr>
            <a:r>
              <a:rPr sz="1300">
                <a:solidFill>
                  <a:srgbClr val="B3202E"/>
                </a:solidFill>
                <a:latin typeface="Calibri"/>
              </a:rPr>
              <a:t>■  </a:t>
            </a:r>
            <a:r>
              <a:rPr b="1" sz="1900">
                <a:solidFill>
                  <a:srgbClr val="0B1F3A"/>
                </a:solidFill>
                <a:latin typeface="Calibri"/>
              </a:rPr>
              <a:t>AVA</a:t>
            </a:r>
            <a:r>
              <a:rPr sz="1900">
                <a:solidFill>
                  <a:srgbClr val="1D2733"/>
                </a:solidFill>
                <a:latin typeface="Calibri"/>
              </a:rPr>
              <a:t>  continuity equation; LVOT diameter squared, so errors amplify</a:t>
            </a:r>
          </a:p>
          <a:p>
            <a:pPr>
              <a:spcAft>
                <a:spcPts val="1000"/>
              </a:spcAft>
            </a:pPr>
            <a:r>
              <a:rPr sz="1300">
                <a:solidFill>
                  <a:srgbClr val="B3202E"/>
                </a:solidFill>
                <a:latin typeface="Calibri"/>
              </a:rPr>
              <a:t>■  </a:t>
            </a:r>
            <a:r>
              <a:rPr b="1" sz="1900">
                <a:solidFill>
                  <a:srgbClr val="0B1F3A"/>
                </a:solidFill>
                <a:latin typeface="Calibri"/>
              </a:rPr>
              <a:t>DVI</a:t>
            </a:r>
            <a:r>
              <a:rPr sz="1900">
                <a:solidFill>
                  <a:srgbClr val="1D2733"/>
                </a:solidFill>
                <a:latin typeface="Calibri"/>
              </a:rPr>
              <a:t>  VTI(LVOT) / VTI(AV); severe if ≤ 0.25; avoids LVOT diameter</a:t>
            </a:r>
          </a:p>
          <a:p>
            <a:pPr>
              <a:spcAft>
                <a:spcPts val="1000"/>
              </a:spcAft>
            </a:pPr>
            <a:r>
              <a:rPr sz="1300">
                <a:solidFill>
                  <a:srgbClr val="B3202E"/>
                </a:solidFill>
                <a:latin typeface="Calibri"/>
              </a:rPr>
              <a:t>■  </a:t>
            </a:r>
            <a:r>
              <a:rPr b="1" sz="1900">
                <a:solidFill>
                  <a:srgbClr val="0B1F3A"/>
                </a:solidFill>
                <a:latin typeface="Calibri"/>
              </a:rPr>
              <a:t>SVi</a:t>
            </a:r>
            <a:r>
              <a:rPr sz="1900">
                <a:solidFill>
                  <a:srgbClr val="1D2733"/>
                </a:solidFill>
                <a:latin typeface="Calibri"/>
              </a:rPr>
              <a:t>  (LVOT area × VTI) / BSA; low flow is &lt; 35 mL/m²</a:t>
            </a:r>
          </a:p>
        </p:txBody>
      </p:sp>
      <p:sp>
        <p:nvSpPr>
          <p:cNvPr id="9" name="Rectangle 8"/>
          <p:cNvSpPr/>
          <p:nvPr/>
        </p:nvSpPr>
        <p:spPr>
          <a:xfrm>
            <a:off x="7772400" y="1554480"/>
            <a:ext cx="3931920" cy="21031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0" y="1554480"/>
            <a:ext cx="82296" cy="2103120"/>
          </a:xfrm>
          <a:prstGeom prst="rect">
            <a:avLst/>
          </a:prstGeom>
          <a:solidFill>
            <a:srgbClr val="B32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01000" y="1627632"/>
            <a:ext cx="3566160" cy="274320"/>
          </a:xfrm>
          <a:prstGeom prst="rect">
            <a:avLst/>
          </a:prstGeom>
          <a:noFill/>
        </p:spPr>
        <p:txBody>
          <a:bodyPr wrap="square" anchor="t" lIns="45720" rIns="45720">
            <a:spAutoFit/>
          </a:bodyPr>
          <a:lstStyle/>
          <a:p>
            <a:pPr algn="l"/>
            <a:r>
              <a:rPr sz="1100" b="1">
                <a:solidFill>
                  <a:srgbClr val="B3202E"/>
                </a:solidFill>
                <a:latin typeface="Calibri"/>
              </a:rPr>
              <a:t>RULE</a:t>
            </a:r>
          </a:p>
        </p:txBody>
      </p:sp>
      <p:sp>
        <p:nvSpPr>
          <p:cNvPr id="12" name="TextBox 11"/>
          <p:cNvSpPr txBox="1"/>
          <p:nvPr/>
        </p:nvSpPr>
        <p:spPr>
          <a:xfrm>
            <a:off x="8001000" y="1920240"/>
            <a:ext cx="3566160" cy="1691639"/>
          </a:xfrm>
          <a:prstGeom prst="rect">
            <a:avLst/>
          </a:prstGeom>
          <a:noFill/>
        </p:spPr>
        <p:txBody>
          <a:bodyPr wrap="square" anchor="t" lIns="45720" rIns="45720">
            <a:spAutoFit/>
          </a:bodyPr>
          <a:lstStyle/>
          <a:p>
            <a:pPr algn="l"/>
            <a:r>
              <a:rPr sz="2000" b="0">
                <a:solidFill>
                  <a:srgbClr val="1D2733"/>
                </a:solidFill>
                <a:latin typeface="Calibri"/>
              </a:rPr>
              <a:t>Alignment errors always UNDERESTIMATE velocity.</a:t>
            </a:r>
          </a:p>
        </p:txBody>
      </p:sp>
      <p:sp>
        <p:nvSpPr>
          <p:cNvPr id="13" name="Rectangle 12"/>
          <p:cNvSpPr/>
          <p:nvPr/>
        </p:nvSpPr>
        <p:spPr>
          <a:xfrm>
            <a:off x="7772400" y="3931920"/>
            <a:ext cx="3931920" cy="20116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0" y="3931920"/>
            <a:ext cx="82296" cy="2011680"/>
          </a:xfrm>
          <a:prstGeom prst="rect">
            <a:avLst/>
          </a:prstGeom>
          <a:solidFill>
            <a:srgbClr val="1F7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4005072"/>
            <a:ext cx="3566160" cy="274320"/>
          </a:xfrm>
          <a:prstGeom prst="rect">
            <a:avLst/>
          </a:prstGeom>
          <a:noFill/>
        </p:spPr>
        <p:txBody>
          <a:bodyPr wrap="square" anchor="t" lIns="45720" rIns="45720">
            <a:spAutoFit/>
          </a:bodyPr>
          <a:lstStyle/>
          <a:p>
            <a:pPr algn="l"/>
            <a:r>
              <a:rPr sz="1100" b="1">
                <a:solidFill>
                  <a:srgbClr val="1F7A5A"/>
                </a:solidFill>
                <a:latin typeface="Calibri"/>
              </a:rPr>
              <a:t>PEARL</a:t>
            </a:r>
          </a:p>
        </p:txBody>
      </p:sp>
      <p:sp>
        <p:nvSpPr>
          <p:cNvPr id="16" name="TextBox 15"/>
          <p:cNvSpPr txBox="1"/>
          <p:nvPr/>
        </p:nvSpPr>
        <p:spPr>
          <a:xfrm>
            <a:off x="8001000" y="4297680"/>
            <a:ext cx="3566160" cy="1600200"/>
          </a:xfrm>
          <a:prstGeom prst="rect">
            <a:avLst/>
          </a:prstGeom>
          <a:noFill/>
        </p:spPr>
        <p:txBody>
          <a:bodyPr wrap="square" anchor="t" lIns="45720" rIns="45720">
            <a:spAutoFit/>
          </a:bodyPr>
          <a:lstStyle/>
          <a:p>
            <a:pPr algn="l"/>
            <a:r>
              <a:rPr sz="1500" b="0">
                <a:solidFill>
                  <a:srgbClr val="1D2733"/>
                </a:solidFill>
                <a:latin typeface="Calibri"/>
              </a:rPr>
              <a:t>The LVOT is elliptical. 2D diameter underestimates the area. Cross-check with 3D or 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45720"/>
          </a:xfrm>
          <a:prstGeom prst="rect">
            <a:avLst/>
          </a:prstGeom>
          <a:solidFill>
            <a:srgbClr val="C9A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8229600" cy="274320"/>
          </a:xfrm>
          <a:prstGeom prst="rect">
            <a:avLst/>
          </a:prstGeom>
          <a:noFill/>
        </p:spPr>
        <p:txBody>
          <a:bodyPr wrap="square" anchor="t" lIns="45720" rIns="45720">
            <a:spAutoFit/>
          </a:bodyPr>
          <a:lstStyle/>
          <a:p>
            <a:pPr algn="l"/>
            <a:r>
              <a:rPr sz="1100" b="1">
                <a:solidFill>
                  <a:srgbClr val="C9A24B"/>
                </a:solidFill>
                <a:latin typeface="Calibri"/>
              </a:rPr>
              <a:t>AORTIC STENOSIS</a:t>
            </a:r>
          </a:p>
        </p:txBody>
      </p:sp>
      <p:sp>
        <p:nvSpPr>
          <p:cNvPr id="5" name="TextBox 4"/>
          <p:cNvSpPr txBox="1"/>
          <p:nvPr/>
        </p:nvSpPr>
        <p:spPr>
          <a:xfrm>
            <a:off x="502920" y="347472"/>
            <a:ext cx="10972800" cy="640080"/>
          </a:xfrm>
          <a:prstGeom prst="rect">
            <a:avLst/>
          </a:prstGeom>
          <a:noFill/>
        </p:spPr>
        <p:txBody>
          <a:bodyPr wrap="square" anchor="t" lIns="45720" rIns="45720">
            <a:spAutoFit/>
          </a:bodyPr>
          <a:lstStyle/>
          <a:p>
            <a:pPr algn="l"/>
            <a:r>
              <a:rPr sz="2800" b="1">
                <a:solidFill>
                  <a:srgbClr val="FFFFFF"/>
                </a:solidFill>
                <a:latin typeface="Cambria"/>
              </a:rPr>
              <a:t>Aortic stenosis 2: severity grades and critical AS</a:t>
            </a:r>
          </a:p>
        </p:txBody>
      </p:sp>
      <p:sp>
        <p:nvSpPr>
          <p:cNvPr id="6" name="TextBox 5"/>
          <p:cNvSpPr txBox="1"/>
          <p:nvPr/>
        </p:nvSpPr>
        <p:spPr>
          <a:xfrm>
            <a:off x="502920" y="6473952"/>
            <a:ext cx="8229600" cy="274320"/>
          </a:xfrm>
          <a:prstGeom prst="rect">
            <a:avLst/>
          </a:prstGeom>
          <a:noFill/>
        </p:spPr>
        <p:txBody>
          <a:bodyPr wrap="square" anchor="t" lIns="45720" rIns="45720">
            <a:spAutoFit/>
          </a:bodyPr>
          <a:lstStyle/>
          <a:p>
            <a:pPr algn="l"/>
            <a:r>
              <a:rPr sz="900" b="0">
                <a:solidFill>
                  <a:srgbClr val="6B7785"/>
                </a:solidFill>
                <a:latin typeface="Calibri"/>
              </a:rPr>
              <a:t>ECHO ESSENTIALS  |  Dr. [Your Name]</a:t>
            </a:r>
          </a:p>
        </p:txBody>
      </p:sp>
      <p:sp>
        <p:nvSpPr>
          <p:cNvPr id="7" name="TextBox 6"/>
          <p:cNvSpPr txBox="1"/>
          <p:nvPr/>
        </p:nvSpPr>
        <p:spPr>
          <a:xfrm>
            <a:off x="10972800" y="6473952"/>
            <a:ext cx="731520" cy="274320"/>
          </a:xfrm>
          <a:prstGeom prst="rect">
            <a:avLst/>
          </a:prstGeom>
          <a:noFill/>
        </p:spPr>
        <p:txBody>
          <a:bodyPr wrap="square" anchor="t" lIns="45720" rIns="45720">
            <a:spAutoFit/>
          </a:bodyPr>
          <a:lstStyle/>
          <a:p>
            <a:pPr algn="r"/>
            <a:r>
              <a:rPr sz="1000" b="1">
                <a:solidFill>
                  <a:srgbClr val="B3202E"/>
                </a:solidFill>
                <a:latin typeface="Calibri"/>
              </a:rPr>
              <a:t>7</a:t>
            </a:r>
          </a:p>
        </p:txBody>
      </p:sp>
      <p:graphicFrame>
        <p:nvGraphicFramePr>
          <p:cNvPr id="8" name="Table 7"/>
          <p:cNvGraphicFramePr>
            <a:graphicFrameLocks noGrp="1"/>
          </p:cNvGraphicFramePr>
          <p:nvPr/>
        </p:nvGraphicFramePr>
        <p:xfrm>
          <a:off x="548640" y="1371600"/>
          <a:ext cx="11064240" cy="3017520"/>
        </p:xfrm>
        <a:graphic>
          <a:graphicData uri="http://schemas.openxmlformats.org/drawingml/2006/table">
            <a:tbl>
              <a:tblPr firstRow="1" bandRow="1">
                <a:tableStyleId>{5C22544A-7EE6-4342-B048-85BDC9FD1C3A}</a:tableStyleId>
              </a:tblPr>
              <a:tblGrid>
                <a:gridCol w="2926080"/>
                <a:gridCol w="1920240"/>
                <a:gridCol w="2011680"/>
                <a:gridCol w="2011680"/>
                <a:gridCol w="2194560"/>
              </a:tblGrid>
              <a:tr h="502920">
                <a:tc>
                  <a:txBody>
                    <a:bodyPr/>
                    <a:lstStyle/>
                    <a:p>
                      <a:r>
                        <a:rPr sz="1600" b="1">
                          <a:solidFill>
                            <a:srgbClr val="FFFFFF"/>
                          </a:solidFill>
                          <a:latin typeface="Calibri"/>
                        </a:rPr>
                        <a:t/>
                      </a:r>
                    </a:p>
                  </a:txBody>
                  <a:tcPr anchor="ctr">
                    <a:solidFill>
                      <a:srgbClr val="0B1F3A"/>
                    </a:solidFill>
                  </a:tcPr>
                </a:tc>
                <a:tc>
                  <a:txBody>
                    <a:bodyPr/>
                    <a:lstStyle/>
                    <a:p>
                      <a:r>
                        <a:rPr sz="1600" b="1">
                          <a:solidFill>
                            <a:srgbClr val="FFFFFF"/>
                          </a:solidFill>
                          <a:latin typeface="Calibri"/>
                        </a:rPr>
                        <a:t>Mild</a:t>
                      </a:r>
                    </a:p>
                  </a:txBody>
                  <a:tcPr anchor="ctr">
                    <a:solidFill>
                      <a:srgbClr val="0B1F3A"/>
                    </a:solidFill>
                  </a:tcPr>
                </a:tc>
                <a:tc>
                  <a:txBody>
                    <a:bodyPr/>
                    <a:lstStyle/>
                    <a:p>
                      <a:r>
                        <a:rPr sz="1600" b="1">
                          <a:solidFill>
                            <a:srgbClr val="FFFFFF"/>
                          </a:solidFill>
                          <a:latin typeface="Calibri"/>
                        </a:rPr>
                        <a:t>Moderate</a:t>
                      </a:r>
                    </a:p>
                  </a:txBody>
                  <a:tcPr anchor="ctr">
                    <a:solidFill>
                      <a:srgbClr val="0B1F3A"/>
                    </a:solidFill>
                  </a:tcPr>
                </a:tc>
                <a:tc>
                  <a:txBody>
                    <a:bodyPr/>
                    <a:lstStyle/>
                    <a:p>
                      <a:r>
                        <a:rPr sz="1600" b="1">
                          <a:solidFill>
                            <a:srgbClr val="FFFFFF"/>
                          </a:solidFill>
                          <a:latin typeface="Calibri"/>
                        </a:rPr>
                        <a:t>Severe</a:t>
                      </a:r>
                    </a:p>
                  </a:txBody>
                  <a:tcPr anchor="ctr">
                    <a:solidFill>
                      <a:srgbClr val="0B1F3A"/>
                    </a:solidFill>
                  </a:tcPr>
                </a:tc>
                <a:tc>
                  <a:txBody>
                    <a:bodyPr/>
                    <a:lstStyle/>
                    <a:p>
                      <a:r>
                        <a:rPr sz="1600" b="1">
                          <a:solidFill>
                            <a:srgbClr val="FFFFFF"/>
                          </a:solidFill>
                          <a:latin typeface="Calibri"/>
                        </a:rPr>
                        <a:t>Very severe / critical</a:t>
                      </a:r>
                    </a:p>
                  </a:txBody>
                  <a:tcPr anchor="ctr">
                    <a:solidFill>
                      <a:srgbClr val="0B1F3A"/>
                    </a:solidFill>
                  </a:tcPr>
                </a:tc>
              </a:tr>
              <a:tr h="502920">
                <a:tc>
                  <a:txBody>
                    <a:bodyPr/>
                    <a:lstStyle/>
                    <a:p>
                      <a:r>
                        <a:rPr sz="1600" b="1">
                          <a:solidFill>
                            <a:srgbClr val="1D2733"/>
                          </a:solidFill>
                          <a:latin typeface="Calibri"/>
                        </a:rPr>
                        <a:t>Vmax (m/s)</a:t>
                      </a:r>
                    </a:p>
                  </a:txBody>
                  <a:tcPr anchor="ctr">
                    <a:solidFill>
                      <a:srgbClr val="FFFFFF"/>
                    </a:solidFill>
                  </a:tcPr>
                </a:tc>
                <a:tc>
                  <a:txBody>
                    <a:bodyPr/>
                    <a:lstStyle/>
                    <a:p>
                      <a:r>
                        <a:rPr sz="1600" b="0">
                          <a:solidFill>
                            <a:srgbClr val="1D2733"/>
                          </a:solidFill>
                          <a:latin typeface="Calibri"/>
                        </a:rPr>
                        <a:t>2.6 - 2.9</a:t>
                      </a:r>
                    </a:p>
                  </a:txBody>
                  <a:tcPr anchor="ctr">
                    <a:solidFill>
                      <a:srgbClr val="FFFFFF"/>
                    </a:solidFill>
                  </a:tcPr>
                </a:tc>
                <a:tc>
                  <a:txBody>
                    <a:bodyPr/>
                    <a:lstStyle/>
                    <a:p>
                      <a:r>
                        <a:rPr sz="1600" b="0">
                          <a:solidFill>
                            <a:srgbClr val="1D2733"/>
                          </a:solidFill>
                          <a:latin typeface="Calibri"/>
                        </a:rPr>
                        <a:t>3.0 - 3.9</a:t>
                      </a:r>
                    </a:p>
                  </a:txBody>
                  <a:tcPr anchor="ctr">
                    <a:solidFill>
                      <a:srgbClr val="FFFFFF"/>
                    </a:solidFill>
                  </a:tcPr>
                </a:tc>
                <a:tc>
                  <a:txBody>
                    <a:bodyPr/>
                    <a:lstStyle/>
                    <a:p>
                      <a:r>
                        <a:rPr sz="1600" b="0">
                          <a:solidFill>
                            <a:srgbClr val="1D2733"/>
                          </a:solidFill>
                          <a:latin typeface="Calibri"/>
                        </a:rPr>
                        <a:t>≥ 4.0</a:t>
                      </a:r>
                    </a:p>
                  </a:txBody>
                  <a:tcPr anchor="ctr">
                    <a:solidFill>
                      <a:srgbClr val="FFFFFF"/>
                    </a:solidFill>
                  </a:tcPr>
                </a:tc>
                <a:tc>
                  <a:txBody>
                    <a:bodyPr/>
                    <a:lstStyle/>
                    <a:p>
                      <a:r>
                        <a:rPr sz="1600" b="0">
                          <a:solidFill>
                            <a:srgbClr val="1D2733"/>
                          </a:solidFill>
                          <a:latin typeface="Calibri"/>
                        </a:rPr>
                        <a:t>≥ 5.0</a:t>
                      </a:r>
                    </a:p>
                  </a:txBody>
                  <a:tcPr anchor="ctr">
                    <a:solidFill>
                      <a:srgbClr val="F8E1E3"/>
                    </a:solidFill>
                  </a:tcPr>
                </a:tc>
              </a:tr>
              <a:tr h="502920">
                <a:tc>
                  <a:txBody>
                    <a:bodyPr/>
                    <a:lstStyle/>
                    <a:p>
                      <a:r>
                        <a:rPr sz="1600" b="1">
                          <a:solidFill>
                            <a:srgbClr val="1D2733"/>
                          </a:solidFill>
                          <a:latin typeface="Calibri"/>
                        </a:rPr>
                        <a:t>Mean gradient (mmHg)</a:t>
                      </a:r>
                    </a:p>
                  </a:txBody>
                  <a:tcPr anchor="ctr">
                    <a:solidFill>
                      <a:srgbClr val="EEF3F9"/>
                    </a:solidFill>
                  </a:tcPr>
                </a:tc>
                <a:tc>
                  <a:txBody>
                    <a:bodyPr/>
                    <a:lstStyle/>
                    <a:p>
                      <a:r>
                        <a:rPr sz="1600" b="0">
                          <a:solidFill>
                            <a:srgbClr val="1D2733"/>
                          </a:solidFill>
                          <a:latin typeface="Calibri"/>
                        </a:rPr>
                        <a:t>&lt; 20</a:t>
                      </a:r>
                    </a:p>
                  </a:txBody>
                  <a:tcPr anchor="ctr">
                    <a:solidFill>
                      <a:srgbClr val="EEF3F9"/>
                    </a:solidFill>
                  </a:tcPr>
                </a:tc>
                <a:tc>
                  <a:txBody>
                    <a:bodyPr/>
                    <a:lstStyle/>
                    <a:p>
                      <a:r>
                        <a:rPr sz="1600" b="0">
                          <a:solidFill>
                            <a:srgbClr val="1D2733"/>
                          </a:solidFill>
                          <a:latin typeface="Calibri"/>
                        </a:rPr>
                        <a:t>20 - 39</a:t>
                      </a:r>
                    </a:p>
                  </a:txBody>
                  <a:tcPr anchor="ctr">
                    <a:solidFill>
                      <a:srgbClr val="EEF3F9"/>
                    </a:solidFill>
                  </a:tcPr>
                </a:tc>
                <a:tc>
                  <a:txBody>
                    <a:bodyPr/>
                    <a:lstStyle/>
                    <a:p>
                      <a:r>
                        <a:rPr sz="1600" b="0">
                          <a:solidFill>
                            <a:srgbClr val="1D2733"/>
                          </a:solidFill>
                          <a:latin typeface="Calibri"/>
                        </a:rPr>
                        <a:t>≥ 40</a:t>
                      </a:r>
                    </a:p>
                  </a:txBody>
                  <a:tcPr anchor="ctr">
                    <a:solidFill>
                      <a:srgbClr val="EEF3F9"/>
                    </a:solidFill>
                  </a:tcPr>
                </a:tc>
                <a:tc>
                  <a:txBody>
                    <a:bodyPr/>
                    <a:lstStyle/>
                    <a:p>
                      <a:r>
                        <a:rPr sz="1600" b="0">
                          <a:solidFill>
                            <a:srgbClr val="1D2733"/>
                          </a:solidFill>
                          <a:latin typeface="Calibri"/>
                        </a:rPr>
                        <a:t>≥ 60</a:t>
                      </a:r>
                    </a:p>
                  </a:txBody>
                  <a:tcPr anchor="ctr">
                    <a:solidFill>
                      <a:srgbClr val="F8E1E3"/>
                    </a:solidFill>
                  </a:tcPr>
                </a:tc>
              </a:tr>
              <a:tr h="502920">
                <a:tc>
                  <a:txBody>
                    <a:bodyPr/>
                    <a:lstStyle/>
                    <a:p>
                      <a:r>
                        <a:rPr sz="1600" b="1">
                          <a:solidFill>
                            <a:srgbClr val="1D2733"/>
                          </a:solidFill>
                          <a:latin typeface="Calibri"/>
                        </a:rPr>
                        <a:t>AVA (cm²)</a:t>
                      </a:r>
                    </a:p>
                  </a:txBody>
                  <a:tcPr anchor="ctr">
                    <a:solidFill>
                      <a:srgbClr val="FFFFFF"/>
                    </a:solidFill>
                  </a:tcPr>
                </a:tc>
                <a:tc>
                  <a:txBody>
                    <a:bodyPr/>
                    <a:lstStyle/>
                    <a:p>
                      <a:r>
                        <a:rPr sz="1600" b="0">
                          <a:solidFill>
                            <a:srgbClr val="1D2733"/>
                          </a:solidFill>
                          <a:latin typeface="Calibri"/>
                        </a:rPr>
                        <a:t>&gt; 1.5</a:t>
                      </a:r>
                    </a:p>
                  </a:txBody>
                  <a:tcPr anchor="ctr">
                    <a:solidFill>
                      <a:srgbClr val="FFFFFF"/>
                    </a:solidFill>
                  </a:tcPr>
                </a:tc>
                <a:tc>
                  <a:txBody>
                    <a:bodyPr/>
                    <a:lstStyle/>
                    <a:p>
                      <a:r>
                        <a:rPr sz="1600" b="0">
                          <a:solidFill>
                            <a:srgbClr val="1D2733"/>
                          </a:solidFill>
                          <a:latin typeface="Calibri"/>
                        </a:rPr>
                        <a:t>1.0 - 1.5</a:t>
                      </a:r>
                    </a:p>
                  </a:txBody>
                  <a:tcPr anchor="ctr">
                    <a:solidFill>
                      <a:srgbClr val="FFFFFF"/>
                    </a:solidFill>
                  </a:tcPr>
                </a:tc>
                <a:tc>
                  <a:txBody>
                    <a:bodyPr/>
                    <a:lstStyle/>
                    <a:p>
                      <a:r>
                        <a:rPr sz="1600" b="0">
                          <a:solidFill>
                            <a:srgbClr val="1D2733"/>
                          </a:solidFill>
                          <a:latin typeface="Calibri"/>
                        </a:rPr>
                        <a:t>≤ 1.0</a:t>
                      </a:r>
                    </a:p>
                  </a:txBody>
                  <a:tcPr anchor="ctr">
                    <a:solidFill>
                      <a:srgbClr val="FFFFFF"/>
                    </a:solidFill>
                  </a:tcPr>
                </a:tc>
                <a:tc>
                  <a:txBody>
                    <a:bodyPr/>
                    <a:lstStyle/>
                    <a:p>
                      <a:r>
                        <a:rPr sz="1600" b="0">
                          <a:solidFill>
                            <a:srgbClr val="1D2733"/>
                          </a:solidFill>
                          <a:latin typeface="Calibri"/>
                        </a:rPr>
                        <a:t>typically &lt; 0.6</a:t>
                      </a:r>
                    </a:p>
                  </a:txBody>
                  <a:tcPr anchor="ctr">
                    <a:solidFill>
                      <a:srgbClr val="F8E1E3"/>
                    </a:solidFill>
                  </a:tcPr>
                </a:tc>
              </a:tr>
              <a:tr h="502920">
                <a:tc>
                  <a:txBody>
                    <a:bodyPr/>
                    <a:lstStyle/>
                    <a:p>
                      <a:r>
                        <a:rPr sz="1600" b="1">
                          <a:solidFill>
                            <a:srgbClr val="1D2733"/>
                          </a:solidFill>
                          <a:latin typeface="Calibri"/>
                        </a:rPr>
                        <a:t>AVAi (cm²/m²)</a:t>
                      </a:r>
                    </a:p>
                  </a:txBody>
                  <a:tcPr anchor="ctr">
                    <a:solidFill>
                      <a:srgbClr val="EEF3F9"/>
                    </a:solidFill>
                  </a:tcPr>
                </a:tc>
                <a:tc>
                  <a:txBody>
                    <a:bodyPr/>
                    <a:lstStyle/>
                    <a:p>
                      <a:r>
                        <a:rPr sz="1600" b="0">
                          <a:solidFill>
                            <a:srgbClr val="1D2733"/>
                          </a:solidFill>
                          <a:latin typeface="Calibri"/>
                        </a:rPr>
                        <a:t>&gt; 0.85</a:t>
                      </a:r>
                    </a:p>
                  </a:txBody>
                  <a:tcPr anchor="ctr">
                    <a:solidFill>
                      <a:srgbClr val="EEF3F9"/>
                    </a:solidFill>
                  </a:tcPr>
                </a:tc>
                <a:tc>
                  <a:txBody>
                    <a:bodyPr/>
                    <a:lstStyle/>
                    <a:p>
                      <a:r>
                        <a:rPr sz="1600" b="0">
                          <a:solidFill>
                            <a:srgbClr val="1D2733"/>
                          </a:solidFill>
                          <a:latin typeface="Calibri"/>
                        </a:rPr>
                        <a:t>0.60 - 0.85</a:t>
                      </a:r>
                    </a:p>
                  </a:txBody>
                  <a:tcPr anchor="ctr">
                    <a:solidFill>
                      <a:srgbClr val="EEF3F9"/>
                    </a:solidFill>
                  </a:tcPr>
                </a:tc>
                <a:tc>
                  <a:txBody>
                    <a:bodyPr/>
                    <a:lstStyle/>
                    <a:p>
                      <a:r>
                        <a:rPr sz="1600" b="0">
                          <a:solidFill>
                            <a:srgbClr val="1D2733"/>
                          </a:solidFill>
                          <a:latin typeface="Calibri"/>
                        </a:rPr>
                        <a:t>≤ 0.6</a:t>
                      </a:r>
                    </a:p>
                  </a:txBody>
                  <a:tcPr anchor="ctr">
                    <a:solidFill>
                      <a:srgbClr val="EEF3F9"/>
                    </a:solidFill>
                  </a:tcPr>
                </a:tc>
                <a:tc>
                  <a:txBody>
                    <a:bodyPr/>
                    <a:lstStyle/>
                    <a:p>
                      <a:r>
                        <a:rPr sz="1600" b="0">
                          <a:solidFill>
                            <a:srgbClr val="1D2733"/>
                          </a:solidFill>
                          <a:latin typeface="Calibri"/>
                        </a:rPr>
                        <a:t>-</a:t>
                      </a:r>
                    </a:p>
                  </a:txBody>
                  <a:tcPr anchor="ctr">
                    <a:solidFill>
                      <a:srgbClr val="F8E1E3"/>
                    </a:solidFill>
                  </a:tcPr>
                </a:tc>
              </a:tr>
              <a:tr h="502920">
                <a:tc>
                  <a:txBody>
                    <a:bodyPr/>
                    <a:lstStyle/>
                    <a:p>
                      <a:r>
                        <a:rPr sz="1600" b="1">
                          <a:solidFill>
                            <a:srgbClr val="1D2733"/>
                          </a:solidFill>
                          <a:latin typeface="Calibri"/>
                        </a:rPr>
                        <a:t>DVI</a:t>
                      </a:r>
                    </a:p>
                  </a:txBody>
                  <a:tcPr anchor="ctr">
                    <a:solidFill>
                      <a:srgbClr val="FFFFFF"/>
                    </a:solidFill>
                  </a:tcPr>
                </a:tc>
                <a:tc>
                  <a:txBody>
                    <a:bodyPr/>
                    <a:lstStyle/>
                    <a:p>
                      <a:r>
                        <a:rPr sz="1600" b="0">
                          <a:solidFill>
                            <a:srgbClr val="1D2733"/>
                          </a:solidFill>
                          <a:latin typeface="Calibri"/>
                        </a:rPr>
                        <a:t>&gt; 0.50</a:t>
                      </a:r>
                    </a:p>
                  </a:txBody>
                  <a:tcPr anchor="ctr">
                    <a:solidFill>
                      <a:srgbClr val="FFFFFF"/>
                    </a:solidFill>
                  </a:tcPr>
                </a:tc>
                <a:tc>
                  <a:txBody>
                    <a:bodyPr/>
                    <a:lstStyle/>
                    <a:p>
                      <a:r>
                        <a:rPr sz="1600" b="0">
                          <a:solidFill>
                            <a:srgbClr val="1D2733"/>
                          </a:solidFill>
                          <a:latin typeface="Calibri"/>
                        </a:rPr>
                        <a:t>0.25 - 0.50</a:t>
                      </a:r>
                    </a:p>
                  </a:txBody>
                  <a:tcPr anchor="ctr">
                    <a:solidFill>
                      <a:srgbClr val="FFFFFF"/>
                    </a:solidFill>
                  </a:tcPr>
                </a:tc>
                <a:tc>
                  <a:txBody>
                    <a:bodyPr/>
                    <a:lstStyle/>
                    <a:p>
                      <a:r>
                        <a:rPr sz="1600" b="0">
                          <a:solidFill>
                            <a:srgbClr val="1D2733"/>
                          </a:solidFill>
                          <a:latin typeface="Calibri"/>
                        </a:rPr>
                        <a:t>≤ 0.25</a:t>
                      </a:r>
                    </a:p>
                  </a:txBody>
                  <a:tcPr anchor="ctr">
                    <a:solidFill>
                      <a:srgbClr val="FFFFFF"/>
                    </a:solidFill>
                  </a:tcPr>
                </a:tc>
                <a:tc>
                  <a:txBody>
                    <a:bodyPr/>
                    <a:lstStyle/>
                    <a:p>
                      <a:r>
                        <a:rPr sz="1600" b="0">
                          <a:solidFill>
                            <a:srgbClr val="1D2733"/>
                          </a:solidFill>
                          <a:latin typeface="Calibri"/>
                        </a:rPr>
                        <a:t>-</a:t>
                      </a:r>
                    </a:p>
                  </a:txBody>
                  <a:tcPr anchor="ctr">
                    <a:solidFill>
                      <a:srgbClr val="F8E1E3"/>
                    </a:solidFill>
                  </a:tcPr>
                </a:tc>
              </a:tr>
            </a:tbl>
          </a:graphicData>
        </a:graphic>
      </p:graphicFrame>
      <p:sp>
        <p:nvSpPr>
          <p:cNvPr id="9" name="Rectangle 8"/>
          <p:cNvSpPr/>
          <p:nvPr/>
        </p:nvSpPr>
        <p:spPr>
          <a:xfrm>
            <a:off x="548640" y="4663440"/>
            <a:ext cx="11064240" cy="160020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4663440"/>
            <a:ext cx="82296" cy="1600200"/>
          </a:xfrm>
          <a:prstGeom prst="rect">
            <a:avLst/>
          </a:prstGeom>
          <a:solidFill>
            <a:srgbClr val="B32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736592"/>
            <a:ext cx="10698480" cy="274320"/>
          </a:xfrm>
          <a:prstGeom prst="rect">
            <a:avLst/>
          </a:prstGeom>
          <a:noFill/>
        </p:spPr>
        <p:txBody>
          <a:bodyPr wrap="square" anchor="t" lIns="45720" rIns="45720">
            <a:spAutoFit/>
          </a:bodyPr>
          <a:lstStyle/>
          <a:p>
            <a:pPr algn="l"/>
            <a:r>
              <a:rPr sz="1100" b="1">
                <a:solidFill>
                  <a:srgbClr val="B3202E"/>
                </a:solidFill>
                <a:latin typeface="Calibri"/>
              </a:rPr>
              <a:t>CRITICAL AS</a:t>
            </a:r>
          </a:p>
        </p:txBody>
      </p:sp>
      <p:sp>
        <p:nvSpPr>
          <p:cNvPr id="12" name="TextBox 11"/>
          <p:cNvSpPr txBox="1"/>
          <p:nvPr/>
        </p:nvSpPr>
        <p:spPr>
          <a:xfrm>
            <a:off x="777240" y="5029200"/>
            <a:ext cx="10698480" cy="1188720"/>
          </a:xfrm>
          <a:prstGeom prst="rect">
            <a:avLst/>
          </a:prstGeom>
          <a:noFill/>
        </p:spPr>
        <p:txBody>
          <a:bodyPr wrap="square" anchor="t" lIns="45720" rIns="45720">
            <a:spAutoFit/>
          </a:bodyPr>
          <a:lstStyle/>
          <a:p>
            <a:pPr algn="l"/>
            <a:r>
              <a:rPr sz="1500" b="0">
                <a:solidFill>
                  <a:srgbClr val="1D2733"/>
                </a:solidFill>
                <a:latin typeface="Calibri"/>
              </a:rPr>
              <a:t>Adult: Vmax ≥ 5 m/s and/or MG ≥ 60 mmHg (very severe). State the numbers, not just the word.  Neonatal critical AS is a separate, duct-dependent entity. A patient can be critically stenosed with a modest gradient if flow is 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45720"/>
          </a:xfrm>
          <a:prstGeom prst="rect">
            <a:avLst/>
          </a:prstGeom>
          <a:solidFill>
            <a:srgbClr val="C9A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8229600" cy="274320"/>
          </a:xfrm>
          <a:prstGeom prst="rect">
            <a:avLst/>
          </a:prstGeom>
          <a:noFill/>
        </p:spPr>
        <p:txBody>
          <a:bodyPr wrap="square" anchor="t" lIns="45720" rIns="45720">
            <a:spAutoFit/>
          </a:bodyPr>
          <a:lstStyle/>
          <a:p>
            <a:pPr algn="l"/>
            <a:r>
              <a:rPr sz="1100" b="1">
                <a:solidFill>
                  <a:srgbClr val="C9A24B"/>
                </a:solidFill>
                <a:latin typeface="Calibri"/>
              </a:rPr>
              <a:t>AORTIC STENOSIS</a:t>
            </a:r>
          </a:p>
        </p:txBody>
      </p:sp>
      <p:sp>
        <p:nvSpPr>
          <p:cNvPr id="5" name="TextBox 4"/>
          <p:cNvSpPr txBox="1"/>
          <p:nvPr/>
        </p:nvSpPr>
        <p:spPr>
          <a:xfrm>
            <a:off x="502920" y="347472"/>
            <a:ext cx="10972800" cy="640080"/>
          </a:xfrm>
          <a:prstGeom prst="rect">
            <a:avLst/>
          </a:prstGeom>
          <a:noFill/>
        </p:spPr>
        <p:txBody>
          <a:bodyPr wrap="square" anchor="t" lIns="45720" rIns="45720">
            <a:spAutoFit/>
          </a:bodyPr>
          <a:lstStyle/>
          <a:p>
            <a:pPr algn="l"/>
            <a:r>
              <a:rPr sz="2800" b="1">
                <a:solidFill>
                  <a:srgbClr val="FFFFFF"/>
                </a:solidFill>
                <a:latin typeface="Cambria"/>
              </a:rPr>
              <a:t>Aortic stenosis 3: the discordance algorithm</a:t>
            </a:r>
          </a:p>
        </p:txBody>
      </p:sp>
      <p:sp>
        <p:nvSpPr>
          <p:cNvPr id="6" name="TextBox 5"/>
          <p:cNvSpPr txBox="1"/>
          <p:nvPr/>
        </p:nvSpPr>
        <p:spPr>
          <a:xfrm>
            <a:off x="502920" y="6473952"/>
            <a:ext cx="8229600" cy="274320"/>
          </a:xfrm>
          <a:prstGeom prst="rect">
            <a:avLst/>
          </a:prstGeom>
          <a:noFill/>
        </p:spPr>
        <p:txBody>
          <a:bodyPr wrap="square" anchor="t" lIns="45720" rIns="45720">
            <a:spAutoFit/>
          </a:bodyPr>
          <a:lstStyle/>
          <a:p>
            <a:pPr algn="l"/>
            <a:r>
              <a:rPr sz="900" b="0">
                <a:solidFill>
                  <a:srgbClr val="6B7785"/>
                </a:solidFill>
                <a:latin typeface="Calibri"/>
              </a:rPr>
              <a:t>ECHO ESSENTIALS  |  Dr. [Your Name]</a:t>
            </a:r>
          </a:p>
        </p:txBody>
      </p:sp>
      <p:sp>
        <p:nvSpPr>
          <p:cNvPr id="7" name="TextBox 6"/>
          <p:cNvSpPr txBox="1"/>
          <p:nvPr/>
        </p:nvSpPr>
        <p:spPr>
          <a:xfrm>
            <a:off x="10972800" y="6473952"/>
            <a:ext cx="731520" cy="274320"/>
          </a:xfrm>
          <a:prstGeom prst="rect">
            <a:avLst/>
          </a:prstGeom>
          <a:noFill/>
        </p:spPr>
        <p:txBody>
          <a:bodyPr wrap="square" anchor="t" lIns="45720" rIns="45720">
            <a:spAutoFit/>
          </a:bodyPr>
          <a:lstStyle/>
          <a:p>
            <a:pPr algn="r"/>
            <a:r>
              <a:rPr sz="1000" b="1">
                <a:solidFill>
                  <a:srgbClr val="B3202E"/>
                </a:solidFill>
                <a:latin typeface="Calibri"/>
              </a:rPr>
              <a:t>8</a:t>
            </a:r>
          </a:p>
        </p:txBody>
      </p:sp>
      <p:sp>
        <p:nvSpPr>
          <p:cNvPr id="8" name="Rounded Rectangle 7"/>
          <p:cNvSpPr/>
          <p:nvPr/>
        </p:nvSpPr>
        <p:spPr>
          <a:xfrm>
            <a:off x="4023360" y="1325880"/>
            <a:ext cx="4114800" cy="594360"/>
          </a:xfrm>
          <a:prstGeom prst="roundRect">
            <a:avLst/>
          </a:prstGeom>
          <a:solidFill>
            <a:srgbClr val="C77C0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AVA ≤ 1.0 cm² with MG &lt; 40 mmHg</a:t>
            </a:r>
          </a:p>
          <a:p>
            <a:pPr algn="ctr"/>
            <a:r>
              <a:rPr sz="1500" b="1">
                <a:solidFill>
                  <a:srgbClr val="FFFFFF"/>
                </a:solidFill>
                <a:latin typeface="Calibri"/>
              </a:rPr>
              <a:t>(discordant grading)</a:t>
            </a:r>
          </a:p>
        </p:txBody>
      </p:sp>
      <p:sp>
        <p:nvSpPr>
          <p:cNvPr id="9" name="Down Arrow 8"/>
          <p:cNvSpPr/>
          <p:nvPr/>
        </p:nvSpPr>
        <p:spPr>
          <a:xfrm>
            <a:off x="5943600" y="1938528"/>
            <a:ext cx="274320" cy="274320"/>
          </a:xfrm>
          <a:prstGeom prst="downArrow">
            <a:avLst/>
          </a:prstGeom>
          <a:solidFill>
            <a:srgbClr val="6B77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023360" y="2240280"/>
            <a:ext cx="4114800" cy="548640"/>
          </a:xfrm>
          <a:prstGeom prst="roundRect">
            <a:avLst/>
          </a:prstGeom>
          <a:solidFill>
            <a:srgbClr val="1331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Calibri"/>
              </a:rPr>
              <a:t>Measure SVi and LVEF</a:t>
            </a:r>
          </a:p>
        </p:txBody>
      </p:sp>
      <p:sp>
        <p:nvSpPr>
          <p:cNvPr id="11" name="Down Arrow 10"/>
          <p:cNvSpPr/>
          <p:nvPr/>
        </p:nvSpPr>
        <p:spPr>
          <a:xfrm>
            <a:off x="5943600" y="2807208"/>
            <a:ext cx="274320" cy="274320"/>
          </a:xfrm>
          <a:prstGeom prst="downArrow">
            <a:avLst/>
          </a:prstGeom>
          <a:solidFill>
            <a:srgbClr val="6B77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3200400"/>
            <a:ext cx="3566160" cy="1371600"/>
          </a:xfrm>
          <a:prstGeom prst="roundRect">
            <a:avLst/>
          </a:prstGeom>
          <a:solidFill>
            <a:srgbClr val="7A0F1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LFLG, REDUCED EF</a:t>
            </a:r>
          </a:p>
          <a:p>
            <a:pPr algn="ctr"/>
            <a:r>
              <a:rPr sz="1500" b="1">
                <a:solidFill>
                  <a:srgbClr val="FFFFFF"/>
                </a:solidFill>
                <a:latin typeface="Calibri"/>
              </a:rPr>
              <a:t>SVi &lt; 35, LVEF &lt; 50%</a:t>
            </a:r>
          </a:p>
          <a:p>
            <a:pPr algn="ctr"/>
            <a:r>
              <a:rPr sz="1500" b="1">
                <a:solidFill>
                  <a:srgbClr val="FFFFFF"/>
                </a:solidFill>
                <a:latin typeface="Calibri"/>
              </a:rPr>
              <a:t>DSE and/or CT calcium</a:t>
            </a:r>
          </a:p>
        </p:txBody>
      </p:sp>
      <p:sp>
        <p:nvSpPr>
          <p:cNvPr id="13" name="Rounded Rectangle 12"/>
          <p:cNvSpPr/>
          <p:nvPr/>
        </p:nvSpPr>
        <p:spPr>
          <a:xfrm>
            <a:off x="4297680" y="3200400"/>
            <a:ext cx="3566160" cy="1371600"/>
          </a:xfrm>
          <a:prstGeom prst="roundRect">
            <a:avLst/>
          </a:prstGeom>
          <a:solidFill>
            <a:srgbClr val="B3202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PARADOXICAL LFLG</a:t>
            </a:r>
          </a:p>
          <a:p>
            <a:pPr algn="ctr"/>
            <a:r>
              <a:rPr sz="1500" b="1">
                <a:solidFill>
                  <a:srgbClr val="FFFFFF"/>
                </a:solidFill>
                <a:latin typeface="Calibri"/>
              </a:rPr>
              <a:t>SVi &lt; 35, LVEF ≥ 50%</a:t>
            </a:r>
          </a:p>
          <a:p>
            <a:pPr algn="ctr"/>
            <a:r>
              <a:rPr sz="1500" b="1">
                <a:solidFill>
                  <a:srgbClr val="FFFFFF"/>
                </a:solidFill>
                <a:latin typeface="Calibri"/>
              </a:rPr>
              <a:t>Exclude errors, CT calcium</a:t>
            </a:r>
          </a:p>
        </p:txBody>
      </p:sp>
      <p:sp>
        <p:nvSpPr>
          <p:cNvPr id="14" name="Rounded Rectangle 13"/>
          <p:cNvSpPr/>
          <p:nvPr/>
        </p:nvSpPr>
        <p:spPr>
          <a:xfrm>
            <a:off x="8046720" y="3200400"/>
            <a:ext cx="3566160" cy="1371600"/>
          </a:xfrm>
          <a:prstGeom prst="roundRect">
            <a:avLst/>
          </a:prstGeom>
          <a:solidFill>
            <a:srgbClr val="1F7A5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NORMAL-FLOW LG</a:t>
            </a:r>
          </a:p>
          <a:p>
            <a:pPr algn="ctr"/>
            <a:r>
              <a:rPr sz="1500" b="1">
                <a:solidFill>
                  <a:srgbClr val="FFFFFF"/>
                </a:solidFill>
                <a:latin typeface="Calibri"/>
              </a:rPr>
              <a:t>SVi ≥ 35, LVEF ≥ 50%</a:t>
            </a:r>
          </a:p>
          <a:p>
            <a:pPr algn="ctr"/>
            <a:r>
              <a:rPr sz="1500" b="1">
                <a:solidFill>
                  <a:srgbClr val="FFFFFF"/>
                </a:solidFill>
                <a:latin typeface="Calibri"/>
              </a:rPr>
              <a:t>Usually moderate AS</a:t>
            </a:r>
          </a:p>
        </p:txBody>
      </p:sp>
      <p:sp>
        <p:nvSpPr>
          <p:cNvPr id="15" name="Rectangle 14"/>
          <p:cNvSpPr/>
          <p:nvPr/>
        </p:nvSpPr>
        <p:spPr>
          <a:xfrm>
            <a:off x="548640" y="4846320"/>
            <a:ext cx="11064240" cy="14173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846320"/>
            <a:ext cx="82296" cy="1417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919472"/>
            <a:ext cx="10698480" cy="274320"/>
          </a:xfrm>
          <a:prstGeom prst="rect">
            <a:avLst/>
          </a:prstGeom>
          <a:noFill/>
        </p:spPr>
        <p:txBody>
          <a:bodyPr wrap="square" anchor="t" lIns="45720" rIns="45720">
            <a:spAutoFit/>
          </a:bodyPr>
          <a:lstStyle/>
          <a:p>
            <a:pPr algn="l"/>
            <a:r>
              <a:rPr sz="1100" b="1">
                <a:solidFill>
                  <a:srgbClr val="0B1F3A"/>
                </a:solidFill>
                <a:latin typeface="Calibri"/>
              </a:rPr>
              <a:t>CONFIRM WITH CT CALCIUM (AGATSTON)</a:t>
            </a:r>
          </a:p>
        </p:txBody>
      </p:sp>
      <p:sp>
        <p:nvSpPr>
          <p:cNvPr id="18" name="TextBox 17"/>
          <p:cNvSpPr txBox="1"/>
          <p:nvPr/>
        </p:nvSpPr>
        <p:spPr>
          <a:xfrm>
            <a:off x="777240" y="5212080"/>
            <a:ext cx="10698480" cy="1005840"/>
          </a:xfrm>
          <a:prstGeom prst="rect">
            <a:avLst/>
          </a:prstGeom>
          <a:noFill/>
        </p:spPr>
        <p:txBody>
          <a:bodyPr wrap="square" anchor="t" lIns="45720" rIns="45720">
            <a:spAutoFit/>
          </a:bodyPr>
          <a:lstStyle/>
          <a:p>
            <a:pPr algn="l"/>
            <a:r>
              <a:rPr sz="1500" b="0">
                <a:solidFill>
                  <a:srgbClr val="1D2733"/>
                </a:solidFill>
                <a:latin typeface="Calibri"/>
              </a:rPr>
              <a:t>Severe very likely: men ≥ 3000, women ≥ 1600.   Likely: men ≥ 2000, women ≥ 1200.   Unlikely: men &lt; 1600, women &lt; 800.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45720"/>
          </a:xfrm>
          <a:prstGeom prst="rect">
            <a:avLst/>
          </a:prstGeom>
          <a:solidFill>
            <a:srgbClr val="C9A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8229600" cy="274320"/>
          </a:xfrm>
          <a:prstGeom prst="rect">
            <a:avLst/>
          </a:prstGeom>
          <a:noFill/>
        </p:spPr>
        <p:txBody>
          <a:bodyPr wrap="square" anchor="t" lIns="45720" rIns="45720">
            <a:spAutoFit/>
          </a:bodyPr>
          <a:lstStyle/>
          <a:p>
            <a:pPr algn="l"/>
            <a:r>
              <a:rPr sz="1100" b="1">
                <a:solidFill>
                  <a:srgbClr val="C9A24B"/>
                </a:solidFill>
                <a:latin typeface="Calibri"/>
              </a:rPr>
              <a:t>AORTIC STENOSIS</a:t>
            </a:r>
          </a:p>
        </p:txBody>
      </p:sp>
      <p:sp>
        <p:nvSpPr>
          <p:cNvPr id="5" name="TextBox 4"/>
          <p:cNvSpPr txBox="1"/>
          <p:nvPr/>
        </p:nvSpPr>
        <p:spPr>
          <a:xfrm>
            <a:off x="502920" y="347472"/>
            <a:ext cx="10972800" cy="640080"/>
          </a:xfrm>
          <a:prstGeom prst="rect">
            <a:avLst/>
          </a:prstGeom>
          <a:noFill/>
        </p:spPr>
        <p:txBody>
          <a:bodyPr wrap="square" anchor="t" lIns="45720" rIns="45720">
            <a:spAutoFit/>
          </a:bodyPr>
          <a:lstStyle/>
          <a:p>
            <a:pPr algn="l"/>
            <a:r>
              <a:rPr sz="2800" b="1">
                <a:solidFill>
                  <a:srgbClr val="FFFFFF"/>
                </a:solidFill>
                <a:latin typeface="Cambria"/>
              </a:rPr>
              <a:t>Low-flow, low-gradient AS with reduced EF (classical)</a:t>
            </a:r>
          </a:p>
        </p:txBody>
      </p:sp>
      <p:sp>
        <p:nvSpPr>
          <p:cNvPr id="6" name="TextBox 5"/>
          <p:cNvSpPr txBox="1"/>
          <p:nvPr/>
        </p:nvSpPr>
        <p:spPr>
          <a:xfrm>
            <a:off x="502920" y="6473952"/>
            <a:ext cx="8229600" cy="274320"/>
          </a:xfrm>
          <a:prstGeom prst="rect">
            <a:avLst/>
          </a:prstGeom>
          <a:noFill/>
        </p:spPr>
        <p:txBody>
          <a:bodyPr wrap="square" anchor="t" lIns="45720" rIns="45720">
            <a:spAutoFit/>
          </a:bodyPr>
          <a:lstStyle/>
          <a:p>
            <a:pPr algn="l"/>
            <a:r>
              <a:rPr sz="900" b="0">
                <a:solidFill>
                  <a:srgbClr val="6B7785"/>
                </a:solidFill>
                <a:latin typeface="Calibri"/>
              </a:rPr>
              <a:t>ECHO ESSENTIALS  |  Dr. [Your Name]</a:t>
            </a:r>
          </a:p>
        </p:txBody>
      </p:sp>
      <p:sp>
        <p:nvSpPr>
          <p:cNvPr id="7" name="TextBox 6"/>
          <p:cNvSpPr txBox="1"/>
          <p:nvPr/>
        </p:nvSpPr>
        <p:spPr>
          <a:xfrm>
            <a:off x="10972800" y="6473952"/>
            <a:ext cx="731520" cy="274320"/>
          </a:xfrm>
          <a:prstGeom prst="rect">
            <a:avLst/>
          </a:prstGeom>
          <a:noFill/>
        </p:spPr>
        <p:txBody>
          <a:bodyPr wrap="square" anchor="t" lIns="45720" rIns="45720">
            <a:spAutoFit/>
          </a:bodyPr>
          <a:lstStyle/>
          <a:p>
            <a:pPr algn="r"/>
            <a:r>
              <a:rPr sz="1000" b="1">
                <a:solidFill>
                  <a:srgbClr val="B3202E"/>
                </a:solidFill>
                <a:latin typeface="Calibri"/>
              </a:rPr>
              <a:t>9</a:t>
            </a:r>
          </a:p>
        </p:txBody>
      </p:sp>
      <p:sp>
        <p:nvSpPr>
          <p:cNvPr id="8" name="TextBox 7"/>
          <p:cNvSpPr txBox="1"/>
          <p:nvPr/>
        </p:nvSpPr>
        <p:spPr>
          <a:xfrm>
            <a:off x="640080" y="1463040"/>
            <a:ext cx="6583680" cy="4389120"/>
          </a:xfrm>
          <a:prstGeom prst="rect">
            <a:avLst/>
          </a:prstGeom>
          <a:noFill/>
        </p:spPr>
        <p:txBody>
          <a:bodyPr wrap="square">
            <a:spAutoFit/>
          </a:bodyPr>
          <a:lstStyle/>
          <a:p>
            <a:pPr>
              <a:spcAft>
                <a:spcPts val="800"/>
              </a:spcAft>
            </a:pPr>
            <a:r>
              <a:rPr sz="1200">
                <a:solidFill>
                  <a:srgbClr val="B3202E"/>
                </a:solidFill>
                <a:latin typeface="Calibri"/>
              </a:rPr>
              <a:t>■  </a:t>
            </a:r>
            <a:r>
              <a:rPr b="1" sz="1800">
                <a:solidFill>
                  <a:srgbClr val="0B1F3A"/>
                </a:solidFill>
                <a:latin typeface="Calibri"/>
              </a:rPr>
              <a:t>Definition</a:t>
            </a:r>
            <a:r>
              <a:rPr sz="1800">
                <a:solidFill>
                  <a:srgbClr val="1D2733"/>
                </a:solidFill>
                <a:latin typeface="Calibri"/>
              </a:rPr>
              <a:t>  AVA ≤ 1.0, MG &lt; 40, LVEF &lt; 50%, SVi &lt; 35 (ACC/AHA stage D2)</a:t>
            </a:r>
          </a:p>
          <a:p>
            <a:pPr>
              <a:spcAft>
                <a:spcPts val="800"/>
              </a:spcAft>
            </a:pPr>
            <a:r>
              <a:rPr sz="1200">
                <a:solidFill>
                  <a:srgbClr val="B3202E"/>
                </a:solidFill>
                <a:latin typeface="Calibri"/>
              </a:rPr>
              <a:t>■  </a:t>
            </a:r>
            <a:r>
              <a:rPr b="1" sz="1800">
                <a:solidFill>
                  <a:srgbClr val="0B1F3A"/>
                </a:solidFill>
                <a:latin typeface="Calibri"/>
              </a:rPr>
              <a:t>Question</a:t>
            </a:r>
            <a:r>
              <a:rPr sz="1800">
                <a:solidFill>
                  <a:srgbClr val="1D2733"/>
                </a:solidFill>
                <a:latin typeface="Calibri"/>
              </a:rPr>
              <a:t>  true-severe AS, or a weak ventricle with a moderate valve?</a:t>
            </a:r>
          </a:p>
          <a:p>
            <a:pPr>
              <a:spcAft>
                <a:spcPts val="800"/>
              </a:spcAft>
            </a:pPr>
            <a:r>
              <a:rPr sz="1200">
                <a:solidFill>
                  <a:srgbClr val="B3202E"/>
                </a:solidFill>
                <a:latin typeface="Calibri"/>
              </a:rPr>
              <a:t>■  </a:t>
            </a:r>
            <a:r>
              <a:rPr b="1" sz="1800">
                <a:solidFill>
                  <a:srgbClr val="0B1F3A"/>
                </a:solidFill>
                <a:latin typeface="Calibri"/>
              </a:rPr>
              <a:t>DSE</a:t>
            </a:r>
            <a:r>
              <a:rPr sz="1800">
                <a:solidFill>
                  <a:srgbClr val="1D2733"/>
                </a:solidFill>
                <a:latin typeface="Calibri"/>
              </a:rPr>
              <a:t>  dobutamine 5 to 20 µg/kg/min</a:t>
            </a:r>
          </a:p>
          <a:p>
            <a:pPr>
              <a:spcAft>
                <a:spcPts val="800"/>
              </a:spcAft>
            </a:pPr>
            <a:r>
              <a:rPr sz="1200">
                <a:solidFill>
                  <a:srgbClr val="B3202E"/>
                </a:solidFill>
                <a:latin typeface="Calibri"/>
              </a:rPr>
              <a:t>■  </a:t>
            </a:r>
            <a:r>
              <a:rPr b="1" sz="1800">
                <a:solidFill>
                  <a:srgbClr val="0B1F3A"/>
                </a:solidFill>
                <a:latin typeface="Calibri"/>
              </a:rPr>
              <a:t>Flow reserve</a:t>
            </a:r>
            <a:r>
              <a:rPr sz="1800">
                <a:solidFill>
                  <a:srgbClr val="1D2733"/>
                </a:solidFill>
                <a:latin typeface="Calibri"/>
              </a:rPr>
              <a:t>  stroke volume rise ≥ 20%</a:t>
            </a:r>
          </a:p>
          <a:p>
            <a:pPr>
              <a:spcAft>
                <a:spcPts val="800"/>
              </a:spcAft>
            </a:pPr>
            <a:r>
              <a:rPr sz="1200">
                <a:solidFill>
                  <a:srgbClr val="B3202E"/>
                </a:solidFill>
                <a:latin typeface="Calibri"/>
              </a:rPr>
              <a:t>■  </a:t>
            </a:r>
            <a:r>
              <a:rPr b="1" sz="1800">
                <a:solidFill>
                  <a:srgbClr val="0B1F3A"/>
                </a:solidFill>
                <a:latin typeface="Calibri"/>
              </a:rPr>
              <a:t>True-severe</a:t>
            </a:r>
            <a:r>
              <a:rPr sz="1800">
                <a:solidFill>
                  <a:srgbClr val="1D2733"/>
                </a:solidFill>
                <a:latin typeface="Calibri"/>
              </a:rPr>
              <a:t>  AVA stays ≤ 1.0 with Vmax ≥ 4 m/s at higher flow</a:t>
            </a:r>
          </a:p>
          <a:p>
            <a:pPr>
              <a:spcAft>
                <a:spcPts val="800"/>
              </a:spcAft>
            </a:pPr>
            <a:r>
              <a:rPr sz="1200">
                <a:solidFill>
                  <a:srgbClr val="B3202E"/>
                </a:solidFill>
                <a:latin typeface="Calibri"/>
              </a:rPr>
              <a:t>■  </a:t>
            </a:r>
            <a:r>
              <a:rPr b="1" sz="1800">
                <a:solidFill>
                  <a:srgbClr val="0B1F3A"/>
                </a:solidFill>
                <a:latin typeface="Calibri"/>
              </a:rPr>
              <a:t>Pseudo-severe</a:t>
            </a:r>
            <a:r>
              <a:rPr sz="1800">
                <a:solidFill>
                  <a:srgbClr val="1D2733"/>
                </a:solidFill>
                <a:latin typeface="Calibri"/>
              </a:rPr>
              <a:t>  AVA rises above 1.0-1.2, gradient stays low</a:t>
            </a:r>
          </a:p>
          <a:p>
            <a:pPr>
              <a:spcAft>
                <a:spcPts val="800"/>
              </a:spcAft>
            </a:pPr>
            <a:r>
              <a:rPr sz="1200">
                <a:solidFill>
                  <a:srgbClr val="B3202E"/>
                </a:solidFill>
                <a:latin typeface="Calibri"/>
              </a:rPr>
              <a:t>■  </a:t>
            </a:r>
            <a:r>
              <a:rPr b="1" sz="1800">
                <a:solidFill>
                  <a:srgbClr val="0B1F3A"/>
                </a:solidFill>
                <a:latin typeface="Calibri"/>
              </a:rPr>
              <a:t>No flow reserve</a:t>
            </a:r>
            <a:r>
              <a:rPr sz="1800">
                <a:solidFill>
                  <a:srgbClr val="1D2733"/>
                </a:solidFill>
                <a:latin typeface="Calibri"/>
              </a:rPr>
              <a:t>  non-diagnostic; use CT calcium; risk higher but AVR still helps</a:t>
            </a:r>
          </a:p>
        </p:txBody>
      </p:sp>
      <p:sp>
        <p:nvSpPr>
          <p:cNvPr id="9" name="Rectangle 8"/>
          <p:cNvSpPr/>
          <p:nvPr/>
        </p:nvSpPr>
        <p:spPr>
          <a:xfrm>
            <a:off x="7589520" y="1554480"/>
            <a:ext cx="4114800" cy="21031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589520" y="1554480"/>
            <a:ext cx="82296" cy="2103120"/>
          </a:xfrm>
          <a:prstGeom prst="rect">
            <a:avLst/>
          </a:prstGeom>
          <a:solidFill>
            <a:srgbClr val="1F7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20" y="1627632"/>
            <a:ext cx="3749039" cy="274320"/>
          </a:xfrm>
          <a:prstGeom prst="rect">
            <a:avLst/>
          </a:prstGeom>
          <a:noFill/>
        </p:spPr>
        <p:txBody>
          <a:bodyPr wrap="square" anchor="t" lIns="45720" rIns="45720">
            <a:spAutoFit/>
          </a:bodyPr>
          <a:lstStyle/>
          <a:p>
            <a:pPr algn="l"/>
            <a:r>
              <a:rPr sz="1100" b="1">
                <a:solidFill>
                  <a:srgbClr val="1F7A5A"/>
                </a:solidFill>
                <a:latin typeface="Calibri"/>
              </a:rPr>
              <a:t>MANAGEMENT</a:t>
            </a:r>
          </a:p>
        </p:txBody>
      </p:sp>
      <p:sp>
        <p:nvSpPr>
          <p:cNvPr id="12" name="TextBox 11"/>
          <p:cNvSpPr txBox="1"/>
          <p:nvPr/>
        </p:nvSpPr>
        <p:spPr>
          <a:xfrm>
            <a:off x="7818120" y="1920240"/>
            <a:ext cx="3749039" cy="1691639"/>
          </a:xfrm>
          <a:prstGeom prst="rect">
            <a:avLst/>
          </a:prstGeom>
          <a:noFill/>
        </p:spPr>
        <p:txBody>
          <a:bodyPr wrap="square" anchor="t" lIns="45720" rIns="45720">
            <a:spAutoFit/>
          </a:bodyPr>
          <a:lstStyle/>
          <a:p>
            <a:pPr algn="l"/>
            <a:r>
              <a:rPr sz="1600" b="0">
                <a:solidFill>
                  <a:srgbClr val="1D2733"/>
                </a:solidFill>
                <a:latin typeface="Calibri"/>
              </a:rPr>
              <a:t>Confirmed severe: AVR recommended. TAVI is often preferred if surgical risk is high.</a:t>
            </a:r>
          </a:p>
        </p:txBody>
      </p:sp>
      <p:sp>
        <p:nvSpPr>
          <p:cNvPr id="13" name="Rectangle 12"/>
          <p:cNvSpPr/>
          <p:nvPr/>
        </p:nvSpPr>
        <p:spPr>
          <a:xfrm>
            <a:off x="7589520" y="3931920"/>
            <a:ext cx="4114800" cy="20116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89520" y="3931920"/>
            <a:ext cx="82296" cy="2011680"/>
          </a:xfrm>
          <a:prstGeom prst="rect">
            <a:avLst/>
          </a:prstGeom>
          <a:solidFill>
            <a:srgbClr val="B32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18120" y="4005072"/>
            <a:ext cx="3749039" cy="274320"/>
          </a:xfrm>
          <a:prstGeom prst="rect">
            <a:avLst/>
          </a:prstGeom>
          <a:noFill/>
        </p:spPr>
        <p:txBody>
          <a:bodyPr wrap="square" anchor="t" lIns="45720" rIns="45720">
            <a:spAutoFit/>
          </a:bodyPr>
          <a:lstStyle/>
          <a:p>
            <a:pPr algn="l"/>
            <a:r>
              <a:rPr sz="1100" b="1">
                <a:solidFill>
                  <a:srgbClr val="B3202E"/>
                </a:solidFill>
                <a:latin typeface="Calibri"/>
              </a:rPr>
              <a:t>COMMON ERROR</a:t>
            </a:r>
          </a:p>
        </p:txBody>
      </p:sp>
      <p:sp>
        <p:nvSpPr>
          <p:cNvPr id="16" name="TextBox 15"/>
          <p:cNvSpPr txBox="1"/>
          <p:nvPr/>
        </p:nvSpPr>
        <p:spPr>
          <a:xfrm>
            <a:off x="7818120" y="4297680"/>
            <a:ext cx="3749039" cy="1600200"/>
          </a:xfrm>
          <a:prstGeom prst="rect">
            <a:avLst/>
          </a:prstGeom>
          <a:noFill/>
        </p:spPr>
        <p:txBody>
          <a:bodyPr wrap="square" anchor="t" lIns="45720" rIns="45720">
            <a:spAutoFit/>
          </a:bodyPr>
          <a:lstStyle/>
          <a:p>
            <a:pPr algn="l"/>
            <a:r>
              <a:rPr sz="1500" b="0">
                <a:solidFill>
                  <a:srgbClr val="1D2733"/>
                </a:solidFill>
                <a:latin typeface="Calibri"/>
              </a:rPr>
              <a:t>Declaring pseudo-severe AS without checking that a true stress response (flow rise) was reached.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45720"/>
          </a:xfrm>
          <a:prstGeom prst="rect">
            <a:avLst/>
          </a:prstGeom>
          <a:solidFill>
            <a:srgbClr val="C9A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8229600" cy="274320"/>
          </a:xfrm>
          <a:prstGeom prst="rect">
            <a:avLst/>
          </a:prstGeom>
          <a:noFill/>
        </p:spPr>
        <p:txBody>
          <a:bodyPr wrap="square" anchor="t" lIns="45720" rIns="45720">
            <a:spAutoFit/>
          </a:bodyPr>
          <a:lstStyle/>
          <a:p>
            <a:pPr algn="l"/>
            <a:r>
              <a:rPr sz="1100" b="1">
                <a:solidFill>
                  <a:srgbClr val="C9A24B"/>
                </a:solidFill>
                <a:latin typeface="Calibri"/>
              </a:rPr>
              <a:t>AORTIC STENOSIS</a:t>
            </a:r>
          </a:p>
        </p:txBody>
      </p:sp>
      <p:sp>
        <p:nvSpPr>
          <p:cNvPr id="5" name="TextBox 4"/>
          <p:cNvSpPr txBox="1"/>
          <p:nvPr/>
        </p:nvSpPr>
        <p:spPr>
          <a:xfrm>
            <a:off x="502920" y="347472"/>
            <a:ext cx="10972800" cy="640080"/>
          </a:xfrm>
          <a:prstGeom prst="rect">
            <a:avLst/>
          </a:prstGeom>
          <a:noFill/>
        </p:spPr>
        <p:txBody>
          <a:bodyPr wrap="square" anchor="t" lIns="45720" rIns="45720">
            <a:spAutoFit/>
          </a:bodyPr>
          <a:lstStyle/>
          <a:p>
            <a:pPr algn="l"/>
            <a:r>
              <a:rPr sz="2800" b="1">
                <a:solidFill>
                  <a:srgbClr val="FFFFFF"/>
                </a:solidFill>
                <a:latin typeface="Cambria"/>
              </a:rPr>
              <a:t>Paradoxical low-flow AS with preserved EF</a:t>
            </a:r>
          </a:p>
        </p:txBody>
      </p:sp>
      <p:sp>
        <p:nvSpPr>
          <p:cNvPr id="6" name="TextBox 5"/>
          <p:cNvSpPr txBox="1"/>
          <p:nvPr/>
        </p:nvSpPr>
        <p:spPr>
          <a:xfrm>
            <a:off x="502920" y="6473952"/>
            <a:ext cx="8229600" cy="274320"/>
          </a:xfrm>
          <a:prstGeom prst="rect">
            <a:avLst/>
          </a:prstGeom>
          <a:noFill/>
        </p:spPr>
        <p:txBody>
          <a:bodyPr wrap="square" anchor="t" lIns="45720" rIns="45720">
            <a:spAutoFit/>
          </a:bodyPr>
          <a:lstStyle/>
          <a:p>
            <a:pPr algn="l"/>
            <a:r>
              <a:rPr sz="900" b="0">
                <a:solidFill>
                  <a:srgbClr val="6B7785"/>
                </a:solidFill>
                <a:latin typeface="Calibri"/>
              </a:rPr>
              <a:t>ECHO ESSENTIALS  |  Dr. [Your Name]</a:t>
            </a:r>
          </a:p>
        </p:txBody>
      </p:sp>
      <p:sp>
        <p:nvSpPr>
          <p:cNvPr id="7" name="TextBox 6"/>
          <p:cNvSpPr txBox="1"/>
          <p:nvPr/>
        </p:nvSpPr>
        <p:spPr>
          <a:xfrm>
            <a:off x="10972800" y="6473952"/>
            <a:ext cx="731520" cy="274320"/>
          </a:xfrm>
          <a:prstGeom prst="rect">
            <a:avLst/>
          </a:prstGeom>
          <a:noFill/>
        </p:spPr>
        <p:txBody>
          <a:bodyPr wrap="square" anchor="t" lIns="45720" rIns="45720">
            <a:spAutoFit/>
          </a:bodyPr>
          <a:lstStyle/>
          <a:p>
            <a:pPr algn="r"/>
            <a:r>
              <a:rPr sz="1000" b="1">
                <a:solidFill>
                  <a:srgbClr val="B3202E"/>
                </a:solidFill>
                <a:latin typeface="Calibri"/>
              </a:rPr>
              <a:t>10</a:t>
            </a:r>
          </a:p>
        </p:txBody>
      </p:sp>
      <p:sp>
        <p:nvSpPr>
          <p:cNvPr id="8" name="TextBox 7"/>
          <p:cNvSpPr txBox="1"/>
          <p:nvPr/>
        </p:nvSpPr>
        <p:spPr>
          <a:xfrm>
            <a:off x="640080" y="1463040"/>
            <a:ext cx="5760720" cy="4389120"/>
          </a:xfrm>
          <a:prstGeom prst="rect">
            <a:avLst/>
          </a:prstGeom>
          <a:noFill/>
        </p:spPr>
        <p:txBody>
          <a:bodyPr wrap="square">
            <a:spAutoFit/>
          </a:bodyPr>
          <a:lstStyle/>
          <a:p>
            <a:pPr>
              <a:spcAft>
                <a:spcPts val="1000"/>
              </a:spcAft>
            </a:pPr>
            <a:r>
              <a:rPr sz="1200">
                <a:solidFill>
                  <a:srgbClr val="B3202E"/>
                </a:solidFill>
                <a:latin typeface="Calibri"/>
              </a:rPr>
              <a:t>■  </a:t>
            </a:r>
            <a:r>
              <a:rPr b="1" sz="1800">
                <a:solidFill>
                  <a:srgbClr val="0B1F3A"/>
                </a:solidFill>
                <a:latin typeface="Calibri"/>
              </a:rPr>
              <a:t>Definition</a:t>
            </a:r>
            <a:r>
              <a:rPr sz="1800">
                <a:solidFill>
                  <a:srgbClr val="1D2733"/>
                </a:solidFill>
                <a:latin typeface="Calibri"/>
              </a:rPr>
              <a:t>  AVA ≤ 1.0 (AVAi ≤ 0.6), MG &lt; 40, LVEF ≥ 50%, SVi &lt; 35 (stage D3)</a:t>
            </a:r>
          </a:p>
          <a:p>
            <a:pPr>
              <a:spcAft>
                <a:spcPts val="1000"/>
              </a:spcAft>
            </a:pPr>
            <a:r>
              <a:rPr sz="1200">
                <a:solidFill>
                  <a:srgbClr val="B3202E"/>
                </a:solidFill>
                <a:latin typeface="Calibri"/>
              </a:rPr>
              <a:t>■  </a:t>
            </a:r>
            <a:r>
              <a:rPr b="1" sz="1800">
                <a:solidFill>
                  <a:srgbClr val="0B1F3A"/>
                </a:solidFill>
                <a:latin typeface="Calibri"/>
              </a:rPr>
              <a:t>Typical</a:t>
            </a:r>
            <a:r>
              <a:rPr sz="1800">
                <a:solidFill>
                  <a:srgbClr val="1D2733"/>
                </a:solidFill>
                <a:latin typeface="Calibri"/>
              </a:rPr>
              <a:t>  older women, small hypertrophied LV, hypertension, restrictive physiology, low GLS</a:t>
            </a:r>
          </a:p>
          <a:p>
            <a:pPr>
              <a:spcAft>
                <a:spcPts val="1000"/>
              </a:spcAft>
            </a:pPr>
            <a:r>
              <a:rPr sz="1200">
                <a:solidFill>
                  <a:srgbClr val="B3202E"/>
                </a:solidFill>
                <a:latin typeface="Calibri"/>
              </a:rPr>
              <a:t>■  </a:t>
            </a:r>
            <a:r>
              <a:rPr b="1" sz="1800">
                <a:solidFill>
                  <a:srgbClr val="0B1F3A"/>
                </a:solidFill>
                <a:latin typeface="Calibri"/>
              </a:rPr>
              <a:t>Prognosis</a:t>
            </a:r>
            <a:r>
              <a:rPr sz="1800">
                <a:solidFill>
                  <a:srgbClr val="1D2733"/>
                </a:solidFill>
                <a:latin typeface="Calibri"/>
              </a:rPr>
              <a:t>  similar to high-gradient severe AS</a:t>
            </a:r>
          </a:p>
          <a:p>
            <a:pPr>
              <a:spcAft>
                <a:spcPts val="1000"/>
              </a:spcAft>
            </a:pPr>
            <a:r>
              <a:rPr sz="1200">
                <a:solidFill>
                  <a:srgbClr val="B3202E"/>
                </a:solidFill>
                <a:latin typeface="Calibri"/>
              </a:rPr>
              <a:t>■  </a:t>
            </a:r>
            <a:r>
              <a:rPr b="1" sz="1800">
                <a:solidFill>
                  <a:srgbClr val="0B1F3A"/>
                </a:solidFill>
                <a:latin typeface="Calibri"/>
              </a:rPr>
              <a:t>Test</a:t>
            </a:r>
            <a:r>
              <a:rPr sz="1800">
                <a:solidFill>
                  <a:srgbClr val="1D2733"/>
                </a:solidFill>
                <a:latin typeface="Calibri"/>
              </a:rPr>
              <a:t>  CT calcium; dobutamine cannot raise flow in a small stiff LV</a:t>
            </a:r>
          </a:p>
        </p:txBody>
      </p:sp>
      <p:graphicFrame>
        <p:nvGraphicFramePr>
          <p:cNvPr id="9" name="Table 8"/>
          <p:cNvGraphicFramePr>
            <a:graphicFrameLocks noGrp="1"/>
          </p:cNvGraphicFramePr>
          <p:nvPr/>
        </p:nvGraphicFramePr>
        <p:xfrm>
          <a:off x="6766560" y="1463040"/>
          <a:ext cx="4937760" cy="2743200"/>
        </p:xfrm>
        <a:graphic>
          <a:graphicData uri="http://schemas.openxmlformats.org/drawingml/2006/table">
            <a:tbl>
              <a:tblPr firstRow="1" bandRow="1">
                <a:tableStyleId>{5C22544A-7EE6-4342-B048-85BDC9FD1C3A}</a:tableStyleId>
              </a:tblPr>
              <a:tblGrid>
                <a:gridCol w="1828800"/>
                <a:gridCol w="3108960"/>
              </a:tblGrid>
              <a:tr h="457200">
                <a:tc>
                  <a:txBody>
                    <a:bodyPr/>
                    <a:lstStyle/>
                    <a:p>
                      <a:r>
                        <a:rPr sz="1400" b="1">
                          <a:solidFill>
                            <a:srgbClr val="FFFFFF"/>
                          </a:solidFill>
                          <a:latin typeface="Calibri"/>
                        </a:rPr>
                        <a:t>Check before believing it</a:t>
                      </a:r>
                    </a:p>
                  </a:txBody>
                  <a:tcPr anchor="ctr">
                    <a:solidFill>
                      <a:srgbClr val="0B1F3A"/>
                    </a:solidFill>
                  </a:tcPr>
                </a:tc>
                <a:tc>
                  <a:txBody>
                    <a:bodyPr/>
                    <a:lstStyle/>
                    <a:p>
                      <a:r>
                        <a:rPr sz="1400" b="1">
                          <a:solidFill>
                            <a:srgbClr val="FFFFFF"/>
                          </a:solidFill>
                          <a:latin typeface="Calibri"/>
                        </a:rPr>
                        <a:t/>
                      </a:r>
                    </a:p>
                  </a:txBody>
                  <a:tcPr anchor="ctr">
                    <a:solidFill>
                      <a:srgbClr val="0B1F3A"/>
                    </a:solidFill>
                  </a:tcPr>
                </a:tc>
              </a:tr>
              <a:tr h="457200">
                <a:tc>
                  <a:txBody>
                    <a:bodyPr/>
                    <a:lstStyle/>
                    <a:p>
                      <a:r>
                        <a:rPr sz="1400" b="1">
                          <a:solidFill>
                            <a:srgbClr val="1D2733"/>
                          </a:solidFill>
                          <a:latin typeface="Calibri"/>
                        </a:rPr>
                        <a:t>BP</a:t>
                      </a:r>
                    </a:p>
                  </a:txBody>
                  <a:tcPr anchor="ctr">
                    <a:solidFill>
                      <a:srgbClr val="FFFFFF"/>
                    </a:solidFill>
                  </a:tcPr>
                </a:tc>
                <a:tc>
                  <a:txBody>
                    <a:bodyPr/>
                    <a:lstStyle/>
                    <a:p>
                      <a:r>
                        <a:rPr sz="1400" b="0">
                          <a:solidFill>
                            <a:srgbClr val="1D2733"/>
                          </a:solidFill>
                          <a:latin typeface="Calibri"/>
                        </a:rPr>
                        <a:t>SBP &lt; 140 at study</a:t>
                      </a:r>
                    </a:p>
                  </a:txBody>
                  <a:tcPr anchor="ctr">
                    <a:solidFill>
                      <a:srgbClr val="FFFFFF"/>
                    </a:solidFill>
                  </a:tcPr>
                </a:tc>
              </a:tr>
              <a:tr h="457200">
                <a:tc>
                  <a:txBody>
                    <a:bodyPr/>
                    <a:lstStyle/>
                    <a:p>
                      <a:r>
                        <a:rPr sz="1400" b="1">
                          <a:solidFill>
                            <a:srgbClr val="1D2733"/>
                          </a:solidFill>
                          <a:latin typeface="Calibri"/>
                        </a:rPr>
                        <a:t>LVOT area</a:t>
                      </a:r>
                    </a:p>
                  </a:txBody>
                  <a:tcPr anchor="ctr">
                    <a:solidFill>
                      <a:srgbClr val="EEF3F9"/>
                    </a:solidFill>
                  </a:tcPr>
                </a:tc>
                <a:tc>
                  <a:txBody>
                    <a:bodyPr/>
                    <a:lstStyle/>
                    <a:p>
                      <a:r>
                        <a:rPr sz="1400" b="0">
                          <a:solidFill>
                            <a:srgbClr val="1D2733"/>
                          </a:solidFill>
                          <a:latin typeface="Calibri"/>
                        </a:rPr>
                        <a:t>3D or CT</a:t>
                      </a:r>
                    </a:p>
                  </a:txBody>
                  <a:tcPr anchor="ctr">
                    <a:solidFill>
                      <a:srgbClr val="EEF3F9"/>
                    </a:solidFill>
                  </a:tcPr>
                </a:tc>
              </a:tr>
              <a:tr h="457200">
                <a:tc>
                  <a:txBody>
                    <a:bodyPr/>
                    <a:lstStyle/>
                    <a:p>
                      <a:r>
                        <a:rPr sz="1400" b="1">
                          <a:solidFill>
                            <a:srgbClr val="1D2733"/>
                          </a:solidFill>
                          <a:latin typeface="Calibri"/>
                        </a:rPr>
                        <a:t>Body size</a:t>
                      </a:r>
                    </a:p>
                  </a:txBody>
                  <a:tcPr anchor="ctr">
                    <a:solidFill>
                      <a:srgbClr val="FFFFFF"/>
                    </a:solidFill>
                  </a:tcPr>
                </a:tc>
                <a:tc>
                  <a:txBody>
                    <a:bodyPr/>
                    <a:lstStyle/>
                    <a:p>
                      <a:r>
                        <a:rPr sz="1400" b="0">
                          <a:solidFill>
                            <a:srgbClr val="1D2733"/>
                          </a:solidFill>
                          <a:latin typeface="Calibri"/>
                        </a:rPr>
                        <a:t>Use AVAi</a:t>
                      </a:r>
                    </a:p>
                  </a:txBody>
                  <a:tcPr anchor="ctr">
                    <a:solidFill>
                      <a:srgbClr val="FFFFFF"/>
                    </a:solidFill>
                  </a:tcPr>
                </a:tc>
              </a:tr>
              <a:tr h="457200">
                <a:tc>
                  <a:txBody>
                    <a:bodyPr/>
                    <a:lstStyle/>
                    <a:p>
                      <a:r>
                        <a:rPr sz="1400" b="1">
                          <a:solidFill>
                            <a:srgbClr val="1D2733"/>
                          </a:solidFill>
                          <a:latin typeface="Calibri"/>
                        </a:rPr>
                        <a:t>Rhythm</a:t>
                      </a:r>
                    </a:p>
                  </a:txBody>
                  <a:tcPr anchor="ctr">
                    <a:solidFill>
                      <a:srgbClr val="EEF3F9"/>
                    </a:solidFill>
                  </a:tcPr>
                </a:tc>
                <a:tc>
                  <a:txBody>
                    <a:bodyPr/>
                    <a:lstStyle/>
                    <a:p>
                      <a:r>
                        <a:rPr sz="1400" b="0">
                          <a:solidFill>
                            <a:srgbClr val="1D2733"/>
                          </a:solidFill>
                          <a:latin typeface="Calibri"/>
                        </a:rPr>
                        <a:t>Average 5 beats in AF</a:t>
                      </a:r>
                    </a:p>
                  </a:txBody>
                  <a:tcPr anchor="ctr">
                    <a:solidFill>
                      <a:srgbClr val="EEF3F9"/>
                    </a:solidFill>
                  </a:tcPr>
                </a:tc>
              </a:tr>
              <a:tr h="457200">
                <a:tc>
                  <a:txBody>
                    <a:bodyPr/>
                    <a:lstStyle/>
                    <a:p>
                      <a:r>
                        <a:rPr sz="1400" b="1">
                          <a:solidFill>
                            <a:srgbClr val="1D2733"/>
                          </a:solidFill>
                          <a:latin typeface="Calibri"/>
                        </a:rPr>
                        <a:t>Mimics</a:t>
                      </a:r>
                    </a:p>
                  </a:txBody>
                  <a:tcPr anchor="ctr">
                    <a:solidFill>
                      <a:srgbClr val="FFFFFF"/>
                    </a:solidFill>
                  </a:tcPr>
                </a:tc>
                <a:tc>
                  <a:txBody>
                    <a:bodyPr/>
                    <a:lstStyle/>
                    <a:p>
                      <a:r>
                        <a:rPr sz="1400" b="0">
                          <a:solidFill>
                            <a:srgbClr val="1D2733"/>
                          </a:solidFill>
                          <a:latin typeface="Calibri"/>
                        </a:rPr>
                        <a:t>Amyloid, MR, MS, AR</a:t>
                      </a:r>
                    </a:p>
                  </a:txBody>
                  <a:tcPr anchor="ctr">
                    <a:solidFill>
                      <a:srgbClr val="FFFFFF"/>
                    </a:solidFill>
                  </a:tcPr>
                </a:tc>
              </a:tr>
            </a:tbl>
          </a:graphicData>
        </a:graphic>
      </p:graphicFrame>
      <p:sp>
        <p:nvSpPr>
          <p:cNvPr id="10" name="Rectangle 9"/>
          <p:cNvSpPr/>
          <p:nvPr/>
        </p:nvSpPr>
        <p:spPr>
          <a:xfrm>
            <a:off x="640080" y="4846320"/>
            <a:ext cx="11064240" cy="137160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4846320"/>
            <a:ext cx="82296" cy="1371600"/>
          </a:xfrm>
          <a:prstGeom prst="rect">
            <a:avLst/>
          </a:prstGeom>
          <a:solidFill>
            <a:srgbClr val="C77C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919472"/>
            <a:ext cx="10698480" cy="274320"/>
          </a:xfrm>
          <a:prstGeom prst="rect">
            <a:avLst/>
          </a:prstGeom>
          <a:noFill/>
        </p:spPr>
        <p:txBody>
          <a:bodyPr wrap="square" anchor="t" lIns="45720" rIns="45720">
            <a:spAutoFit/>
          </a:bodyPr>
          <a:lstStyle/>
          <a:p>
            <a:pPr algn="l"/>
            <a:r>
              <a:rPr sz="1100" b="1">
                <a:solidFill>
                  <a:srgbClr val="C77C0E"/>
                </a:solidFill>
                <a:latin typeface="Calibri"/>
              </a:rPr>
              <a:t>TEACH</a:t>
            </a:r>
          </a:p>
        </p:txBody>
      </p:sp>
      <p:sp>
        <p:nvSpPr>
          <p:cNvPr id="13" name="TextBox 12"/>
          <p:cNvSpPr txBox="1"/>
          <p:nvPr/>
        </p:nvSpPr>
        <p:spPr>
          <a:xfrm>
            <a:off x="868680" y="5212080"/>
            <a:ext cx="10698480" cy="960120"/>
          </a:xfrm>
          <a:prstGeom prst="rect">
            <a:avLst/>
          </a:prstGeom>
          <a:noFill/>
        </p:spPr>
        <p:txBody>
          <a:bodyPr wrap="square" anchor="t" lIns="45720" rIns="45720">
            <a:spAutoFit/>
          </a:bodyPr>
          <a:lstStyle/>
          <a:p>
            <a:pPr algn="l"/>
            <a:r>
              <a:rPr sz="1500" b="0">
                <a:solidFill>
                  <a:srgbClr val="1D2733"/>
                </a:solidFill>
                <a:latin typeface="Calibri"/>
              </a:rPr>
              <a:t>Normal-flow low-gradient AS (SVi ≥ 35) is a third group: usually moderate AS or a measurement inconsistency. Re-check measurements before calling it severe.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45720"/>
          </a:xfrm>
          <a:prstGeom prst="rect">
            <a:avLst/>
          </a:prstGeom>
          <a:solidFill>
            <a:srgbClr val="C9A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8229600" cy="274320"/>
          </a:xfrm>
          <a:prstGeom prst="rect">
            <a:avLst/>
          </a:prstGeom>
          <a:noFill/>
        </p:spPr>
        <p:txBody>
          <a:bodyPr wrap="square" anchor="t" lIns="45720" rIns="45720">
            <a:spAutoFit/>
          </a:bodyPr>
          <a:lstStyle/>
          <a:p>
            <a:pPr algn="l"/>
            <a:r>
              <a:rPr sz="1100" b="1">
                <a:solidFill>
                  <a:srgbClr val="C9A24B"/>
                </a:solidFill>
                <a:latin typeface="Calibri"/>
              </a:rPr>
              <a:t>AORTIC STENOSIS</a:t>
            </a:r>
          </a:p>
        </p:txBody>
      </p:sp>
      <p:sp>
        <p:nvSpPr>
          <p:cNvPr id="5" name="TextBox 4"/>
          <p:cNvSpPr txBox="1"/>
          <p:nvPr/>
        </p:nvSpPr>
        <p:spPr>
          <a:xfrm>
            <a:off x="502920" y="347472"/>
            <a:ext cx="10972800" cy="640080"/>
          </a:xfrm>
          <a:prstGeom prst="rect">
            <a:avLst/>
          </a:prstGeom>
          <a:noFill/>
        </p:spPr>
        <p:txBody>
          <a:bodyPr wrap="square" anchor="t" lIns="45720" rIns="45720">
            <a:spAutoFit/>
          </a:bodyPr>
          <a:lstStyle/>
          <a:p>
            <a:pPr algn="l"/>
            <a:r>
              <a:rPr sz="2800" b="1">
                <a:solidFill>
                  <a:srgbClr val="FFFFFF"/>
                </a:solidFill>
                <a:latin typeface="Cambria"/>
              </a:rPr>
              <a:t>Aortic stenosis 4: from numbers to decisions</a:t>
            </a:r>
          </a:p>
        </p:txBody>
      </p:sp>
      <p:sp>
        <p:nvSpPr>
          <p:cNvPr id="6" name="TextBox 5"/>
          <p:cNvSpPr txBox="1"/>
          <p:nvPr/>
        </p:nvSpPr>
        <p:spPr>
          <a:xfrm>
            <a:off x="502920" y="6473952"/>
            <a:ext cx="8229600" cy="274320"/>
          </a:xfrm>
          <a:prstGeom prst="rect">
            <a:avLst/>
          </a:prstGeom>
          <a:noFill/>
        </p:spPr>
        <p:txBody>
          <a:bodyPr wrap="square" anchor="t" lIns="45720" rIns="45720">
            <a:spAutoFit/>
          </a:bodyPr>
          <a:lstStyle/>
          <a:p>
            <a:pPr algn="l"/>
            <a:r>
              <a:rPr sz="900" b="0">
                <a:solidFill>
                  <a:srgbClr val="6B7785"/>
                </a:solidFill>
                <a:latin typeface="Calibri"/>
              </a:rPr>
              <a:t>ECHO ESSENTIALS  |  Dr. [Your Name]</a:t>
            </a:r>
          </a:p>
        </p:txBody>
      </p:sp>
      <p:sp>
        <p:nvSpPr>
          <p:cNvPr id="7" name="TextBox 6"/>
          <p:cNvSpPr txBox="1"/>
          <p:nvPr/>
        </p:nvSpPr>
        <p:spPr>
          <a:xfrm>
            <a:off x="10972800" y="6473952"/>
            <a:ext cx="731520" cy="274320"/>
          </a:xfrm>
          <a:prstGeom prst="rect">
            <a:avLst/>
          </a:prstGeom>
          <a:noFill/>
        </p:spPr>
        <p:txBody>
          <a:bodyPr wrap="square" anchor="t" lIns="45720" rIns="45720">
            <a:spAutoFit/>
          </a:bodyPr>
          <a:lstStyle/>
          <a:p>
            <a:pPr algn="r"/>
            <a:r>
              <a:rPr sz="1000" b="1">
                <a:solidFill>
                  <a:srgbClr val="B3202E"/>
                </a:solidFill>
                <a:latin typeface="Calibri"/>
              </a:rPr>
              <a:t>11</a:t>
            </a:r>
          </a:p>
        </p:txBody>
      </p:sp>
      <p:graphicFrame>
        <p:nvGraphicFramePr>
          <p:cNvPr id="8" name="Table 7"/>
          <p:cNvGraphicFramePr>
            <a:graphicFrameLocks noGrp="1"/>
          </p:cNvGraphicFramePr>
          <p:nvPr/>
        </p:nvGraphicFramePr>
        <p:xfrm>
          <a:off x="548640" y="1371600"/>
          <a:ext cx="11064240" cy="3657600"/>
        </p:xfrm>
        <a:graphic>
          <a:graphicData uri="http://schemas.openxmlformats.org/drawingml/2006/table">
            <a:tbl>
              <a:tblPr firstRow="1" bandRow="1">
                <a:tableStyleId>{5C22544A-7EE6-4342-B048-85BDC9FD1C3A}</a:tableStyleId>
              </a:tblPr>
              <a:tblGrid>
                <a:gridCol w="4754880"/>
                <a:gridCol w="6309360"/>
              </a:tblGrid>
              <a:tr h="457200">
                <a:tc>
                  <a:txBody>
                    <a:bodyPr/>
                    <a:lstStyle/>
                    <a:p>
                      <a:r>
                        <a:rPr sz="1400" b="1">
                          <a:solidFill>
                            <a:srgbClr val="FFFFFF"/>
                          </a:solidFill>
                          <a:latin typeface="Calibri"/>
                        </a:rPr>
                        <a:t>Situation</a:t>
                      </a:r>
                    </a:p>
                  </a:txBody>
                  <a:tcPr anchor="ctr">
                    <a:solidFill>
                      <a:srgbClr val="0B1F3A"/>
                    </a:solidFill>
                  </a:tcPr>
                </a:tc>
                <a:tc>
                  <a:txBody>
                    <a:bodyPr/>
                    <a:lstStyle/>
                    <a:p>
                      <a:r>
                        <a:rPr sz="1400" b="1">
                          <a:solidFill>
                            <a:srgbClr val="FFFFFF"/>
                          </a:solidFill>
                          <a:latin typeface="Calibri"/>
                        </a:rPr>
                        <a:t>Typical recommendation</a:t>
                      </a:r>
                    </a:p>
                  </a:txBody>
                  <a:tcPr anchor="ctr">
                    <a:solidFill>
                      <a:srgbClr val="0B1F3A"/>
                    </a:solidFill>
                  </a:tcPr>
                </a:tc>
              </a:tr>
              <a:tr h="457200">
                <a:tc>
                  <a:txBody>
                    <a:bodyPr/>
                    <a:lstStyle/>
                    <a:p>
                      <a:r>
                        <a:rPr sz="1400" b="1">
                          <a:solidFill>
                            <a:srgbClr val="1D2733"/>
                          </a:solidFill>
                          <a:latin typeface="Calibri"/>
                        </a:rPr>
                        <a:t>Symptomatic severe high-gradient</a:t>
                      </a:r>
                    </a:p>
                  </a:txBody>
                  <a:tcPr anchor="ctr">
                    <a:solidFill>
                      <a:srgbClr val="FFFFFF"/>
                    </a:solidFill>
                  </a:tcPr>
                </a:tc>
                <a:tc>
                  <a:txBody>
                    <a:bodyPr/>
                    <a:lstStyle/>
                    <a:p>
                      <a:r>
                        <a:rPr sz="1400" b="0">
                          <a:solidFill>
                            <a:srgbClr val="1D2733"/>
                          </a:solidFill>
                          <a:latin typeface="Calibri"/>
                        </a:rPr>
                        <a:t>Intervention (Class I)</a:t>
                      </a:r>
                    </a:p>
                  </a:txBody>
                  <a:tcPr anchor="ctr">
                    <a:solidFill>
                      <a:srgbClr val="FFFFFF"/>
                    </a:solidFill>
                  </a:tcPr>
                </a:tc>
              </a:tr>
              <a:tr h="457200">
                <a:tc>
                  <a:txBody>
                    <a:bodyPr/>
                    <a:lstStyle/>
                    <a:p>
                      <a:r>
                        <a:rPr sz="1400" b="1">
                          <a:solidFill>
                            <a:srgbClr val="1D2733"/>
                          </a:solidFill>
                          <a:latin typeface="Calibri"/>
                        </a:rPr>
                        <a:t>Symptomatic severe LFLG, reduced EF</a:t>
                      </a:r>
                    </a:p>
                  </a:txBody>
                  <a:tcPr anchor="ctr">
                    <a:solidFill>
                      <a:srgbClr val="EEF3F9"/>
                    </a:solidFill>
                  </a:tcPr>
                </a:tc>
                <a:tc>
                  <a:txBody>
                    <a:bodyPr/>
                    <a:lstStyle/>
                    <a:p>
                      <a:r>
                        <a:rPr sz="1400" b="0">
                          <a:solidFill>
                            <a:srgbClr val="1D2733"/>
                          </a:solidFill>
                          <a:latin typeface="Calibri"/>
                        </a:rPr>
                        <a:t>Intervention (Class I) once severity confirmed</a:t>
                      </a:r>
                    </a:p>
                  </a:txBody>
                  <a:tcPr anchor="ctr">
                    <a:solidFill>
                      <a:srgbClr val="EEF3F9"/>
                    </a:solidFill>
                  </a:tcPr>
                </a:tc>
              </a:tr>
              <a:tr h="457200">
                <a:tc>
                  <a:txBody>
                    <a:bodyPr/>
                    <a:lstStyle/>
                    <a:p>
                      <a:r>
                        <a:rPr sz="1400" b="1">
                          <a:solidFill>
                            <a:srgbClr val="1D2733"/>
                          </a:solidFill>
                          <a:latin typeface="Calibri"/>
                        </a:rPr>
                        <a:t>Symptomatic severe LFLG, preserved EF</a:t>
                      </a:r>
                    </a:p>
                  </a:txBody>
                  <a:tcPr anchor="ctr">
                    <a:solidFill>
                      <a:srgbClr val="FFFFFF"/>
                    </a:solidFill>
                  </a:tcPr>
                </a:tc>
                <a:tc>
                  <a:txBody>
                    <a:bodyPr/>
                    <a:lstStyle/>
                    <a:p>
                      <a:r>
                        <a:rPr sz="1400" b="0">
                          <a:solidFill>
                            <a:srgbClr val="1D2733"/>
                          </a:solidFill>
                          <a:latin typeface="Calibri"/>
                        </a:rPr>
                        <a:t>Intervention if confirmed and symptoms unexplained otherwise</a:t>
                      </a:r>
                    </a:p>
                  </a:txBody>
                  <a:tcPr anchor="ctr">
                    <a:solidFill>
                      <a:srgbClr val="FFFFFF"/>
                    </a:solidFill>
                  </a:tcPr>
                </a:tc>
              </a:tr>
              <a:tr h="457200">
                <a:tc>
                  <a:txBody>
                    <a:bodyPr/>
                    <a:lstStyle/>
                    <a:p>
                      <a:r>
                        <a:rPr sz="1400" b="1">
                          <a:solidFill>
                            <a:srgbClr val="1D2733"/>
                          </a:solidFill>
                          <a:latin typeface="Calibri"/>
                        </a:rPr>
                        <a:t>Asymptomatic, LVEF &lt; 50%</a:t>
                      </a:r>
                    </a:p>
                  </a:txBody>
                  <a:tcPr anchor="ctr">
                    <a:solidFill>
                      <a:srgbClr val="EEF3F9"/>
                    </a:solidFill>
                  </a:tcPr>
                </a:tc>
                <a:tc>
                  <a:txBody>
                    <a:bodyPr/>
                    <a:lstStyle/>
                    <a:p>
                      <a:r>
                        <a:rPr sz="1400" b="0">
                          <a:solidFill>
                            <a:srgbClr val="1D2733"/>
                          </a:solidFill>
                          <a:latin typeface="Calibri"/>
                        </a:rPr>
                        <a:t>Intervention (Class I, ESC 2021); check 2025 text</a:t>
                      </a:r>
                    </a:p>
                  </a:txBody>
                  <a:tcPr anchor="ctr">
                    <a:solidFill>
                      <a:srgbClr val="EEF3F9"/>
                    </a:solidFill>
                  </a:tcPr>
                </a:tc>
              </a:tr>
              <a:tr h="457200">
                <a:tc>
                  <a:txBody>
                    <a:bodyPr/>
                    <a:lstStyle/>
                    <a:p>
                      <a:r>
                        <a:rPr sz="1400" b="1">
                          <a:solidFill>
                            <a:srgbClr val="1D2733"/>
                          </a:solidFill>
                          <a:latin typeface="Calibri"/>
                        </a:rPr>
                        <a:t>Asymptomatic, positive exercise test</a:t>
                      </a:r>
                    </a:p>
                  </a:txBody>
                  <a:tcPr anchor="ctr">
                    <a:solidFill>
                      <a:srgbClr val="FFFFFF"/>
                    </a:solidFill>
                  </a:tcPr>
                </a:tc>
                <a:tc>
                  <a:txBody>
                    <a:bodyPr/>
                    <a:lstStyle/>
                    <a:p>
                      <a:r>
                        <a:rPr sz="1400" b="0">
                          <a:solidFill>
                            <a:srgbClr val="1D2733"/>
                          </a:solidFill>
                          <a:latin typeface="Calibri"/>
                        </a:rPr>
                        <a:t>Intervention</a:t>
                      </a:r>
                    </a:p>
                  </a:txBody>
                  <a:tcPr anchor="ctr">
                    <a:solidFill>
                      <a:srgbClr val="FFFFFF"/>
                    </a:solidFill>
                  </a:tcPr>
                </a:tc>
              </a:tr>
              <a:tr h="457200">
                <a:tc>
                  <a:txBody>
                    <a:bodyPr/>
                    <a:lstStyle/>
                    <a:p>
                      <a:r>
                        <a:rPr sz="1400" b="1">
                          <a:solidFill>
                            <a:srgbClr val="1D2733"/>
                          </a:solidFill>
                          <a:latin typeface="Calibri"/>
                        </a:rPr>
                        <a:t>Asymptomatic very severe (Vmax ≥ 5, MG ≥ 60)</a:t>
                      </a:r>
                    </a:p>
                  </a:txBody>
                  <a:tcPr anchor="ctr">
                    <a:solidFill>
                      <a:srgbClr val="EEF3F9"/>
                    </a:solidFill>
                  </a:tcPr>
                </a:tc>
                <a:tc>
                  <a:txBody>
                    <a:bodyPr/>
                    <a:lstStyle/>
                    <a:p>
                      <a:r>
                        <a:rPr sz="1400" b="0">
                          <a:solidFill>
                            <a:srgbClr val="1D2733"/>
                          </a:solidFill>
                          <a:latin typeface="Calibri"/>
                        </a:rPr>
                        <a:t>Consider intervention in low-risk patients (IIa)</a:t>
                      </a:r>
                    </a:p>
                  </a:txBody>
                  <a:tcPr anchor="ctr">
                    <a:solidFill>
                      <a:srgbClr val="EEF3F9"/>
                    </a:solidFill>
                  </a:tcPr>
                </a:tc>
              </a:tr>
              <a:tr h="457200">
                <a:tc>
                  <a:txBody>
                    <a:bodyPr/>
                    <a:lstStyle/>
                    <a:p>
                      <a:r>
                        <a:rPr sz="1400" b="1">
                          <a:solidFill>
                            <a:srgbClr val="1D2733"/>
                          </a:solidFill>
                          <a:latin typeface="Calibri"/>
                        </a:rPr>
                        <a:t>Asymptomatic, BNP &gt; 3x, rapid progression, heavy calcium</a:t>
                      </a:r>
                    </a:p>
                  </a:txBody>
                  <a:tcPr anchor="ctr">
                    <a:solidFill>
                      <a:srgbClr val="FFFFFF"/>
                    </a:solidFill>
                  </a:tcPr>
                </a:tc>
                <a:tc>
                  <a:txBody>
                    <a:bodyPr/>
                    <a:lstStyle/>
                    <a:p>
                      <a:r>
                        <a:rPr sz="1400" b="0">
                          <a:solidFill>
                            <a:srgbClr val="1D2733"/>
                          </a:solidFill>
                          <a:latin typeface="Calibri"/>
                        </a:rPr>
                        <a:t>Consider intervention (IIa)</a:t>
                      </a:r>
                    </a:p>
                  </a:txBody>
                  <a:tcPr anchor="ctr">
                    <a:solidFill>
                      <a:srgbClr val="FFFFFF"/>
                    </a:solidFill>
                  </a:tcPr>
                </a:tc>
              </a:tr>
            </a:tbl>
          </a:graphicData>
        </a:graphic>
      </p:graphicFrame>
      <p:sp>
        <p:nvSpPr>
          <p:cNvPr id="9" name="Rectangle 8"/>
          <p:cNvSpPr/>
          <p:nvPr/>
        </p:nvSpPr>
        <p:spPr>
          <a:xfrm>
            <a:off x="548640" y="5623560"/>
            <a:ext cx="11064240" cy="7315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5623560"/>
            <a:ext cx="82296" cy="7315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696712"/>
            <a:ext cx="10698480" cy="274320"/>
          </a:xfrm>
          <a:prstGeom prst="rect">
            <a:avLst/>
          </a:prstGeom>
          <a:noFill/>
        </p:spPr>
        <p:txBody>
          <a:bodyPr wrap="square" anchor="t" lIns="45720" rIns="45720">
            <a:spAutoFit/>
          </a:bodyPr>
          <a:lstStyle/>
          <a:p>
            <a:pPr algn="l"/>
            <a:r>
              <a:rPr sz="1100" b="1">
                <a:solidFill>
                  <a:srgbClr val="0B1F3A"/>
                </a:solidFill>
                <a:latin typeface="Calibri"/>
              </a:rPr>
              <a:t>HEART TEAM</a:t>
            </a:r>
          </a:p>
        </p:txBody>
      </p:sp>
      <p:sp>
        <p:nvSpPr>
          <p:cNvPr id="12" name="TextBox 11"/>
          <p:cNvSpPr txBox="1"/>
          <p:nvPr/>
        </p:nvSpPr>
        <p:spPr>
          <a:xfrm>
            <a:off x="777240" y="5989320"/>
            <a:ext cx="10698480" cy="320040"/>
          </a:xfrm>
          <a:prstGeom prst="rect">
            <a:avLst/>
          </a:prstGeom>
          <a:noFill/>
        </p:spPr>
        <p:txBody>
          <a:bodyPr wrap="square" anchor="t" lIns="45720" rIns="45720">
            <a:spAutoFit/>
          </a:bodyPr>
          <a:lstStyle/>
          <a:p>
            <a:pPr algn="l"/>
            <a:r>
              <a:rPr sz="1400" b="0">
                <a:solidFill>
                  <a:srgbClr val="1D2733"/>
                </a:solidFill>
                <a:latin typeface="Calibri"/>
              </a:rPr>
              <a:t>TAVI vs SAVR: age, life expectancy, anatomy, surgical risk, patient values.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45720"/>
          </a:xfrm>
          <a:prstGeom prst="rect">
            <a:avLst/>
          </a:prstGeom>
          <a:solidFill>
            <a:srgbClr val="C9A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8229600" cy="274320"/>
          </a:xfrm>
          <a:prstGeom prst="rect">
            <a:avLst/>
          </a:prstGeom>
          <a:noFill/>
        </p:spPr>
        <p:txBody>
          <a:bodyPr wrap="square" anchor="t" lIns="45720" rIns="45720">
            <a:spAutoFit/>
          </a:bodyPr>
          <a:lstStyle/>
          <a:p>
            <a:pPr algn="l"/>
            <a:r>
              <a:rPr sz="1100" b="1">
                <a:solidFill>
                  <a:srgbClr val="C9A24B"/>
                </a:solidFill>
                <a:latin typeface="Calibri"/>
              </a:rPr>
              <a:t>REGURGITANT LESIONS</a:t>
            </a:r>
          </a:p>
        </p:txBody>
      </p:sp>
      <p:sp>
        <p:nvSpPr>
          <p:cNvPr id="5" name="TextBox 4"/>
          <p:cNvSpPr txBox="1"/>
          <p:nvPr/>
        </p:nvSpPr>
        <p:spPr>
          <a:xfrm>
            <a:off x="502920" y="347472"/>
            <a:ext cx="10972800" cy="640080"/>
          </a:xfrm>
          <a:prstGeom prst="rect">
            <a:avLst/>
          </a:prstGeom>
          <a:noFill/>
        </p:spPr>
        <p:txBody>
          <a:bodyPr wrap="square" anchor="t" lIns="45720" rIns="45720">
            <a:spAutoFit/>
          </a:bodyPr>
          <a:lstStyle/>
          <a:p>
            <a:pPr algn="l"/>
            <a:r>
              <a:rPr sz="2800" b="1">
                <a:solidFill>
                  <a:srgbClr val="FFFFFF"/>
                </a:solidFill>
                <a:latin typeface="Cambria"/>
              </a:rPr>
              <a:t>Aortic regurgitation</a:t>
            </a:r>
          </a:p>
        </p:txBody>
      </p:sp>
      <p:sp>
        <p:nvSpPr>
          <p:cNvPr id="6" name="TextBox 5"/>
          <p:cNvSpPr txBox="1"/>
          <p:nvPr/>
        </p:nvSpPr>
        <p:spPr>
          <a:xfrm>
            <a:off x="502920" y="6473952"/>
            <a:ext cx="8229600" cy="274320"/>
          </a:xfrm>
          <a:prstGeom prst="rect">
            <a:avLst/>
          </a:prstGeom>
          <a:noFill/>
        </p:spPr>
        <p:txBody>
          <a:bodyPr wrap="square" anchor="t" lIns="45720" rIns="45720">
            <a:spAutoFit/>
          </a:bodyPr>
          <a:lstStyle/>
          <a:p>
            <a:pPr algn="l"/>
            <a:r>
              <a:rPr sz="900" b="0">
                <a:solidFill>
                  <a:srgbClr val="6B7785"/>
                </a:solidFill>
                <a:latin typeface="Calibri"/>
              </a:rPr>
              <a:t>ECHO ESSENTIALS  |  Dr. [Your Name]</a:t>
            </a:r>
          </a:p>
        </p:txBody>
      </p:sp>
      <p:sp>
        <p:nvSpPr>
          <p:cNvPr id="7" name="TextBox 6"/>
          <p:cNvSpPr txBox="1"/>
          <p:nvPr/>
        </p:nvSpPr>
        <p:spPr>
          <a:xfrm>
            <a:off x="10972800" y="6473952"/>
            <a:ext cx="731520" cy="274320"/>
          </a:xfrm>
          <a:prstGeom prst="rect">
            <a:avLst/>
          </a:prstGeom>
          <a:noFill/>
        </p:spPr>
        <p:txBody>
          <a:bodyPr wrap="square" anchor="t" lIns="45720" rIns="45720">
            <a:spAutoFit/>
          </a:bodyPr>
          <a:lstStyle/>
          <a:p>
            <a:pPr algn="r"/>
            <a:r>
              <a:rPr sz="1000" b="1">
                <a:solidFill>
                  <a:srgbClr val="B3202E"/>
                </a:solidFill>
                <a:latin typeface="Calibri"/>
              </a:rPr>
              <a:t>12</a:t>
            </a:r>
          </a:p>
        </p:txBody>
      </p:sp>
      <p:graphicFrame>
        <p:nvGraphicFramePr>
          <p:cNvPr id="8" name="Table 7"/>
          <p:cNvGraphicFramePr>
            <a:graphicFrameLocks noGrp="1"/>
          </p:cNvGraphicFramePr>
          <p:nvPr/>
        </p:nvGraphicFramePr>
        <p:xfrm>
          <a:off x="548640" y="1371600"/>
          <a:ext cx="7223760" cy="3803904"/>
        </p:xfrm>
        <a:graphic>
          <a:graphicData uri="http://schemas.openxmlformats.org/drawingml/2006/table">
            <a:tbl>
              <a:tblPr firstRow="1" bandRow="1">
                <a:tableStyleId>{5C22544A-7EE6-4342-B048-85BDC9FD1C3A}</a:tableStyleId>
              </a:tblPr>
              <a:tblGrid>
                <a:gridCol w="2377440"/>
                <a:gridCol w="1463040"/>
                <a:gridCol w="1645920"/>
                <a:gridCol w="1737360"/>
              </a:tblGrid>
              <a:tr h="475488">
                <a:tc>
                  <a:txBody>
                    <a:bodyPr/>
                    <a:lstStyle/>
                    <a:p>
                      <a:r>
                        <a:rPr sz="1400" b="1">
                          <a:solidFill>
                            <a:srgbClr val="FFFFFF"/>
                          </a:solidFill>
                          <a:latin typeface="Calibri"/>
                        </a:rPr>
                        <a:t>Parameter</a:t>
                      </a:r>
                    </a:p>
                  </a:txBody>
                  <a:tcPr anchor="ctr">
                    <a:solidFill>
                      <a:srgbClr val="0B1F3A"/>
                    </a:solidFill>
                  </a:tcPr>
                </a:tc>
                <a:tc>
                  <a:txBody>
                    <a:bodyPr/>
                    <a:lstStyle/>
                    <a:p>
                      <a:r>
                        <a:rPr sz="1400" b="1">
                          <a:solidFill>
                            <a:srgbClr val="FFFFFF"/>
                          </a:solidFill>
                          <a:latin typeface="Calibri"/>
                        </a:rPr>
                        <a:t>Mild</a:t>
                      </a:r>
                    </a:p>
                  </a:txBody>
                  <a:tcPr anchor="ctr">
                    <a:solidFill>
                      <a:srgbClr val="0B1F3A"/>
                    </a:solidFill>
                  </a:tcPr>
                </a:tc>
                <a:tc>
                  <a:txBody>
                    <a:bodyPr/>
                    <a:lstStyle/>
                    <a:p>
                      <a:r>
                        <a:rPr sz="1400" b="1">
                          <a:solidFill>
                            <a:srgbClr val="FFFFFF"/>
                          </a:solidFill>
                          <a:latin typeface="Calibri"/>
                        </a:rPr>
                        <a:t>Moderate</a:t>
                      </a:r>
                    </a:p>
                  </a:txBody>
                  <a:tcPr anchor="ctr">
                    <a:solidFill>
                      <a:srgbClr val="0B1F3A"/>
                    </a:solidFill>
                  </a:tcPr>
                </a:tc>
                <a:tc>
                  <a:txBody>
                    <a:bodyPr/>
                    <a:lstStyle/>
                    <a:p>
                      <a:r>
                        <a:rPr sz="1400" b="1">
                          <a:solidFill>
                            <a:srgbClr val="FFFFFF"/>
                          </a:solidFill>
                          <a:latin typeface="Calibri"/>
                        </a:rPr>
                        <a:t>Severe</a:t>
                      </a:r>
                    </a:p>
                  </a:txBody>
                  <a:tcPr anchor="ctr">
                    <a:solidFill>
                      <a:srgbClr val="0B1F3A"/>
                    </a:solidFill>
                  </a:tcPr>
                </a:tc>
              </a:tr>
              <a:tr h="475488">
                <a:tc>
                  <a:txBody>
                    <a:bodyPr/>
                    <a:lstStyle/>
                    <a:p>
                      <a:r>
                        <a:rPr sz="1400" b="1">
                          <a:solidFill>
                            <a:srgbClr val="1D2733"/>
                          </a:solidFill>
                          <a:latin typeface="Calibri"/>
                        </a:rPr>
                        <a:t>Vena contracta (mm)</a:t>
                      </a:r>
                    </a:p>
                  </a:txBody>
                  <a:tcPr anchor="ctr">
                    <a:solidFill>
                      <a:srgbClr val="FFFFFF"/>
                    </a:solidFill>
                  </a:tcPr>
                </a:tc>
                <a:tc>
                  <a:txBody>
                    <a:bodyPr/>
                    <a:lstStyle/>
                    <a:p>
                      <a:r>
                        <a:rPr sz="1400" b="0">
                          <a:solidFill>
                            <a:srgbClr val="1D2733"/>
                          </a:solidFill>
                          <a:latin typeface="Calibri"/>
                        </a:rPr>
                        <a:t>&lt; 3</a:t>
                      </a:r>
                    </a:p>
                  </a:txBody>
                  <a:tcPr anchor="ctr">
                    <a:solidFill>
                      <a:srgbClr val="FFFFFF"/>
                    </a:solidFill>
                  </a:tcPr>
                </a:tc>
                <a:tc>
                  <a:txBody>
                    <a:bodyPr/>
                    <a:lstStyle/>
                    <a:p>
                      <a:r>
                        <a:rPr sz="1400" b="0">
                          <a:solidFill>
                            <a:srgbClr val="1D2733"/>
                          </a:solidFill>
                          <a:latin typeface="Calibri"/>
                        </a:rPr>
                        <a:t>3 - 6</a:t>
                      </a:r>
                    </a:p>
                  </a:txBody>
                  <a:tcPr anchor="ctr">
                    <a:solidFill>
                      <a:srgbClr val="FFFFFF"/>
                    </a:solidFill>
                  </a:tcPr>
                </a:tc>
                <a:tc>
                  <a:txBody>
                    <a:bodyPr/>
                    <a:lstStyle/>
                    <a:p>
                      <a:r>
                        <a:rPr sz="1400" b="0">
                          <a:solidFill>
                            <a:srgbClr val="1D2733"/>
                          </a:solidFill>
                          <a:latin typeface="Calibri"/>
                        </a:rPr>
                        <a:t>&gt; 6</a:t>
                      </a:r>
                    </a:p>
                  </a:txBody>
                  <a:tcPr anchor="ctr">
                    <a:solidFill>
                      <a:srgbClr val="FFFFFF"/>
                    </a:solidFill>
                  </a:tcPr>
                </a:tc>
              </a:tr>
              <a:tr h="475488">
                <a:tc>
                  <a:txBody>
                    <a:bodyPr/>
                    <a:lstStyle/>
                    <a:p>
                      <a:r>
                        <a:rPr sz="1400" b="1">
                          <a:solidFill>
                            <a:srgbClr val="1D2733"/>
                          </a:solidFill>
                          <a:latin typeface="Calibri"/>
                        </a:rPr>
                        <a:t>Jet width / LVOT</a:t>
                      </a:r>
                    </a:p>
                  </a:txBody>
                  <a:tcPr anchor="ctr">
                    <a:solidFill>
                      <a:srgbClr val="EEF3F9"/>
                    </a:solidFill>
                  </a:tcPr>
                </a:tc>
                <a:tc>
                  <a:txBody>
                    <a:bodyPr/>
                    <a:lstStyle/>
                    <a:p>
                      <a:r>
                        <a:rPr sz="1400" b="0">
                          <a:solidFill>
                            <a:srgbClr val="1D2733"/>
                          </a:solidFill>
                          <a:latin typeface="Calibri"/>
                        </a:rPr>
                        <a:t>&lt; 25%</a:t>
                      </a:r>
                    </a:p>
                  </a:txBody>
                  <a:tcPr anchor="ctr">
                    <a:solidFill>
                      <a:srgbClr val="EEF3F9"/>
                    </a:solidFill>
                  </a:tcPr>
                </a:tc>
                <a:tc>
                  <a:txBody>
                    <a:bodyPr/>
                    <a:lstStyle/>
                    <a:p>
                      <a:r>
                        <a:rPr sz="1400" b="0">
                          <a:solidFill>
                            <a:srgbClr val="1D2733"/>
                          </a:solidFill>
                          <a:latin typeface="Calibri"/>
                        </a:rPr>
                        <a:t>25 - 64%</a:t>
                      </a:r>
                    </a:p>
                  </a:txBody>
                  <a:tcPr anchor="ctr">
                    <a:solidFill>
                      <a:srgbClr val="EEF3F9"/>
                    </a:solidFill>
                  </a:tcPr>
                </a:tc>
                <a:tc>
                  <a:txBody>
                    <a:bodyPr/>
                    <a:lstStyle/>
                    <a:p>
                      <a:r>
                        <a:rPr sz="1400" b="0">
                          <a:solidFill>
                            <a:srgbClr val="1D2733"/>
                          </a:solidFill>
                          <a:latin typeface="Calibri"/>
                        </a:rPr>
                        <a:t>≥ 65%</a:t>
                      </a:r>
                    </a:p>
                  </a:txBody>
                  <a:tcPr anchor="ctr">
                    <a:solidFill>
                      <a:srgbClr val="EEF3F9"/>
                    </a:solidFill>
                  </a:tcPr>
                </a:tc>
              </a:tr>
              <a:tr h="475488">
                <a:tc>
                  <a:txBody>
                    <a:bodyPr/>
                    <a:lstStyle/>
                    <a:p>
                      <a:r>
                        <a:rPr sz="1400" b="1">
                          <a:solidFill>
                            <a:srgbClr val="1D2733"/>
                          </a:solidFill>
                          <a:latin typeface="Calibri"/>
                        </a:rPr>
                        <a:t>PHT (ms)</a:t>
                      </a:r>
                    </a:p>
                  </a:txBody>
                  <a:tcPr anchor="ctr">
                    <a:solidFill>
                      <a:srgbClr val="FFFFFF"/>
                    </a:solidFill>
                  </a:tcPr>
                </a:tc>
                <a:tc>
                  <a:txBody>
                    <a:bodyPr/>
                    <a:lstStyle/>
                    <a:p>
                      <a:r>
                        <a:rPr sz="1400" b="0">
                          <a:solidFill>
                            <a:srgbClr val="1D2733"/>
                          </a:solidFill>
                          <a:latin typeface="Calibri"/>
                        </a:rPr>
                        <a:t>&gt; 500</a:t>
                      </a:r>
                    </a:p>
                  </a:txBody>
                  <a:tcPr anchor="ctr">
                    <a:solidFill>
                      <a:srgbClr val="FFFFFF"/>
                    </a:solidFill>
                  </a:tcPr>
                </a:tc>
                <a:tc>
                  <a:txBody>
                    <a:bodyPr/>
                    <a:lstStyle/>
                    <a:p>
                      <a:r>
                        <a:rPr sz="1400" b="0">
                          <a:solidFill>
                            <a:srgbClr val="1D2733"/>
                          </a:solidFill>
                          <a:latin typeface="Calibri"/>
                        </a:rPr>
                        <a:t>200 - 500</a:t>
                      </a:r>
                    </a:p>
                  </a:txBody>
                  <a:tcPr anchor="ctr">
                    <a:solidFill>
                      <a:srgbClr val="FFFFFF"/>
                    </a:solidFill>
                  </a:tcPr>
                </a:tc>
                <a:tc>
                  <a:txBody>
                    <a:bodyPr/>
                    <a:lstStyle/>
                    <a:p>
                      <a:r>
                        <a:rPr sz="1400" b="0">
                          <a:solidFill>
                            <a:srgbClr val="1D2733"/>
                          </a:solidFill>
                          <a:latin typeface="Calibri"/>
                        </a:rPr>
                        <a:t>&lt; 200</a:t>
                      </a:r>
                    </a:p>
                  </a:txBody>
                  <a:tcPr anchor="ctr">
                    <a:solidFill>
                      <a:srgbClr val="FFFFFF"/>
                    </a:solidFill>
                  </a:tcPr>
                </a:tc>
              </a:tr>
              <a:tr h="475488">
                <a:tc>
                  <a:txBody>
                    <a:bodyPr/>
                    <a:lstStyle/>
                    <a:p>
                      <a:r>
                        <a:rPr sz="1400" b="1">
                          <a:solidFill>
                            <a:srgbClr val="1D2733"/>
                          </a:solidFill>
                          <a:latin typeface="Calibri"/>
                        </a:rPr>
                        <a:t>EROA (cm²)</a:t>
                      </a:r>
                    </a:p>
                  </a:txBody>
                  <a:tcPr anchor="ctr">
                    <a:solidFill>
                      <a:srgbClr val="EEF3F9"/>
                    </a:solidFill>
                  </a:tcPr>
                </a:tc>
                <a:tc>
                  <a:txBody>
                    <a:bodyPr/>
                    <a:lstStyle/>
                    <a:p>
                      <a:r>
                        <a:rPr sz="1400" b="0">
                          <a:solidFill>
                            <a:srgbClr val="1D2733"/>
                          </a:solidFill>
                          <a:latin typeface="Calibri"/>
                        </a:rPr>
                        <a:t>&lt; 0.10</a:t>
                      </a:r>
                    </a:p>
                  </a:txBody>
                  <a:tcPr anchor="ctr">
                    <a:solidFill>
                      <a:srgbClr val="EEF3F9"/>
                    </a:solidFill>
                  </a:tcPr>
                </a:tc>
                <a:tc>
                  <a:txBody>
                    <a:bodyPr/>
                    <a:lstStyle/>
                    <a:p>
                      <a:r>
                        <a:rPr sz="1400" b="0">
                          <a:solidFill>
                            <a:srgbClr val="1D2733"/>
                          </a:solidFill>
                          <a:latin typeface="Calibri"/>
                        </a:rPr>
                        <a:t>0.10 - 0.29</a:t>
                      </a:r>
                    </a:p>
                  </a:txBody>
                  <a:tcPr anchor="ctr">
                    <a:solidFill>
                      <a:srgbClr val="EEF3F9"/>
                    </a:solidFill>
                  </a:tcPr>
                </a:tc>
                <a:tc>
                  <a:txBody>
                    <a:bodyPr/>
                    <a:lstStyle/>
                    <a:p>
                      <a:r>
                        <a:rPr sz="1400" b="0">
                          <a:solidFill>
                            <a:srgbClr val="1D2733"/>
                          </a:solidFill>
                          <a:latin typeface="Calibri"/>
                        </a:rPr>
                        <a:t>≥ 0.30</a:t>
                      </a:r>
                    </a:p>
                  </a:txBody>
                  <a:tcPr anchor="ctr">
                    <a:solidFill>
                      <a:srgbClr val="EEF3F9"/>
                    </a:solidFill>
                  </a:tcPr>
                </a:tc>
              </a:tr>
              <a:tr h="475488">
                <a:tc>
                  <a:txBody>
                    <a:bodyPr/>
                    <a:lstStyle/>
                    <a:p>
                      <a:r>
                        <a:rPr sz="1400" b="1">
                          <a:solidFill>
                            <a:srgbClr val="1D2733"/>
                          </a:solidFill>
                          <a:latin typeface="Calibri"/>
                        </a:rPr>
                        <a:t>RVol (mL)</a:t>
                      </a:r>
                    </a:p>
                  </a:txBody>
                  <a:tcPr anchor="ctr">
                    <a:solidFill>
                      <a:srgbClr val="FFFFFF"/>
                    </a:solidFill>
                  </a:tcPr>
                </a:tc>
                <a:tc>
                  <a:txBody>
                    <a:bodyPr/>
                    <a:lstStyle/>
                    <a:p>
                      <a:r>
                        <a:rPr sz="1400" b="0">
                          <a:solidFill>
                            <a:srgbClr val="1D2733"/>
                          </a:solidFill>
                          <a:latin typeface="Calibri"/>
                        </a:rPr>
                        <a:t>&lt; 30</a:t>
                      </a:r>
                    </a:p>
                  </a:txBody>
                  <a:tcPr anchor="ctr">
                    <a:solidFill>
                      <a:srgbClr val="FFFFFF"/>
                    </a:solidFill>
                  </a:tcPr>
                </a:tc>
                <a:tc>
                  <a:txBody>
                    <a:bodyPr/>
                    <a:lstStyle/>
                    <a:p>
                      <a:r>
                        <a:rPr sz="1400" b="0">
                          <a:solidFill>
                            <a:srgbClr val="1D2733"/>
                          </a:solidFill>
                          <a:latin typeface="Calibri"/>
                        </a:rPr>
                        <a:t>30 - 59</a:t>
                      </a:r>
                    </a:p>
                  </a:txBody>
                  <a:tcPr anchor="ctr">
                    <a:solidFill>
                      <a:srgbClr val="FFFFFF"/>
                    </a:solidFill>
                  </a:tcPr>
                </a:tc>
                <a:tc>
                  <a:txBody>
                    <a:bodyPr/>
                    <a:lstStyle/>
                    <a:p>
                      <a:r>
                        <a:rPr sz="1400" b="0">
                          <a:solidFill>
                            <a:srgbClr val="1D2733"/>
                          </a:solidFill>
                          <a:latin typeface="Calibri"/>
                        </a:rPr>
                        <a:t>≥ 60</a:t>
                      </a:r>
                    </a:p>
                  </a:txBody>
                  <a:tcPr anchor="ctr">
                    <a:solidFill>
                      <a:srgbClr val="FFFFFF"/>
                    </a:solidFill>
                  </a:tcPr>
                </a:tc>
              </a:tr>
              <a:tr h="475488">
                <a:tc>
                  <a:txBody>
                    <a:bodyPr/>
                    <a:lstStyle/>
                    <a:p>
                      <a:r>
                        <a:rPr sz="1400" b="1">
                          <a:solidFill>
                            <a:srgbClr val="1D2733"/>
                          </a:solidFill>
                          <a:latin typeface="Calibri"/>
                        </a:rPr>
                        <a:t>RF (%)</a:t>
                      </a:r>
                    </a:p>
                  </a:txBody>
                  <a:tcPr anchor="ctr">
                    <a:solidFill>
                      <a:srgbClr val="EEF3F9"/>
                    </a:solidFill>
                  </a:tcPr>
                </a:tc>
                <a:tc>
                  <a:txBody>
                    <a:bodyPr/>
                    <a:lstStyle/>
                    <a:p>
                      <a:r>
                        <a:rPr sz="1400" b="0">
                          <a:solidFill>
                            <a:srgbClr val="1D2733"/>
                          </a:solidFill>
                          <a:latin typeface="Calibri"/>
                        </a:rPr>
                        <a:t>&lt; 30</a:t>
                      </a:r>
                    </a:p>
                  </a:txBody>
                  <a:tcPr anchor="ctr">
                    <a:solidFill>
                      <a:srgbClr val="EEF3F9"/>
                    </a:solidFill>
                  </a:tcPr>
                </a:tc>
                <a:tc>
                  <a:txBody>
                    <a:bodyPr/>
                    <a:lstStyle/>
                    <a:p>
                      <a:r>
                        <a:rPr sz="1400" b="0">
                          <a:solidFill>
                            <a:srgbClr val="1D2733"/>
                          </a:solidFill>
                          <a:latin typeface="Calibri"/>
                        </a:rPr>
                        <a:t>30 - 49</a:t>
                      </a:r>
                    </a:p>
                  </a:txBody>
                  <a:tcPr anchor="ctr">
                    <a:solidFill>
                      <a:srgbClr val="EEF3F9"/>
                    </a:solidFill>
                  </a:tcPr>
                </a:tc>
                <a:tc>
                  <a:txBody>
                    <a:bodyPr/>
                    <a:lstStyle/>
                    <a:p>
                      <a:r>
                        <a:rPr sz="1400" b="0">
                          <a:solidFill>
                            <a:srgbClr val="1D2733"/>
                          </a:solidFill>
                          <a:latin typeface="Calibri"/>
                        </a:rPr>
                        <a:t>≥ 50</a:t>
                      </a:r>
                    </a:p>
                  </a:txBody>
                  <a:tcPr anchor="ctr">
                    <a:solidFill>
                      <a:srgbClr val="EEF3F9"/>
                    </a:solidFill>
                  </a:tcPr>
                </a:tc>
              </a:tr>
              <a:tr h="475488">
                <a:tc>
                  <a:txBody>
                    <a:bodyPr/>
                    <a:lstStyle/>
                    <a:p>
                      <a:r>
                        <a:rPr sz="1400" b="1">
                          <a:solidFill>
                            <a:srgbClr val="1D2733"/>
                          </a:solidFill>
                          <a:latin typeface="Calibri"/>
                        </a:rPr>
                        <a:t>Aortic flow reversal</a:t>
                      </a:r>
                    </a:p>
                  </a:txBody>
                  <a:tcPr anchor="ctr">
                    <a:solidFill>
                      <a:srgbClr val="FFFFFF"/>
                    </a:solidFill>
                  </a:tcPr>
                </a:tc>
                <a:tc>
                  <a:txBody>
                    <a:bodyPr/>
                    <a:lstStyle/>
                    <a:p>
                      <a:r>
                        <a:rPr sz="1400" b="0">
                          <a:solidFill>
                            <a:srgbClr val="1D2733"/>
                          </a:solidFill>
                          <a:latin typeface="Calibri"/>
                        </a:rPr>
                        <a:t>Brief</a:t>
                      </a:r>
                    </a:p>
                  </a:txBody>
                  <a:tcPr anchor="ctr">
                    <a:solidFill>
                      <a:srgbClr val="FFFFFF"/>
                    </a:solidFill>
                  </a:tcPr>
                </a:tc>
                <a:tc>
                  <a:txBody>
                    <a:bodyPr/>
                    <a:lstStyle/>
                    <a:p>
                      <a:r>
                        <a:rPr sz="1400" b="0">
                          <a:solidFill>
                            <a:srgbClr val="1D2733"/>
                          </a:solidFill>
                          <a:latin typeface="Calibri"/>
                        </a:rPr>
                        <a:t>Intermediate</a:t>
                      </a:r>
                    </a:p>
                  </a:txBody>
                  <a:tcPr anchor="ctr">
                    <a:solidFill>
                      <a:srgbClr val="FFFFFF"/>
                    </a:solidFill>
                  </a:tcPr>
                </a:tc>
                <a:tc>
                  <a:txBody>
                    <a:bodyPr/>
                    <a:lstStyle/>
                    <a:p>
                      <a:r>
                        <a:rPr sz="1400" b="0">
                          <a:solidFill>
                            <a:srgbClr val="1D2733"/>
                          </a:solidFill>
                          <a:latin typeface="Calibri"/>
                        </a:rPr>
                        <a:t>Holodiastolic</a:t>
                      </a:r>
                    </a:p>
                  </a:txBody>
                  <a:tcPr anchor="ctr">
                    <a:solidFill>
                      <a:srgbClr val="FFFFFF"/>
                    </a:solidFill>
                  </a:tcPr>
                </a:tc>
              </a:tr>
            </a:tbl>
          </a:graphicData>
        </a:graphic>
      </p:graphicFrame>
      <p:sp>
        <p:nvSpPr>
          <p:cNvPr id="9" name="Rectangle 8"/>
          <p:cNvSpPr/>
          <p:nvPr/>
        </p:nvSpPr>
        <p:spPr>
          <a:xfrm>
            <a:off x="8138160" y="1371600"/>
            <a:ext cx="3566160" cy="237744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38160" y="1371600"/>
            <a:ext cx="82296" cy="2377440"/>
          </a:xfrm>
          <a:prstGeom prst="rect">
            <a:avLst/>
          </a:prstGeom>
          <a:solidFill>
            <a:srgbClr val="1F7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60" y="1444752"/>
            <a:ext cx="3200400" cy="274320"/>
          </a:xfrm>
          <a:prstGeom prst="rect">
            <a:avLst/>
          </a:prstGeom>
          <a:noFill/>
        </p:spPr>
        <p:txBody>
          <a:bodyPr wrap="square" anchor="t" lIns="45720" rIns="45720">
            <a:spAutoFit/>
          </a:bodyPr>
          <a:lstStyle/>
          <a:p>
            <a:pPr algn="l"/>
            <a:r>
              <a:rPr sz="1100" b="1">
                <a:solidFill>
                  <a:srgbClr val="1F7A5A"/>
                </a:solidFill>
                <a:latin typeface="Calibri"/>
              </a:rPr>
              <a:t>SURGERY (CHRONIC SEVERE)</a:t>
            </a:r>
          </a:p>
        </p:txBody>
      </p:sp>
      <p:sp>
        <p:nvSpPr>
          <p:cNvPr id="12" name="TextBox 11"/>
          <p:cNvSpPr txBox="1"/>
          <p:nvPr/>
        </p:nvSpPr>
        <p:spPr>
          <a:xfrm>
            <a:off x="8366760" y="1737360"/>
            <a:ext cx="3200400" cy="1965960"/>
          </a:xfrm>
          <a:prstGeom prst="rect">
            <a:avLst/>
          </a:prstGeom>
          <a:noFill/>
        </p:spPr>
        <p:txBody>
          <a:bodyPr wrap="square" anchor="t" lIns="45720" rIns="45720">
            <a:spAutoFit/>
          </a:bodyPr>
          <a:lstStyle/>
          <a:p>
            <a:pPr algn="l"/>
            <a:r>
              <a:rPr sz="1400" b="0">
                <a:solidFill>
                  <a:srgbClr val="1D2733"/>
                </a:solidFill>
                <a:latin typeface="Calibri"/>
              </a:rPr>
              <a:t>Symptoms; LVEF ≤ 50-55%; LVESD &gt; 50 mm (or &gt; 25 mm/m²); LVEDD &gt; 70 mm. Check root and ascending aorta.</a:t>
            </a:r>
          </a:p>
        </p:txBody>
      </p:sp>
      <p:sp>
        <p:nvSpPr>
          <p:cNvPr id="13" name="Rectangle 12"/>
          <p:cNvSpPr/>
          <p:nvPr/>
        </p:nvSpPr>
        <p:spPr>
          <a:xfrm>
            <a:off x="8138160" y="3931920"/>
            <a:ext cx="3566160" cy="17373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38160" y="3931920"/>
            <a:ext cx="82296" cy="1737360"/>
          </a:xfrm>
          <a:prstGeom prst="rect">
            <a:avLst/>
          </a:prstGeom>
          <a:solidFill>
            <a:srgbClr val="B32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60" y="4005072"/>
            <a:ext cx="3200400" cy="274320"/>
          </a:xfrm>
          <a:prstGeom prst="rect">
            <a:avLst/>
          </a:prstGeom>
          <a:noFill/>
        </p:spPr>
        <p:txBody>
          <a:bodyPr wrap="square" anchor="t" lIns="45720" rIns="45720">
            <a:spAutoFit/>
          </a:bodyPr>
          <a:lstStyle/>
          <a:p>
            <a:pPr algn="l"/>
            <a:r>
              <a:rPr sz="1100" b="1">
                <a:solidFill>
                  <a:srgbClr val="B3202E"/>
                </a:solidFill>
                <a:latin typeface="Calibri"/>
              </a:rPr>
              <a:t>COMMON ERROR</a:t>
            </a:r>
          </a:p>
        </p:txBody>
      </p:sp>
      <p:sp>
        <p:nvSpPr>
          <p:cNvPr id="16" name="TextBox 15"/>
          <p:cNvSpPr txBox="1"/>
          <p:nvPr/>
        </p:nvSpPr>
        <p:spPr>
          <a:xfrm>
            <a:off x="8366760" y="4297680"/>
            <a:ext cx="3200400" cy="1325880"/>
          </a:xfrm>
          <a:prstGeom prst="rect">
            <a:avLst/>
          </a:prstGeom>
          <a:noFill/>
        </p:spPr>
        <p:txBody>
          <a:bodyPr wrap="square" anchor="t" lIns="45720" rIns="45720">
            <a:spAutoFit/>
          </a:bodyPr>
          <a:lstStyle/>
          <a:p>
            <a:pPr algn="l"/>
            <a:r>
              <a:rPr sz="1500" b="0">
                <a:solidFill>
                  <a:srgbClr val="1D2733"/>
                </a:solidFill>
                <a:latin typeface="Calibri"/>
              </a:rPr>
              <a:t>Colour jet area underestimates eccentric jets.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45720"/>
          </a:xfrm>
          <a:prstGeom prst="rect">
            <a:avLst/>
          </a:prstGeom>
          <a:solidFill>
            <a:srgbClr val="C9A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8229600" cy="274320"/>
          </a:xfrm>
          <a:prstGeom prst="rect">
            <a:avLst/>
          </a:prstGeom>
          <a:noFill/>
        </p:spPr>
        <p:txBody>
          <a:bodyPr wrap="square" anchor="t" lIns="45720" rIns="45720">
            <a:spAutoFit/>
          </a:bodyPr>
          <a:lstStyle/>
          <a:p>
            <a:pPr algn="l"/>
            <a:r>
              <a:rPr sz="1100" b="1">
                <a:solidFill>
                  <a:srgbClr val="C9A24B"/>
                </a:solidFill>
                <a:latin typeface="Calibri"/>
              </a:rPr>
              <a:t>REGURGITANT LESIONS</a:t>
            </a:r>
          </a:p>
        </p:txBody>
      </p:sp>
      <p:sp>
        <p:nvSpPr>
          <p:cNvPr id="5" name="TextBox 4"/>
          <p:cNvSpPr txBox="1"/>
          <p:nvPr/>
        </p:nvSpPr>
        <p:spPr>
          <a:xfrm>
            <a:off x="502920" y="347472"/>
            <a:ext cx="10972800" cy="640080"/>
          </a:xfrm>
          <a:prstGeom prst="rect">
            <a:avLst/>
          </a:prstGeom>
          <a:noFill/>
        </p:spPr>
        <p:txBody>
          <a:bodyPr wrap="square" anchor="t" lIns="45720" rIns="45720">
            <a:spAutoFit/>
          </a:bodyPr>
          <a:lstStyle/>
          <a:p>
            <a:pPr algn="l"/>
            <a:r>
              <a:rPr sz="2800" b="1">
                <a:solidFill>
                  <a:srgbClr val="FFFFFF"/>
                </a:solidFill>
                <a:latin typeface="Cambria"/>
              </a:rPr>
              <a:t>Mitral stenosis</a:t>
            </a:r>
          </a:p>
        </p:txBody>
      </p:sp>
      <p:sp>
        <p:nvSpPr>
          <p:cNvPr id="6" name="TextBox 5"/>
          <p:cNvSpPr txBox="1"/>
          <p:nvPr/>
        </p:nvSpPr>
        <p:spPr>
          <a:xfrm>
            <a:off x="502920" y="6473952"/>
            <a:ext cx="8229600" cy="274320"/>
          </a:xfrm>
          <a:prstGeom prst="rect">
            <a:avLst/>
          </a:prstGeom>
          <a:noFill/>
        </p:spPr>
        <p:txBody>
          <a:bodyPr wrap="square" anchor="t" lIns="45720" rIns="45720">
            <a:spAutoFit/>
          </a:bodyPr>
          <a:lstStyle/>
          <a:p>
            <a:pPr algn="l"/>
            <a:r>
              <a:rPr sz="900" b="0">
                <a:solidFill>
                  <a:srgbClr val="6B7785"/>
                </a:solidFill>
                <a:latin typeface="Calibri"/>
              </a:rPr>
              <a:t>ECHO ESSENTIALS  |  Dr. [Your Name]</a:t>
            </a:r>
          </a:p>
        </p:txBody>
      </p:sp>
      <p:sp>
        <p:nvSpPr>
          <p:cNvPr id="7" name="TextBox 6"/>
          <p:cNvSpPr txBox="1"/>
          <p:nvPr/>
        </p:nvSpPr>
        <p:spPr>
          <a:xfrm>
            <a:off x="10972800" y="6473952"/>
            <a:ext cx="731520" cy="274320"/>
          </a:xfrm>
          <a:prstGeom prst="rect">
            <a:avLst/>
          </a:prstGeom>
          <a:noFill/>
        </p:spPr>
        <p:txBody>
          <a:bodyPr wrap="square" anchor="t" lIns="45720" rIns="45720">
            <a:spAutoFit/>
          </a:bodyPr>
          <a:lstStyle/>
          <a:p>
            <a:pPr algn="r"/>
            <a:r>
              <a:rPr sz="1000" b="1">
                <a:solidFill>
                  <a:srgbClr val="B3202E"/>
                </a:solidFill>
                <a:latin typeface="Calibri"/>
              </a:rPr>
              <a:t>13</a:t>
            </a:r>
          </a:p>
        </p:txBody>
      </p:sp>
      <p:graphicFrame>
        <p:nvGraphicFramePr>
          <p:cNvPr id="8" name="Table 7"/>
          <p:cNvGraphicFramePr>
            <a:graphicFrameLocks noGrp="1"/>
          </p:cNvGraphicFramePr>
          <p:nvPr/>
        </p:nvGraphicFramePr>
        <p:xfrm>
          <a:off x="548640" y="1371600"/>
          <a:ext cx="7223760" cy="2743200"/>
        </p:xfrm>
        <a:graphic>
          <a:graphicData uri="http://schemas.openxmlformats.org/drawingml/2006/table">
            <a:tbl>
              <a:tblPr firstRow="1" bandRow="1">
                <a:tableStyleId>{5C22544A-7EE6-4342-B048-85BDC9FD1C3A}</a:tableStyleId>
              </a:tblPr>
              <a:tblGrid>
                <a:gridCol w="2194560"/>
                <a:gridCol w="1188720"/>
                <a:gridCol w="1645920"/>
                <a:gridCol w="2194560"/>
              </a:tblGrid>
              <a:tr h="548640">
                <a:tc>
                  <a:txBody>
                    <a:bodyPr/>
                    <a:lstStyle/>
                    <a:p>
                      <a:r>
                        <a:rPr sz="1400" b="1">
                          <a:solidFill>
                            <a:srgbClr val="FFFFFF"/>
                          </a:solidFill>
                          <a:latin typeface="Calibri"/>
                        </a:rPr>
                        <a:t>Parameter</a:t>
                      </a:r>
                    </a:p>
                  </a:txBody>
                  <a:tcPr anchor="ctr">
                    <a:solidFill>
                      <a:srgbClr val="0B1F3A"/>
                    </a:solidFill>
                  </a:tcPr>
                </a:tc>
                <a:tc>
                  <a:txBody>
                    <a:bodyPr/>
                    <a:lstStyle/>
                    <a:p>
                      <a:r>
                        <a:rPr sz="1400" b="1">
                          <a:solidFill>
                            <a:srgbClr val="FFFFFF"/>
                          </a:solidFill>
                          <a:latin typeface="Calibri"/>
                        </a:rPr>
                        <a:t>Mild</a:t>
                      </a:r>
                    </a:p>
                  </a:txBody>
                  <a:tcPr anchor="ctr">
                    <a:solidFill>
                      <a:srgbClr val="0B1F3A"/>
                    </a:solidFill>
                  </a:tcPr>
                </a:tc>
                <a:tc>
                  <a:txBody>
                    <a:bodyPr/>
                    <a:lstStyle/>
                    <a:p>
                      <a:r>
                        <a:rPr sz="1400" b="1">
                          <a:solidFill>
                            <a:srgbClr val="FFFFFF"/>
                          </a:solidFill>
                          <a:latin typeface="Calibri"/>
                        </a:rPr>
                        <a:t>Moderate</a:t>
                      </a:r>
                    </a:p>
                  </a:txBody>
                  <a:tcPr anchor="ctr">
                    <a:solidFill>
                      <a:srgbClr val="0B1F3A"/>
                    </a:solidFill>
                  </a:tcPr>
                </a:tc>
                <a:tc>
                  <a:txBody>
                    <a:bodyPr/>
                    <a:lstStyle/>
                    <a:p>
                      <a:r>
                        <a:rPr sz="1400" b="1">
                          <a:solidFill>
                            <a:srgbClr val="FFFFFF"/>
                          </a:solidFill>
                          <a:latin typeface="Calibri"/>
                        </a:rPr>
                        <a:t>Severe</a:t>
                      </a:r>
                    </a:p>
                  </a:txBody>
                  <a:tcPr anchor="ctr">
                    <a:solidFill>
                      <a:srgbClr val="0B1F3A"/>
                    </a:solidFill>
                  </a:tcPr>
                </a:tc>
              </a:tr>
              <a:tr h="548640">
                <a:tc>
                  <a:txBody>
                    <a:bodyPr/>
                    <a:lstStyle/>
                    <a:p>
                      <a:r>
                        <a:rPr sz="1400" b="1">
                          <a:solidFill>
                            <a:srgbClr val="1D2733"/>
                          </a:solidFill>
                          <a:latin typeface="Calibri"/>
                        </a:rPr>
                        <a:t>MVA (cm²)</a:t>
                      </a:r>
                    </a:p>
                  </a:txBody>
                  <a:tcPr anchor="ctr">
                    <a:solidFill>
                      <a:srgbClr val="FFFFFF"/>
                    </a:solidFill>
                  </a:tcPr>
                </a:tc>
                <a:tc>
                  <a:txBody>
                    <a:bodyPr/>
                    <a:lstStyle/>
                    <a:p>
                      <a:r>
                        <a:rPr sz="1400" b="0">
                          <a:solidFill>
                            <a:srgbClr val="1D2733"/>
                          </a:solidFill>
                          <a:latin typeface="Calibri"/>
                        </a:rPr>
                        <a:t>&gt; 1.5</a:t>
                      </a:r>
                    </a:p>
                  </a:txBody>
                  <a:tcPr anchor="ctr">
                    <a:solidFill>
                      <a:srgbClr val="FFFFFF"/>
                    </a:solidFill>
                  </a:tcPr>
                </a:tc>
                <a:tc>
                  <a:txBody>
                    <a:bodyPr/>
                    <a:lstStyle/>
                    <a:p>
                      <a:r>
                        <a:rPr sz="1400" b="0">
                          <a:solidFill>
                            <a:srgbClr val="1D2733"/>
                          </a:solidFill>
                          <a:latin typeface="Calibri"/>
                        </a:rPr>
                        <a:t>1.0 - 1.5</a:t>
                      </a:r>
                    </a:p>
                  </a:txBody>
                  <a:tcPr anchor="ctr">
                    <a:solidFill>
                      <a:srgbClr val="FFFFFF"/>
                    </a:solidFill>
                  </a:tcPr>
                </a:tc>
                <a:tc>
                  <a:txBody>
                    <a:bodyPr/>
                    <a:lstStyle/>
                    <a:p>
                      <a:r>
                        <a:rPr sz="1400" b="0">
                          <a:solidFill>
                            <a:srgbClr val="1D2733"/>
                          </a:solidFill>
                          <a:latin typeface="Calibri"/>
                        </a:rPr>
                        <a:t>≤ 1.5 (very severe ≤ 1.0)</a:t>
                      </a:r>
                    </a:p>
                  </a:txBody>
                  <a:tcPr anchor="ctr">
                    <a:solidFill>
                      <a:srgbClr val="FFFFFF"/>
                    </a:solidFill>
                  </a:tcPr>
                </a:tc>
              </a:tr>
              <a:tr h="548640">
                <a:tc>
                  <a:txBody>
                    <a:bodyPr/>
                    <a:lstStyle/>
                    <a:p>
                      <a:r>
                        <a:rPr sz="1400" b="1">
                          <a:solidFill>
                            <a:srgbClr val="1D2733"/>
                          </a:solidFill>
                          <a:latin typeface="Calibri"/>
                        </a:rPr>
                        <a:t>PHT (ms)</a:t>
                      </a:r>
                    </a:p>
                  </a:txBody>
                  <a:tcPr anchor="ctr">
                    <a:solidFill>
                      <a:srgbClr val="EEF3F9"/>
                    </a:solidFill>
                  </a:tcPr>
                </a:tc>
                <a:tc>
                  <a:txBody>
                    <a:bodyPr/>
                    <a:lstStyle/>
                    <a:p>
                      <a:r>
                        <a:rPr sz="1400" b="0">
                          <a:solidFill>
                            <a:srgbClr val="1D2733"/>
                          </a:solidFill>
                          <a:latin typeface="Calibri"/>
                        </a:rPr>
                        <a:t>&lt; 150</a:t>
                      </a:r>
                    </a:p>
                  </a:txBody>
                  <a:tcPr anchor="ctr">
                    <a:solidFill>
                      <a:srgbClr val="EEF3F9"/>
                    </a:solidFill>
                  </a:tcPr>
                </a:tc>
                <a:tc>
                  <a:txBody>
                    <a:bodyPr/>
                    <a:lstStyle/>
                    <a:p>
                      <a:r>
                        <a:rPr sz="1400" b="0">
                          <a:solidFill>
                            <a:srgbClr val="1D2733"/>
                          </a:solidFill>
                          <a:latin typeface="Calibri"/>
                        </a:rPr>
                        <a:t>150 - 219</a:t>
                      </a:r>
                    </a:p>
                  </a:txBody>
                  <a:tcPr anchor="ctr">
                    <a:solidFill>
                      <a:srgbClr val="EEF3F9"/>
                    </a:solidFill>
                  </a:tcPr>
                </a:tc>
                <a:tc>
                  <a:txBody>
                    <a:bodyPr/>
                    <a:lstStyle/>
                    <a:p>
                      <a:r>
                        <a:rPr sz="1400" b="0">
                          <a:solidFill>
                            <a:srgbClr val="1D2733"/>
                          </a:solidFill>
                          <a:latin typeface="Calibri"/>
                        </a:rPr>
                        <a:t>≥ 150 (very severe ≥ 220)</a:t>
                      </a:r>
                    </a:p>
                  </a:txBody>
                  <a:tcPr anchor="ctr">
                    <a:solidFill>
                      <a:srgbClr val="EEF3F9"/>
                    </a:solidFill>
                  </a:tcPr>
                </a:tc>
              </a:tr>
              <a:tr h="548640">
                <a:tc>
                  <a:txBody>
                    <a:bodyPr/>
                    <a:lstStyle/>
                    <a:p>
                      <a:r>
                        <a:rPr sz="1400" b="1">
                          <a:solidFill>
                            <a:srgbClr val="1D2733"/>
                          </a:solidFill>
                          <a:latin typeface="Calibri"/>
                        </a:rPr>
                        <a:t>Mean gradient (mmHg)</a:t>
                      </a:r>
                    </a:p>
                  </a:txBody>
                  <a:tcPr anchor="ctr">
                    <a:solidFill>
                      <a:srgbClr val="FFFFFF"/>
                    </a:solidFill>
                  </a:tcPr>
                </a:tc>
                <a:tc>
                  <a:txBody>
                    <a:bodyPr/>
                    <a:lstStyle/>
                    <a:p>
                      <a:r>
                        <a:rPr sz="1400" b="0">
                          <a:solidFill>
                            <a:srgbClr val="1D2733"/>
                          </a:solidFill>
                          <a:latin typeface="Calibri"/>
                        </a:rPr>
                        <a:t>&lt; 5</a:t>
                      </a:r>
                    </a:p>
                  </a:txBody>
                  <a:tcPr anchor="ctr">
                    <a:solidFill>
                      <a:srgbClr val="FFFFFF"/>
                    </a:solidFill>
                  </a:tcPr>
                </a:tc>
                <a:tc>
                  <a:txBody>
                    <a:bodyPr/>
                    <a:lstStyle/>
                    <a:p>
                      <a:r>
                        <a:rPr sz="1400" b="0">
                          <a:solidFill>
                            <a:srgbClr val="1D2733"/>
                          </a:solidFill>
                          <a:latin typeface="Calibri"/>
                        </a:rPr>
                        <a:t>5 - 10</a:t>
                      </a:r>
                    </a:p>
                  </a:txBody>
                  <a:tcPr anchor="ctr">
                    <a:solidFill>
                      <a:srgbClr val="FFFFFF"/>
                    </a:solidFill>
                  </a:tcPr>
                </a:tc>
                <a:tc>
                  <a:txBody>
                    <a:bodyPr/>
                    <a:lstStyle/>
                    <a:p>
                      <a:r>
                        <a:rPr sz="1400" b="0">
                          <a:solidFill>
                            <a:srgbClr val="1D2733"/>
                          </a:solidFill>
                          <a:latin typeface="Calibri"/>
                        </a:rPr>
                        <a:t>&gt; 10 at HR 60-80</a:t>
                      </a:r>
                    </a:p>
                  </a:txBody>
                  <a:tcPr anchor="ctr">
                    <a:solidFill>
                      <a:srgbClr val="FFFFFF"/>
                    </a:solidFill>
                  </a:tcPr>
                </a:tc>
              </a:tr>
              <a:tr h="548640">
                <a:tc>
                  <a:txBody>
                    <a:bodyPr/>
                    <a:lstStyle/>
                    <a:p>
                      <a:r>
                        <a:rPr sz="1400" b="1">
                          <a:solidFill>
                            <a:srgbClr val="1D2733"/>
                          </a:solidFill>
                          <a:latin typeface="Calibri"/>
                        </a:rPr>
                        <a:t>PASP (mmHg)</a:t>
                      </a:r>
                    </a:p>
                  </a:txBody>
                  <a:tcPr anchor="ctr">
                    <a:solidFill>
                      <a:srgbClr val="EEF3F9"/>
                    </a:solidFill>
                  </a:tcPr>
                </a:tc>
                <a:tc>
                  <a:txBody>
                    <a:bodyPr/>
                    <a:lstStyle/>
                    <a:p>
                      <a:r>
                        <a:rPr sz="1400" b="0">
                          <a:solidFill>
                            <a:srgbClr val="1D2733"/>
                          </a:solidFill>
                          <a:latin typeface="Calibri"/>
                        </a:rPr>
                        <a:t>&lt; 30</a:t>
                      </a:r>
                    </a:p>
                  </a:txBody>
                  <a:tcPr anchor="ctr">
                    <a:solidFill>
                      <a:srgbClr val="EEF3F9"/>
                    </a:solidFill>
                  </a:tcPr>
                </a:tc>
                <a:tc>
                  <a:txBody>
                    <a:bodyPr/>
                    <a:lstStyle/>
                    <a:p>
                      <a:r>
                        <a:rPr sz="1400" b="0">
                          <a:solidFill>
                            <a:srgbClr val="1D2733"/>
                          </a:solidFill>
                          <a:latin typeface="Calibri"/>
                        </a:rPr>
                        <a:t>30 - 50</a:t>
                      </a:r>
                    </a:p>
                  </a:txBody>
                  <a:tcPr anchor="ctr">
                    <a:solidFill>
                      <a:srgbClr val="EEF3F9"/>
                    </a:solidFill>
                  </a:tcPr>
                </a:tc>
                <a:tc>
                  <a:txBody>
                    <a:bodyPr/>
                    <a:lstStyle/>
                    <a:p>
                      <a:r>
                        <a:rPr sz="1400" b="0">
                          <a:solidFill>
                            <a:srgbClr val="1D2733"/>
                          </a:solidFill>
                          <a:latin typeface="Calibri"/>
                        </a:rPr>
                        <a:t>&gt; 50</a:t>
                      </a:r>
                    </a:p>
                  </a:txBody>
                  <a:tcPr anchor="ctr">
                    <a:solidFill>
                      <a:srgbClr val="EEF3F9"/>
                    </a:solidFill>
                  </a:tcPr>
                </a:tc>
              </a:tr>
            </a:tbl>
          </a:graphicData>
        </a:graphic>
      </p:graphicFrame>
      <p:sp>
        <p:nvSpPr>
          <p:cNvPr id="9" name="Rectangle 8"/>
          <p:cNvSpPr/>
          <p:nvPr/>
        </p:nvSpPr>
        <p:spPr>
          <a:xfrm>
            <a:off x="8138160" y="1371600"/>
            <a:ext cx="3566160" cy="21945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38160" y="1371600"/>
            <a:ext cx="82296" cy="2194560"/>
          </a:xfrm>
          <a:prstGeom prst="rect">
            <a:avLst/>
          </a:prstGeom>
          <a:solidFill>
            <a:srgbClr val="1F7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60" y="1444752"/>
            <a:ext cx="3200400" cy="274320"/>
          </a:xfrm>
          <a:prstGeom prst="rect">
            <a:avLst/>
          </a:prstGeom>
          <a:noFill/>
        </p:spPr>
        <p:txBody>
          <a:bodyPr wrap="square" anchor="t" lIns="45720" rIns="45720">
            <a:spAutoFit/>
          </a:bodyPr>
          <a:lstStyle/>
          <a:p>
            <a:pPr algn="l"/>
            <a:r>
              <a:rPr sz="1100" b="1">
                <a:solidFill>
                  <a:srgbClr val="1F7A5A"/>
                </a:solidFill>
                <a:latin typeface="Calibri"/>
              </a:rPr>
              <a:t>BEFORE PBC</a:t>
            </a:r>
          </a:p>
        </p:txBody>
      </p:sp>
      <p:sp>
        <p:nvSpPr>
          <p:cNvPr id="12" name="TextBox 11"/>
          <p:cNvSpPr txBox="1"/>
          <p:nvPr/>
        </p:nvSpPr>
        <p:spPr>
          <a:xfrm>
            <a:off x="8366760" y="1737360"/>
            <a:ext cx="3200400" cy="1783080"/>
          </a:xfrm>
          <a:prstGeom prst="rect">
            <a:avLst/>
          </a:prstGeom>
          <a:noFill/>
        </p:spPr>
        <p:txBody>
          <a:bodyPr wrap="square" anchor="t" lIns="45720" rIns="45720">
            <a:spAutoFit/>
          </a:bodyPr>
          <a:lstStyle/>
          <a:p>
            <a:pPr algn="l"/>
            <a:r>
              <a:rPr sz="1400" b="0">
                <a:solidFill>
                  <a:srgbClr val="1D2733"/>
                </a:solidFill>
                <a:latin typeface="Calibri"/>
              </a:rPr>
              <a:t>Exclude LA/LAA thrombus (TEE) and more than mild MR. Wilkins ≤ 8 favours success.</a:t>
            </a:r>
          </a:p>
        </p:txBody>
      </p:sp>
      <p:sp>
        <p:nvSpPr>
          <p:cNvPr id="13" name="Rectangle 12"/>
          <p:cNvSpPr/>
          <p:nvPr/>
        </p:nvSpPr>
        <p:spPr>
          <a:xfrm>
            <a:off x="548640" y="4389120"/>
            <a:ext cx="7223760" cy="17373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4389120"/>
            <a:ext cx="82296" cy="1737360"/>
          </a:xfrm>
          <a:prstGeom prst="rect">
            <a:avLst/>
          </a:prstGeom>
          <a:solidFill>
            <a:srgbClr val="C77C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462272"/>
            <a:ext cx="6858000" cy="274320"/>
          </a:xfrm>
          <a:prstGeom prst="rect">
            <a:avLst/>
          </a:prstGeom>
          <a:noFill/>
        </p:spPr>
        <p:txBody>
          <a:bodyPr wrap="square" anchor="t" lIns="45720" rIns="45720">
            <a:spAutoFit/>
          </a:bodyPr>
          <a:lstStyle/>
          <a:p>
            <a:pPr algn="l"/>
            <a:r>
              <a:rPr sz="1100" b="1">
                <a:solidFill>
                  <a:srgbClr val="C77C0E"/>
                </a:solidFill>
                <a:latin typeface="Calibri"/>
              </a:rPr>
              <a:t>PHT PITFALLS</a:t>
            </a:r>
          </a:p>
        </p:txBody>
      </p:sp>
      <p:sp>
        <p:nvSpPr>
          <p:cNvPr id="16" name="TextBox 15"/>
          <p:cNvSpPr txBox="1"/>
          <p:nvPr/>
        </p:nvSpPr>
        <p:spPr>
          <a:xfrm>
            <a:off x="777240" y="4754880"/>
            <a:ext cx="6858000" cy="1325880"/>
          </a:xfrm>
          <a:prstGeom prst="rect">
            <a:avLst/>
          </a:prstGeom>
          <a:noFill/>
        </p:spPr>
        <p:txBody>
          <a:bodyPr wrap="square" anchor="t" lIns="45720" rIns="45720">
            <a:spAutoFit/>
          </a:bodyPr>
          <a:lstStyle/>
          <a:p>
            <a:pPr algn="l"/>
            <a:r>
              <a:rPr sz="1500" b="0">
                <a:solidFill>
                  <a:srgbClr val="1D2733"/>
                </a:solidFill>
                <a:latin typeface="Calibri"/>
              </a:rPr>
              <a:t>MVA = 220 / PHT. Unreliable in AF, tachycardia, abnormal compliance, after PBC, and with significant AR. Prefer planimetry.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45720"/>
          </a:xfrm>
          <a:prstGeom prst="rect">
            <a:avLst/>
          </a:prstGeom>
          <a:solidFill>
            <a:srgbClr val="C9A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8229600" cy="274320"/>
          </a:xfrm>
          <a:prstGeom prst="rect">
            <a:avLst/>
          </a:prstGeom>
          <a:noFill/>
        </p:spPr>
        <p:txBody>
          <a:bodyPr wrap="square" anchor="t" lIns="45720" rIns="45720">
            <a:spAutoFit/>
          </a:bodyPr>
          <a:lstStyle/>
          <a:p>
            <a:pPr algn="l"/>
            <a:r>
              <a:rPr sz="1100" b="1">
                <a:solidFill>
                  <a:srgbClr val="C9A24B"/>
                </a:solidFill>
                <a:latin typeface="Calibri"/>
              </a:rPr>
              <a:t>REGURGITANT LESIONS</a:t>
            </a:r>
          </a:p>
        </p:txBody>
      </p:sp>
      <p:sp>
        <p:nvSpPr>
          <p:cNvPr id="5" name="TextBox 4"/>
          <p:cNvSpPr txBox="1"/>
          <p:nvPr/>
        </p:nvSpPr>
        <p:spPr>
          <a:xfrm>
            <a:off x="502920" y="347472"/>
            <a:ext cx="10972800" cy="640080"/>
          </a:xfrm>
          <a:prstGeom prst="rect">
            <a:avLst/>
          </a:prstGeom>
          <a:noFill/>
        </p:spPr>
        <p:txBody>
          <a:bodyPr wrap="square" anchor="t" lIns="45720" rIns="45720">
            <a:spAutoFit/>
          </a:bodyPr>
          <a:lstStyle/>
          <a:p>
            <a:pPr algn="l"/>
            <a:r>
              <a:rPr sz="2800" b="1">
                <a:solidFill>
                  <a:srgbClr val="FFFFFF"/>
                </a:solidFill>
                <a:latin typeface="Cambria"/>
              </a:rPr>
              <a:t>Mitral regurgitation</a:t>
            </a:r>
          </a:p>
        </p:txBody>
      </p:sp>
      <p:sp>
        <p:nvSpPr>
          <p:cNvPr id="6" name="TextBox 5"/>
          <p:cNvSpPr txBox="1"/>
          <p:nvPr/>
        </p:nvSpPr>
        <p:spPr>
          <a:xfrm>
            <a:off x="502920" y="6473952"/>
            <a:ext cx="8229600" cy="274320"/>
          </a:xfrm>
          <a:prstGeom prst="rect">
            <a:avLst/>
          </a:prstGeom>
          <a:noFill/>
        </p:spPr>
        <p:txBody>
          <a:bodyPr wrap="square" anchor="t" lIns="45720" rIns="45720">
            <a:spAutoFit/>
          </a:bodyPr>
          <a:lstStyle/>
          <a:p>
            <a:pPr algn="l"/>
            <a:r>
              <a:rPr sz="900" b="0">
                <a:solidFill>
                  <a:srgbClr val="6B7785"/>
                </a:solidFill>
                <a:latin typeface="Calibri"/>
              </a:rPr>
              <a:t>ECHO ESSENTIALS  |  Dr. [Your Name]</a:t>
            </a:r>
          </a:p>
        </p:txBody>
      </p:sp>
      <p:sp>
        <p:nvSpPr>
          <p:cNvPr id="7" name="TextBox 6"/>
          <p:cNvSpPr txBox="1"/>
          <p:nvPr/>
        </p:nvSpPr>
        <p:spPr>
          <a:xfrm>
            <a:off x="10972800" y="6473952"/>
            <a:ext cx="731520" cy="274320"/>
          </a:xfrm>
          <a:prstGeom prst="rect">
            <a:avLst/>
          </a:prstGeom>
          <a:noFill/>
        </p:spPr>
        <p:txBody>
          <a:bodyPr wrap="square" anchor="t" lIns="45720" rIns="45720">
            <a:spAutoFit/>
          </a:bodyPr>
          <a:lstStyle/>
          <a:p>
            <a:pPr algn="r"/>
            <a:r>
              <a:rPr sz="1000" b="1">
                <a:solidFill>
                  <a:srgbClr val="B3202E"/>
                </a:solidFill>
                <a:latin typeface="Calibri"/>
              </a:rPr>
              <a:t>14</a:t>
            </a:r>
          </a:p>
        </p:txBody>
      </p:sp>
      <p:graphicFrame>
        <p:nvGraphicFramePr>
          <p:cNvPr id="8" name="Table 7"/>
          <p:cNvGraphicFramePr>
            <a:graphicFrameLocks noGrp="1"/>
          </p:cNvGraphicFramePr>
          <p:nvPr/>
        </p:nvGraphicFramePr>
        <p:xfrm>
          <a:off x="548640" y="1371600"/>
          <a:ext cx="7223760" cy="3182112"/>
        </p:xfrm>
        <a:graphic>
          <a:graphicData uri="http://schemas.openxmlformats.org/drawingml/2006/table">
            <a:tbl>
              <a:tblPr firstRow="1" bandRow="1">
                <a:tableStyleId>{5C22544A-7EE6-4342-B048-85BDC9FD1C3A}</a:tableStyleId>
              </a:tblPr>
              <a:tblGrid>
                <a:gridCol w="2468880"/>
                <a:gridCol w="1463040"/>
                <a:gridCol w="1463040"/>
                <a:gridCol w="1828800"/>
              </a:tblGrid>
              <a:tr h="530352">
                <a:tc>
                  <a:txBody>
                    <a:bodyPr/>
                    <a:lstStyle/>
                    <a:p>
                      <a:r>
                        <a:rPr sz="1400" b="1">
                          <a:solidFill>
                            <a:srgbClr val="FFFFFF"/>
                          </a:solidFill>
                          <a:latin typeface="Calibri"/>
                        </a:rPr>
                        <a:t>Parameter</a:t>
                      </a:r>
                    </a:p>
                  </a:txBody>
                  <a:tcPr anchor="ctr">
                    <a:solidFill>
                      <a:srgbClr val="0B1F3A"/>
                    </a:solidFill>
                  </a:tcPr>
                </a:tc>
                <a:tc>
                  <a:txBody>
                    <a:bodyPr/>
                    <a:lstStyle/>
                    <a:p>
                      <a:r>
                        <a:rPr sz="1400" b="1">
                          <a:solidFill>
                            <a:srgbClr val="FFFFFF"/>
                          </a:solidFill>
                          <a:latin typeface="Calibri"/>
                        </a:rPr>
                        <a:t>Mild</a:t>
                      </a:r>
                    </a:p>
                  </a:txBody>
                  <a:tcPr anchor="ctr">
                    <a:solidFill>
                      <a:srgbClr val="0B1F3A"/>
                    </a:solidFill>
                  </a:tcPr>
                </a:tc>
                <a:tc>
                  <a:txBody>
                    <a:bodyPr/>
                    <a:lstStyle/>
                    <a:p>
                      <a:r>
                        <a:rPr sz="1400" b="1">
                          <a:solidFill>
                            <a:srgbClr val="FFFFFF"/>
                          </a:solidFill>
                          <a:latin typeface="Calibri"/>
                        </a:rPr>
                        <a:t>Moderate</a:t>
                      </a:r>
                    </a:p>
                  </a:txBody>
                  <a:tcPr anchor="ctr">
                    <a:solidFill>
                      <a:srgbClr val="0B1F3A"/>
                    </a:solidFill>
                  </a:tcPr>
                </a:tc>
                <a:tc>
                  <a:txBody>
                    <a:bodyPr/>
                    <a:lstStyle/>
                    <a:p>
                      <a:r>
                        <a:rPr sz="1400" b="1">
                          <a:solidFill>
                            <a:srgbClr val="FFFFFF"/>
                          </a:solidFill>
                          <a:latin typeface="Calibri"/>
                        </a:rPr>
                        <a:t>Severe</a:t>
                      </a:r>
                    </a:p>
                  </a:txBody>
                  <a:tcPr anchor="ctr">
                    <a:solidFill>
                      <a:srgbClr val="0B1F3A"/>
                    </a:solidFill>
                  </a:tcPr>
                </a:tc>
              </a:tr>
              <a:tr h="530352">
                <a:tc>
                  <a:txBody>
                    <a:bodyPr/>
                    <a:lstStyle/>
                    <a:p>
                      <a:r>
                        <a:rPr sz="1400" b="1">
                          <a:solidFill>
                            <a:srgbClr val="1D2733"/>
                          </a:solidFill>
                          <a:latin typeface="Calibri"/>
                        </a:rPr>
                        <a:t>Vena contracta (mm)</a:t>
                      </a:r>
                    </a:p>
                  </a:txBody>
                  <a:tcPr anchor="ctr">
                    <a:solidFill>
                      <a:srgbClr val="FFFFFF"/>
                    </a:solidFill>
                  </a:tcPr>
                </a:tc>
                <a:tc>
                  <a:txBody>
                    <a:bodyPr/>
                    <a:lstStyle/>
                    <a:p>
                      <a:r>
                        <a:rPr sz="1400" b="0">
                          <a:solidFill>
                            <a:srgbClr val="1D2733"/>
                          </a:solidFill>
                          <a:latin typeface="Calibri"/>
                        </a:rPr>
                        <a:t>&lt; 3</a:t>
                      </a:r>
                    </a:p>
                  </a:txBody>
                  <a:tcPr anchor="ctr">
                    <a:solidFill>
                      <a:srgbClr val="FFFFFF"/>
                    </a:solidFill>
                  </a:tcPr>
                </a:tc>
                <a:tc>
                  <a:txBody>
                    <a:bodyPr/>
                    <a:lstStyle/>
                    <a:p>
                      <a:r>
                        <a:rPr sz="1400" b="0">
                          <a:solidFill>
                            <a:srgbClr val="1D2733"/>
                          </a:solidFill>
                          <a:latin typeface="Calibri"/>
                        </a:rPr>
                        <a:t>3 - 6.9</a:t>
                      </a:r>
                    </a:p>
                  </a:txBody>
                  <a:tcPr anchor="ctr">
                    <a:solidFill>
                      <a:srgbClr val="FFFFFF"/>
                    </a:solidFill>
                  </a:tcPr>
                </a:tc>
                <a:tc>
                  <a:txBody>
                    <a:bodyPr/>
                    <a:lstStyle/>
                    <a:p>
                      <a:r>
                        <a:rPr sz="1400" b="0">
                          <a:solidFill>
                            <a:srgbClr val="1D2733"/>
                          </a:solidFill>
                          <a:latin typeface="Calibri"/>
                        </a:rPr>
                        <a:t>≥ 7</a:t>
                      </a:r>
                    </a:p>
                  </a:txBody>
                  <a:tcPr anchor="ctr">
                    <a:solidFill>
                      <a:srgbClr val="FFFFFF"/>
                    </a:solidFill>
                  </a:tcPr>
                </a:tc>
              </a:tr>
              <a:tr h="530352">
                <a:tc>
                  <a:txBody>
                    <a:bodyPr/>
                    <a:lstStyle/>
                    <a:p>
                      <a:r>
                        <a:rPr sz="1400" b="1">
                          <a:solidFill>
                            <a:srgbClr val="1D2733"/>
                          </a:solidFill>
                          <a:latin typeface="Calibri"/>
                        </a:rPr>
                        <a:t>EROA, primary (cm²)</a:t>
                      </a:r>
                    </a:p>
                  </a:txBody>
                  <a:tcPr anchor="ctr">
                    <a:solidFill>
                      <a:srgbClr val="EEF3F9"/>
                    </a:solidFill>
                  </a:tcPr>
                </a:tc>
                <a:tc>
                  <a:txBody>
                    <a:bodyPr/>
                    <a:lstStyle/>
                    <a:p>
                      <a:r>
                        <a:rPr sz="1400" b="0">
                          <a:solidFill>
                            <a:srgbClr val="1D2733"/>
                          </a:solidFill>
                          <a:latin typeface="Calibri"/>
                        </a:rPr>
                        <a:t>&lt; 0.20</a:t>
                      </a:r>
                    </a:p>
                  </a:txBody>
                  <a:tcPr anchor="ctr">
                    <a:solidFill>
                      <a:srgbClr val="EEF3F9"/>
                    </a:solidFill>
                  </a:tcPr>
                </a:tc>
                <a:tc>
                  <a:txBody>
                    <a:bodyPr/>
                    <a:lstStyle/>
                    <a:p>
                      <a:r>
                        <a:rPr sz="1400" b="0">
                          <a:solidFill>
                            <a:srgbClr val="1D2733"/>
                          </a:solidFill>
                          <a:latin typeface="Calibri"/>
                        </a:rPr>
                        <a:t>0.20 - 0.39</a:t>
                      </a:r>
                    </a:p>
                  </a:txBody>
                  <a:tcPr anchor="ctr">
                    <a:solidFill>
                      <a:srgbClr val="EEF3F9"/>
                    </a:solidFill>
                  </a:tcPr>
                </a:tc>
                <a:tc>
                  <a:txBody>
                    <a:bodyPr/>
                    <a:lstStyle/>
                    <a:p>
                      <a:r>
                        <a:rPr sz="1400" b="0">
                          <a:solidFill>
                            <a:srgbClr val="1D2733"/>
                          </a:solidFill>
                          <a:latin typeface="Calibri"/>
                        </a:rPr>
                        <a:t>≥ 0.40</a:t>
                      </a:r>
                    </a:p>
                  </a:txBody>
                  <a:tcPr anchor="ctr">
                    <a:solidFill>
                      <a:srgbClr val="EEF3F9"/>
                    </a:solidFill>
                  </a:tcPr>
                </a:tc>
              </a:tr>
              <a:tr h="530352">
                <a:tc>
                  <a:txBody>
                    <a:bodyPr/>
                    <a:lstStyle/>
                    <a:p>
                      <a:r>
                        <a:rPr sz="1400" b="1">
                          <a:solidFill>
                            <a:srgbClr val="1D2733"/>
                          </a:solidFill>
                          <a:latin typeface="Calibri"/>
                        </a:rPr>
                        <a:t>RVol (mL)</a:t>
                      </a:r>
                    </a:p>
                  </a:txBody>
                  <a:tcPr anchor="ctr">
                    <a:solidFill>
                      <a:srgbClr val="FFFFFF"/>
                    </a:solidFill>
                  </a:tcPr>
                </a:tc>
                <a:tc>
                  <a:txBody>
                    <a:bodyPr/>
                    <a:lstStyle/>
                    <a:p>
                      <a:r>
                        <a:rPr sz="1400" b="0">
                          <a:solidFill>
                            <a:srgbClr val="1D2733"/>
                          </a:solidFill>
                          <a:latin typeface="Calibri"/>
                        </a:rPr>
                        <a:t>&lt; 30</a:t>
                      </a:r>
                    </a:p>
                  </a:txBody>
                  <a:tcPr anchor="ctr">
                    <a:solidFill>
                      <a:srgbClr val="FFFFFF"/>
                    </a:solidFill>
                  </a:tcPr>
                </a:tc>
                <a:tc>
                  <a:txBody>
                    <a:bodyPr/>
                    <a:lstStyle/>
                    <a:p>
                      <a:r>
                        <a:rPr sz="1400" b="0">
                          <a:solidFill>
                            <a:srgbClr val="1D2733"/>
                          </a:solidFill>
                          <a:latin typeface="Calibri"/>
                        </a:rPr>
                        <a:t>30 - 59</a:t>
                      </a:r>
                    </a:p>
                  </a:txBody>
                  <a:tcPr anchor="ctr">
                    <a:solidFill>
                      <a:srgbClr val="FFFFFF"/>
                    </a:solidFill>
                  </a:tcPr>
                </a:tc>
                <a:tc>
                  <a:txBody>
                    <a:bodyPr/>
                    <a:lstStyle/>
                    <a:p>
                      <a:r>
                        <a:rPr sz="1400" b="0">
                          <a:solidFill>
                            <a:srgbClr val="1D2733"/>
                          </a:solidFill>
                          <a:latin typeface="Calibri"/>
                        </a:rPr>
                        <a:t>≥ 60</a:t>
                      </a:r>
                    </a:p>
                  </a:txBody>
                  <a:tcPr anchor="ctr">
                    <a:solidFill>
                      <a:srgbClr val="FFFFFF"/>
                    </a:solidFill>
                  </a:tcPr>
                </a:tc>
              </a:tr>
              <a:tr h="530352">
                <a:tc>
                  <a:txBody>
                    <a:bodyPr/>
                    <a:lstStyle/>
                    <a:p>
                      <a:r>
                        <a:rPr sz="1400" b="1">
                          <a:solidFill>
                            <a:srgbClr val="1D2733"/>
                          </a:solidFill>
                          <a:latin typeface="Calibri"/>
                        </a:rPr>
                        <a:t>RF (%)</a:t>
                      </a:r>
                    </a:p>
                  </a:txBody>
                  <a:tcPr anchor="ctr">
                    <a:solidFill>
                      <a:srgbClr val="EEF3F9"/>
                    </a:solidFill>
                  </a:tcPr>
                </a:tc>
                <a:tc>
                  <a:txBody>
                    <a:bodyPr/>
                    <a:lstStyle/>
                    <a:p>
                      <a:r>
                        <a:rPr sz="1400" b="0">
                          <a:solidFill>
                            <a:srgbClr val="1D2733"/>
                          </a:solidFill>
                          <a:latin typeface="Calibri"/>
                        </a:rPr>
                        <a:t>&lt; 30</a:t>
                      </a:r>
                    </a:p>
                  </a:txBody>
                  <a:tcPr anchor="ctr">
                    <a:solidFill>
                      <a:srgbClr val="EEF3F9"/>
                    </a:solidFill>
                  </a:tcPr>
                </a:tc>
                <a:tc>
                  <a:txBody>
                    <a:bodyPr/>
                    <a:lstStyle/>
                    <a:p>
                      <a:r>
                        <a:rPr sz="1400" b="0">
                          <a:solidFill>
                            <a:srgbClr val="1D2733"/>
                          </a:solidFill>
                          <a:latin typeface="Calibri"/>
                        </a:rPr>
                        <a:t>30 - 49</a:t>
                      </a:r>
                    </a:p>
                  </a:txBody>
                  <a:tcPr anchor="ctr">
                    <a:solidFill>
                      <a:srgbClr val="EEF3F9"/>
                    </a:solidFill>
                  </a:tcPr>
                </a:tc>
                <a:tc>
                  <a:txBody>
                    <a:bodyPr/>
                    <a:lstStyle/>
                    <a:p>
                      <a:r>
                        <a:rPr sz="1400" b="0">
                          <a:solidFill>
                            <a:srgbClr val="1D2733"/>
                          </a:solidFill>
                          <a:latin typeface="Calibri"/>
                        </a:rPr>
                        <a:t>≥ 50</a:t>
                      </a:r>
                    </a:p>
                  </a:txBody>
                  <a:tcPr anchor="ctr">
                    <a:solidFill>
                      <a:srgbClr val="EEF3F9"/>
                    </a:solidFill>
                  </a:tcPr>
                </a:tc>
              </a:tr>
              <a:tr h="530352">
                <a:tc>
                  <a:txBody>
                    <a:bodyPr/>
                    <a:lstStyle/>
                    <a:p>
                      <a:r>
                        <a:rPr sz="1400" b="1">
                          <a:solidFill>
                            <a:srgbClr val="1D2733"/>
                          </a:solidFill>
                          <a:latin typeface="Calibri"/>
                        </a:rPr>
                        <a:t>PV flow</a:t>
                      </a:r>
                    </a:p>
                  </a:txBody>
                  <a:tcPr anchor="ctr">
                    <a:solidFill>
                      <a:srgbClr val="FFFFFF"/>
                    </a:solidFill>
                  </a:tcPr>
                </a:tc>
                <a:tc>
                  <a:txBody>
                    <a:bodyPr/>
                    <a:lstStyle/>
                    <a:p>
                      <a:r>
                        <a:rPr sz="1400" b="0">
                          <a:solidFill>
                            <a:srgbClr val="1D2733"/>
                          </a:solidFill>
                          <a:latin typeface="Calibri"/>
                        </a:rPr>
                        <a:t>Systolic dominant</a:t>
                      </a:r>
                    </a:p>
                  </a:txBody>
                  <a:tcPr anchor="ctr">
                    <a:solidFill>
                      <a:srgbClr val="FFFFFF"/>
                    </a:solidFill>
                  </a:tcPr>
                </a:tc>
                <a:tc>
                  <a:txBody>
                    <a:bodyPr/>
                    <a:lstStyle/>
                    <a:p>
                      <a:r>
                        <a:rPr sz="1400" b="0">
                          <a:solidFill>
                            <a:srgbClr val="1D2733"/>
                          </a:solidFill>
                          <a:latin typeface="Calibri"/>
                        </a:rPr>
                        <a:t>Blunted</a:t>
                      </a:r>
                    </a:p>
                  </a:txBody>
                  <a:tcPr anchor="ctr">
                    <a:solidFill>
                      <a:srgbClr val="FFFFFF"/>
                    </a:solidFill>
                  </a:tcPr>
                </a:tc>
                <a:tc>
                  <a:txBody>
                    <a:bodyPr/>
                    <a:lstStyle/>
                    <a:p>
                      <a:r>
                        <a:rPr sz="1400" b="0">
                          <a:solidFill>
                            <a:srgbClr val="1D2733"/>
                          </a:solidFill>
                          <a:latin typeface="Calibri"/>
                        </a:rPr>
                        <a:t>Systolic reversal</a:t>
                      </a:r>
                    </a:p>
                  </a:txBody>
                  <a:tcPr anchor="ctr">
                    <a:solidFill>
                      <a:srgbClr val="FFFFFF"/>
                    </a:solidFill>
                  </a:tcPr>
                </a:tc>
              </a:tr>
            </a:tbl>
          </a:graphicData>
        </a:graphic>
      </p:graphicFrame>
      <p:sp>
        <p:nvSpPr>
          <p:cNvPr id="9" name="Rectangle 8"/>
          <p:cNvSpPr/>
          <p:nvPr/>
        </p:nvSpPr>
        <p:spPr>
          <a:xfrm>
            <a:off x="8138160" y="1371600"/>
            <a:ext cx="3566160" cy="228600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38160" y="1371600"/>
            <a:ext cx="82296" cy="2286000"/>
          </a:xfrm>
          <a:prstGeom prst="rect">
            <a:avLst/>
          </a:prstGeom>
          <a:solidFill>
            <a:srgbClr val="1F7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60" y="1444752"/>
            <a:ext cx="3200400" cy="274320"/>
          </a:xfrm>
          <a:prstGeom prst="rect">
            <a:avLst/>
          </a:prstGeom>
          <a:noFill/>
        </p:spPr>
        <p:txBody>
          <a:bodyPr wrap="square" anchor="t" lIns="45720" rIns="45720">
            <a:spAutoFit/>
          </a:bodyPr>
          <a:lstStyle/>
          <a:p>
            <a:pPr algn="l"/>
            <a:r>
              <a:rPr sz="1100" b="1">
                <a:solidFill>
                  <a:srgbClr val="1F7A5A"/>
                </a:solidFill>
                <a:latin typeface="Calibri"/>
              </a:rPr>
              <a:t>PRIMARY MR: OPERATE</a:t>
            </a:r>
          </a:p>
        </p:txBody>
      </p:sp>
      <p:sp>
        <p:nvSpPr>
          <p:cNvPr id="12" name="TextBox 11"/>
          <p:cNvSpPr txBox="1"/>
          <p:nvPr/>
        </p:nvSpPr>
        <p:spPr>
          <a:xfrm>
            <a:off x="8366760" y="1737360"/>
            <a:ext cx="3200400" cy="1874519"/>
          </a:xfrm>
          <a:prstGeom prst="rect">
            <a:avLst/>
          </a:prstGeom>
          <a:noFill/>
        </p:spPr>
        <p:txBody>
          <a:bodyPr wrap="square" anchor="t" lIns="45720" rIns="45720">
            <a:spAutoFit/>
          </a:bodyPr>
          <a:lstStyle/>
          <a:p>
            <a:pPr algn="l"/>
            <a:r>
              <a:rPr sz="1400" b="0">
                <a:solidFill>
                  <a:srgbClr val="1D2733"/>
                </a:solidFill>
                <a:latin typeface="Calibri"/>
              </a:rPr>
              <a:t>Symptoms; LVESD ≥ 40 mm; LVEF ≤ 60%; new AF; PASP &gt; 50; LA volume index ≥ 60.</a:t>
            </a:r>
          </a:p>
        </p:txBody>
      </p:sp>
      <p:sp>
        <p:nvSpPr>
          <p:cNvPr id="13" name="Rectangle 12"/>
          <p:cNvSpPr/>
          <p:nvPr/>
        </p:nvSpPr>
        <p:spPr>
          <a:xfrm>
            <a:off x="548640" y="4754880"/>
            <a:ext cx="7223760" cy="146304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4754880"/>
            <a:ext cx="82296" cy="1463040"/>
          </a:xfrm>
          <a:prstGeom prst="rect">
            <a:avLst/>
          </a:prstGeom>
          <a:solidFill>
            <a:srgbClr val="C77C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828032"/>
            <a:ext cx="6858000" cy="274320"/>
          </a:xfrm>
          <a:prstGeom prst="rect">
            <a:avLst/>
          </a:prstGeom>
          <a:noFill/>
        </p:spPr>
        <p:txBody>
          <a:bodyPr wrap="square" anchor="t" lIns="45720" rIns="45720">
            <a:spAutoFit/>
          </a:bodyPr>
          <a:lstStyle/>
          <a:p>
            <a:pPr algn="l"/>
            <a:r>
              <a:rPr sz="1100" b="1">
                <a:solidFill>
                  <a:srgbClr val="C77C0E"/>
                </a:solidFill>
                <a:latin typeface="Calibri"/>
              </a:rPr>
              <a:t>SECONDARY MR</a:t>
            </a:r>
          </a:p>
        </p:txBody>
      </p:sp>
      <p:sp>
        <p:nvSpPr>
          <p:cNvPr id="16" name="TextBox 15"/>
          <p:cNvSpPr txBox="1"/>
          <p:nvPr/>
        </p:nvSpPr>
        <p:spPr>
          <a:xfrm>
            <a:off x="777240" y="5120640"/>
            <a:ext cx="6858000" cy="1051560"/>
          </a:xfrm>
          <a:prstGeom prst="rect">
            <a:avLst/>
          </a:prstGeom>
          <a:noFill/>
        </p:spPr>
        <p:txBody>
          <a:bodyPr wrap="square" anchor="t" lIns="45720" rIns="45720">
            <a:spAutoFit/>
          </a:bodyPr>
          <a:lstStyle/>
          <a:p>
            <a:pPr algn="l"/>
            <a:r>
              <a:rPr sz="1400" b="0">
                <a:solidFill>
                  <a:srgbClr val="1D2733"/>
                </a:solidFill>
                <a:latin typeface="Calibri"/>
              </a:rPr>
              <a:t>Severe if EROA ≥ 0.20 cm² or RVol ≥ 30 mL (ESC). COAPT enrolled EROA &gt; 0.30. TEER for symptomatic patients on optimal therapy.</a:t>
            </a:r>
          </a:p>
        </p:txBody>
      </p:sp>
      <p:sp>
        <p:nvSpPr>
          <p:cNvPr id="17" name="Rectangle 16"/>
          <p:cNvSpPr/>
          <p:nvPr/>
        </p:nvSpPr>
        <p:spPr>
          <a:xfrm>
            <a:off x="8138160" y="3931920"/>
            <a:ext cx="3566160" cy="228600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3931920"/>
            <a:ext cx="82296" cy="2286000"/>
          </a:xfrm>
          <a:prstGeom prst="rect">
            <a:avLst/>
          </a:prstGeom>
          <a:solidFill>
            <a:srgbClr val="B32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6760" y="4005072"/>
            <a:ext cx="3200400" cy="274320"/>
          </a:xfrm>
          <a:prstGeom prst="rect">
            <a:avLst/>
          </a:prstGeom>
          <a:noFill/>
        </p:spPr>
        <p:txBody>
          <a:bodyPr wrap="square" anchor="t" lIns="45720" rIns="45720">
            <a:spAutoFit/>
          </a:bodyPr>
          <a:lstStyle/>
          <a:p>
            <a:pPr algn="l"/>
            <a:r>
              <a:rPr sz="1100" b="1">
                <a:solidFill>
                  <a:srgbClr val="B3202E"/>
                </a:solidFill>
                <a:latin typeface="Calibri"/>
              </a:rPr>
              <a:t>COMMON ERROR</a:t>
            </a:r>
          </a:p>
        </p:txBody>
      </p:sp>
      <p:sp>
        <p:nvSpPr>
          <p:cNvPr id="20" name="TextBox 19"/>
          <p:cNvSpPr txBox="1"/>
          <p:nvPr/>
        </p:nvSpPr>
        <p:spPr>
          <a:xfrm>
            <a:off x="8366760" y="4297680"/>
            <a:ext cx="3200400" cy="1874519"/>
          </a:xfrm>
          <a:prstGeom prst="rect">
            <a:avLst/>
          </a:prstGeom>
          <a:noFill/>
        </p:spPr>
        <p:txBody>
          <a:bodyPr wrap="square" anchor="t" lIns="45720" rIns="45720">
            <a:spAutoFit/>
          </a:bodyPr>
          <a:lstStyle/>
          <a:p>
            <a:pPr algn="l"/>
            <a:r>
              <a:rPr sz="1400" b="0">
                <a:solidFill>
                  <a:srgbClr val="1D2733"/>
                </a:solidFill>
                <a:latin typeface="Calibri"/>
              </a:rPr>
              <a:t>Wall-hugging jets (Coanda) are underestimated by colour area.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45720"/>
          </a:xfrm>
          <a:prstGeom prst="rect">
            <a:avLst/>
          </a:prstGeom>
          <a:solidFill>
            <a:srgbClr val="C9A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8229600" cy="274320"/>
          </a:xfrm>
          <a:prstGeom prst="rect">
            <a:avLst/>
          </a:prstGeom>
          <a:noFill/>
        </p:spPr>
        <p:txBody>
          <a:bodyPr wrap="square" anchor="t" lIns="45720" rIns="45720">
            <a:spAutoFit/>
          </a:bodyPr>
          <a:lstStyle/>
          <a:p>
            <a:pPr algn="l"/>
            <a:r>
              <a:rPr sz="1100" b="1">
                <a:solidFill>
                  <a:srgbClr val="C9A24B"/>
                </a:solidFill>
                <a:latin typeface="Calibri"/>
              </a:rPr>
              <a:t>REGURGITANT LESIONS</a:t>
            </a:r>
          </a:p>
        </p:txBody>
      </p:sp>
      <p:sp>
        <p:nvSpPr>
          <p:cNvPr id="5" name="TextBox 4"/>
          <p:cNvSpPr txBox="1"/>
          <p:nvPr/>
        </p:nvSpPr>
        <p:spPr>
          <a:xfrm>
            <a:off x="502920" y="347472"/>
            <a:ext cx="10972800" cy="640080"/>
          </a:xfrm>
          <a:prstGeom prst="rect">
            <a:avLst/>
          </a:prstGeom>
          <a:noFill/>
        </p:spPr>
        <p:txBody>
          <a:bodyPr wrap="square" anchor="t" lIns="45720" rIns="45720">
            <a:spAutoFit/>
          </a:bodyPr>
          <a:lstStyle/>
          <a:p>
            <a:pPr algn="l"/>
            <a:r>
              <a:rPr sz="2800" b="1">
                <a:solidFill>
                  <a:srgbClr val="FFFFFF"/>
                </a:solidFill>
                <a:latin typeface="Cambria"/>
              </a:rPr>
              <a:t>Tricuspid regurgitation: five grades</a:t>
            </a:r>
          </a:p>
        </p:txBody>
      </p:sp>
      <p:sp>
        <p:nvSpPr>
          <p:cNvPr id="6" name="TextBox 5"/>
          <p:cNvSpPr txBox="1"/>
          <p:nvPr/>
        </p:nvSpPr>
        <p:spPr>
          <a:xfrm>
            <a:off x="502920" y="6473952"/>
            <a:ext cx="8229600" cy="274320"/>
          </a:xfrm>
          <a:prstGeom prst="rect">
            <a:avLst/>
          </a:prstGeom>
          <a:noFill/>
        </p:spPr>
        <p:txBody>
          <a:bodyPr wrap="square" anchor="t" lIns="45720" rIns="45720">
            <a:spAutoFit/>
          </a:bodyPr>
          <a:lstStyle/>
          <a:p>
            <a:pPr algn="l"/>
            <a:r>
              <a:rPr sz="900" b="0">
                <a:solidFill>
                  <a:srgbClr val="6B7785"/>
                </a:solidFill>
                <a:latin typeface="Calibri"/>
              </a:rPr>
              <a:t>ECHO ESSENTIALS  |  Dr. [Your Name]</a:t>
            </a:r>
          </a:p>
        </p:txBody>
      </p:sp>
      <p:sp>
        <p:nvSpPr>
          <p:cNvPr id="7" name="TextBox 6"/>
          <p:cNvSpPr txBox="1"/>
          <p:nvPr/>
        </p:nvSpPr>
        <p:spPr>
          <a:xfrm>
            <a:off x="10972800" y="6473952"/>
            <a:ext cx="731520" cy="274320"/>
          </a:xfrm>
          <a:prstGeom prst="rect">
            <a:avLst/>
          </a:prstGeom>
          <a:noFill/>
        </p:spPr>
        <p:txBody>
          <a:bodyPr wrap="square" anchor="t" lIns="45720" rIns="45720">
            <a:spAutoFit/>
          </a:bodyPr>
          <a:lstStyle/>
          <a:p>
            <a:pPr algn="r"/>
            <a:r>
              <a:rPr sz="1000" b="1">
                <a:solidFill>
                  <a:srgbClr val="B3202E"/>
                </a:solidFill>
                <a:latin typeface="Calibri"/>
              </a:rPr>
              <a:t>15</a:t>
            </a:r>
          </a:p>
        </p:txBody>
      </p:sp>
      <p:graphicFrame>
        <p:nvGraphicFramePr>
          <p:cNvPr id="8" name="Table 7"/>
          <p:cNvGraphicFramePr>
            <a:graphicFrameLocks noGrp="1"/>
          </p:cNvGraphicFramePr>
          <p:nvPr/>
        </p:nvGraphicFramePr>
        <p:xfrm>
          <a:off x="548640" y="1371600"/>
          <a:ext cx="11064240" cy="2194560"/>
        </p:xfrm>
        <a:graphic>
          <a:graphicData uri="http://schemas.openxmlformats.org/drawingml/2006/table">
            <a:tbl>
              <a:tblPr firstRow="1" bandRow="1">
                <a:tableStyleId>{5C22544A-7EE6-4342-B048-85BDC9FD1C3A}</a:tableStyleId>
              </a:tblPr>
              <a:tblGrid>
                <a:gridCol w="3200400"/>
                <a:gridCol w="1554480"/>
                <a:gridCol w="1554480"/>
                <a:gridCol w="1554480"/>
                <a:gridCol w="1554480"/>
                <a:gridCol w="1645920"/>
              </a:tblGrid>
              <a:tr h="548640">
                <a:tc>
                  <a:txBody>
                    <a:bodyPr/>
                    <a:lstStyle/>
                    <a:p>
                      <a:r>
                        <a:rPr sz="1500" b="1">
                          <a:solidFill>
                            <a:srgbClr val="FFFFFF"/>
                          </a:solidFill>
                          <a:latin typeface="Calibri"/>
                        </a:rPr>
                        <a:t>Parameter</a:t>
                      </a:r>
                    </a:p>
                  </a:txBody>
                  <a:tcPr anchor="ctr">
                    <a:solidFill>
                      <a:srgbClr val="0B1F3A"/>
                    </a:solidFill>
                  </a:tcPr>
                </a:tc>
                <a:tc>
                  <a:txBody>
                    <a:bodyPr/>
                    <a:lstStyle/>
                    <a:p>
                      <a:r>
                        <a:rPr sz="1500" b="1">
                          <a:solidFill>
                            <a:srgbClr val="FFFFFF"/>
                          </a:solidFill>
                          <a:latin typeface="Calibri"/>
                        </a:rPr>
                        <a:t>Mild</a:t>
                      </a:r>
                    </a:p>
                  </a:txBody>
                  <a:tcPr anchor="ctr">
                    <a:solidFill>
                      <a:srgbClr val="0B1F3A"/>
                    </a:solidFill>
                  </a:tcPr>
                </a:tc>
                <a:tc>
                  <a:txBody>
                    <a:bodyPr/>
                    <a:lstStyle/>
                    <a:p>
                      <a:r>
                        <a:rPr sz="1500" b="1">
                          <a:solidFill>
                            <a:srgbClr val="FFFFFF"/>
                          </a:solidFill>
                          <a:latin typeface="Calibri"/>
                        </a:rPr>
                        <a:t>Moderate</a:t>
                      </a:r>
                    </a:p>
                  </a:txBody>
                  <a:tcPr anchor="ctr">
                    <a:solidFill>
                      <a:srgbClr val="0B1F3A"/>
                    </a:solidFill>
                  </a:tcPr>
                </a:tc>
                <a:tc>
                  <a:txBody>
                    <a:bodyPr/>
                    <a:lstStyle/>
                    <a:p>
                      <a:r>
                        <a:rPr sz="1500" b="1">
                          <a:solidFill>
                            <a:srgbClr val="FFFFFF"/>
                          </a:solidFill>
                          <a:latin typeface="Calibri"/>
                        </a:rPr>
                        <a:t>Severe</a:t>
                      </a:r>
                    </a:p>
                  </a:txBody>
                  <a:tcPr anchor="ctr">
                    <a:solidFill>
                      <a:srgbClr val="0B1F3A"/>
                    </a:solidFill>
                  </a:tcPr>
                </a:tc>
                <a:tc>
                  <a:txBody>
                    <a:bodyPr/>
                    <a:lstStyle/>
                    <a:p>
                      <a:r>
                        <a:rPr sz="1500" b="1">
                          <a:solidFill>
                            <a:srgbClr val="FFFFFF"/>
                          </a:solidFill>
                          <a:latin typeface="Calibri"/>
                        </a:rPr>
                        <a:t>Massive</a:t>
                      </a:r>
                    </a:p>
                  </a:txBody>
                  <a:tcPr anchor="ctr">
                    <a:solidFill>
                      <a:srgbClr val="0B1F3A"/>
                    </a:solidFill>
                  </a:tcPr>
                </a:tc>
                <a:tc>
                  <a:txBody>
                    <a:bodyPr/>
                    <a:lstStyle/>
                    <a:p>
                      <a:r>
                        <a:rPr sz="1500" b="1">
                          <a:solidFill>
                            <a:srgbClr val="FFFFFF"/>
                          </a:solidFill>
                          <a:latin typeface="Calibri"/>
                        </a:rPr>
                        <a:t>Torrential</a:t>
                      </a:r>
                    </a:p>
                  </a:txBody>
                  <a:tcPr anchor="ctr">
                    <a:solidFill>
                      <a:srgbClr val="0B1F3A"/>
                    </a:solidFill>
                  </a:tcPr>
                </a:tc>
              </a:tr>
              <a:tr h="548640">
                <a:tc>
                  <a:txBody>
                    <a:bodyPr/>
                    <a:lstStyle/>
                    <a:p>
                      <a:r>
                        <a:rPr sz="1500" b="1">
                          <a:solidFill>
                            <a:srgbClr val="1D2733"/>
                          </a:solidFill>
                          <a:latin typeface="Calibri"/>
                        </a:rPr>
                        <a:t>Vena contracta (mm)</a:t>
                      </a:r>
                    </a:p>
                  </a:txBody>
                  <a:tcPr anchor="ctr">
                    <a:solidFill>
                      <a:srgbClr val="FFFFFF"/>
                    </a:solidFill>
                  </a:tcPr>
                </a:tc>
                <a:tc>
                  <a:txBody>
                    <a:bodyPr/>
                    <a:lstStyle/>
                    <a:p>
                      <a:r>
                        <a:rPr sz="1500" b="0">
                          <a:solidFill>
                            <a:srgbClr val="1D2733"/>
                          </a:solidFill>
                          <a:latin typeface="Calibri"/>
                        </a:rPr>
                        <a:t>&lt; 3</a:t>
                      </a:r>
                    </a:p>
                  </a:txBody>
                  <a:tcPr anchor="ctr">
                    <a:solidFill>
                      <a:srgbClr val="FFFFFF"/>
                    </a:solidFill>
                  </a:tcPr>
                </a:tc>
                <a:tc>
                  <a:txBody>
                    <a:bodyPr/>
                    <a:lstStyle/>
                    <a:p>
                      <a:r>
                        <a:rPr sz="1500" b="0">
                          <a:solidFill>
                            <a:srgbClr val="1D2733"/>
                          </a:solidFill>
                          <a:latin typeface="Calibri"/>
                        </a:rPr>
                        <a:t>3 - 6.9</a:t>
                      </a:r>
                    </a:p>
                  </a:txBody>
                  <a:tcPr anchor="ctr">
                    <a:solidFill>
                      <a:srgbClr val="FFFFFF"/>
                    </a:solidFill>
                  </a:tcPr>
                </a:tc>
                <a:tc>
                  <a:txBody>
                    <a:bodyPr/>
                    <a:lstStyle/>
                    <a:p>
                      <a:r>
                        <a:rPr sz="1500" b="0">
                          <a:solidFill>
                            <a:srgbClr val="1D2733"/>
                          </a:solidFill>
                          <a:latin typeface="Calibri"/>
                        </a:rPr>
                        <a:t>7 - 13</a:t>
                      </a:r>
                    </a:p>
                  </a:txBody>
                  <a:tcPr anchor="ctr">
                    <a:solidFill>
                      <a:srgbClr val="FFFFFF"/>
                    </a:solidFill>
                  </a:tcPr>
                </a:tc>
                <a:tc>
                  <a:txBody>
                    <a:bodyPr/>
                    <a:lstStyle/>
                    <a:p>
                      <a:r>
                        <a:rPr sz="1500" b="0">
                          <a:solidFill>
                            <a:srgbClr val="1D2733"/>
                          </a:solidFill>
                          <a:latin typeface="Calibri"/>
                        </a:rPr>
                        <a:t>14 - 20</a:t>
                      </a:r>
                    </a:p>
                  </a:txBody>
                  <a:tcPr anchor="ctr">
                    <a:solidFill>
                      <a:srgbClr val="FFFFFF"/>
                    </a:solidFill>
                  </a:tcPr>
                </a:tc>
                <a:tc>
                  <a:txBody>
                    <a:bodyPr/>
                    <a:lstStyle/>
                    <a:p>
                      <a:r>
                        <a:rPr sz="1500" b="0">
                          <a:solidFill>
                            <a:srgbClr val="1D2733"/>
                          </a:solidFill>
                          <a:latin typeface="Calibri"/>
                        </a:rPr>
                        <a:t>≥ 21</a:t>
                      </a:r>
                    </a:p>
                  </a:txBody>
                  <a:tcPr anchor="ctr">
                    <a:solidFill>
                      <a:srgbClr val="FFFFFF"/>
                    </a:solidFill>
                  </a:tcPr>
                </a:tc>
              </a:tr>
              <a:tr h="548640">
                <a:tc>
                  <a:txBody>
                    <a:bodyPr/>
                    <a:lstStyle/>
                    <a:p>
                      <a:r>
                        <a:rPr sz="1500" b="1">
                          <a:solidFill>
                            <a:srgbClr val="1D2733"/>
                          </a:solidFill>
                          <a:latin typeface="Calibri"/>
                        </a:rPr>
                        <a:t>EROA (mm²)</a:t>
                      </a:r>
                    </a:p>
                  </a:txBody>
                  <a:tcPr anchor="ctr">
                    <a:solidFill>
                      <a:srgbClr val="EEF3F9"/>
                    </a:solidFill>
                  </a:tcPr>
                </a:tc>
                <a:tc>
                  <a:txBody>
                    <a:bodyPr/>
                    <a:lstStyle/>
                    <a:p>
                      <a:r>
                        <a:rPr sz="1500" b="0">
                          <a:solidFill>
                            <a:srgbClr val="1D2733"/>
                          </a:solidFill>
                          <a:latin typeface="Calibri"/>
                        </a:rPr>
                        <a:t>&lt; 20</a:t>
                      </a:r>
                    </a:p>
                  </a:txBody>
                  <a:tcPr anchor="ctr">
                    <a:solidFill>
                      <a:srgbClr val="EEF3F9"/>
                    </a:solidFill>
                  </a:tcPr>
                </a:tc>
                <a:tc>
                  <a:txBody>
                    <a:bodyPr/>
                    <a:lstStyle/>
                    <a:p>
                      <a:r>
                        <a:rPr sz="1500" b="0">
                          <a:solidFill>
                            <a:srgbClr val="1D2733"/>
                          </a:solidFill>
                          <a:latin typeface="Calibri"/>
                        </a:rPr>
                        <a:t>20 - 39</a:t>
                      </a:r>
                    </a:p>
                  </a:txBody>
                  <a:tcPr anchor="ctr">
                    <a:solidFill>
                      <a:srgbClr val="EEF3F9"/>
                    </a:solidFill>
                  </a:tcPr>
                </a:tc>
                <a:tc>
                  <a:txBody>
                    <a:bodyPr/>
                    <a:lstStyle/>
                    <a:p>
                      <a:r>
                        <a:rPr sz="1500" b="0">
                          <a:solidFill>
                            <a:srgbClr val="1D2733"/>
                          </a:solidFill>
                          <a:latin typeface="Calibri"/>
                        </a:rPr>
                        <a:t>40 - 59</a:t>
                      </a:r>
                    </a:p>
                  </a:txBody>
                  <a:tcPr anchor="ctr">
                    <a:solidFill>
                      <a:srgbClr val="EEF3F9"/>
                    </a:solidFill>
                  </a:tcPr>
                </a:tc>
                <a:tc>
                  <a:txBody>
                    <a:bodyPr/>
                    <a:lstStyle/>
                    <a:p>
                      <a:r>
                        <a:rPr sz="1500" b="0">
                          <a:solidFill>
                            <a:srgbClr val="1D2733"/>
                          </a:solidFill>
                          <a:latin typeface="Calibri"/>
                        </a:rPr>
                        <a:t>60 - 79</a:t>
                      </a:r>
                    </a:p>
                  </a:txBody>
                  <a:tcPr anchor="ctr">
                    <a:solidFill>
                      <a:srgbClr val="EEF3F9"/>
                    </a:solidFill>
                  </a:tcPr>
                </a:tc>
                <a:tc>
                  <a:txBody>
                    <a:bodyPr/>
                    <a:lstStyle/>
                    <a:p>
                      <a:r>
                        <a:rPr sz="1500" b="0">
                          <a:solidFill>
                            <a:srgbClr val="1D2733"/>
                          </a:solidFill>
                          <a:latin typeface="Calibri"/>
                        </a:rPr>
                        <a:t>≥ 80</a:t>
                      </a:r>
                    </a:p>
                  </a:txBody>
                  <a:tcPr anchor="ctr">
                    <a:solidFill>
                      <a:srgbClr val="EEF3F9"/>
                    </a:solidFill>
                  </a:tcPr>
                </a:tc>
              </a:tr>
              <a:tr h="548640">
                <a:tc>
                  <a:txBody>
                    <a:bodyPr/>
                    <a:lstStyle/>
                    <a:p>
                      <a:r>
                        <a:rPr sz="1500" b="1">
                          <a:solidFill>
                            <a:srgbClr val="1D2733"/>
                          </a:solidFill>
                          <a:latin typeface="Calibri"/>
                        </a:rPr>
                        <a:t>RVol (mL)</a:t>
                      </a:r>
                    </a:p>
                  </a:txBody>
                  <a:tcPr anchor="ctr">
                    <a:solidFill>
                      <a:srgbClr val="FFFFFF"/>
                    </a:solidFill>
                  </a:tcPr>
                </a:tc>
                <a:tc>
                  <a:txBody>
                    <a:bodyPr/>
                    <a:lstStyle/>
                    <a:p>
                      <a:r>
                        <a:rPr sz="1500" b="0">
                          <a:solidFill>
                            <a:srgbClr val="1D2733"/>
                          </a:solidFill>
                          <a:latin typeface="Calibri"/>
                        </a:rPr>
                        <a:t>&lt; 30</a:t>
                      </a:r>
                    </a:p>
                  </a:txBody>
                  <a:tcPr anchor="ctr">
                    <a:solidFill>
                      <a:srgbClr val="FFFFFF"/>
                    </a:solidFill>
                  </a:tcPr>
                </a:tc>
                <a:tc>
                  <a:txBody>
                    <a:bodyPr/>
                    <a:lstStyle/>
                    <a:p>
                      <a:r>
                        <a:rPr sz="1500" b="0">
                          <a:solidFill>
                            <a:srgbClr val="1D2733"/>
                          </a:solidFill>
                          <a:latin typeface="Calibri"/>
                        </a:rPr>
                        <a:t>30 - 44</a:t>
                      </a:r>
                    </a:p>
                  </a:txBody>
                  <a:tcPr anchor="ctr">
                    <a:solidFill>
                      <a:srgbClr val="FFFFFF"/>
                    </a:solidFill>
                  </a:tcPr>
                </a:tc>
                <a:tc>
                  <a:txBody>
                    <a:bodyPr/>
                    <a:lstStyle/>
                    <a:p>
                      <a:r>
                        <a:rPr sz="1500" b="0">
                          <a:solidFill>
                            <a:srgbClr val="1D2733"/>
                          </a:solidFill>
                          <a:latin typeface="Calibri"/>
                        </a:rPr>
                        <a:t>45 - 59</a:t>
                      </a:r>
                    </a:p>
                  </a:txBody>
                  <a:tcPr anchor="ctr">
                    <a:solidFill>
                      <a:srgbClr val="FFFFFF"/>
                    </a:solidFill>
                  </a:tcPr>
                </a:tc>
                <a:tc>
                  <a:txBody>
                    <a:bodyPr/>
                    <a:lstStyle/>
                    <a:p>
                      <a:r>
                        <a:rPr sz="1500" b="0">
                          <a:solidFill>
                            <a:srgbClr val="1D2733"/>
                          </a:solidFill>
                          <a:latin typeface="Calibri"/>
                        </a:rPr>
                        <a:t>60 - 74</a:t>
                      </a:r>
                    </a:p>
                  </a:txBody>
                  <a:tcPr anchor="ctr">
                    <a:solidFill>
                      <a:srgbClr val="FFFFFF"/>
                    </a:solidFill>
                  </a:tcPr>
                </a:tc>
                <a:tc>
                  <a:txBody>
                    <a:bodyPr/>
                    <a:lstStyle/>
                    <a:p>
                      <a:r>
                        <a:rPr sz="1500" b="0">
                          <a:solidFill>
                            <a:srgbClr val="1D2733"/>
                          </a:solidFill>
                          <a:latin typeface="Calibri"/>
                        </a:rPr>
                        <a:t>≥ 75</a:t>
                      </a:r>
                    </a:p>
                  </a:txBody>
                  <a:tcPr anchor="ctr">
                    <a:solidFill>
                      <a:srgbClr val="FFFFFF"/>
                    </a:solidFill>
                  </a:tcPr>
                </a:tc>
              </a:tr>
            </a:tbl>
          </a:graphicData>
        </a:graphic>
      </p:graphicFrame>
      <p:sp>
        <p:nvSpPr>
          <p:cNvPr id="9" name="Rectangle 8"/>
          <p:cNvSpPr/>
          <p:nvPr/>
        </p:nvSpPr>
        <p:spPr>
          <a:xfrm>
            <a:off x="548640" y="3931920"/>
            <a:ext cx="5394960" cy="21945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3931920"/>
            <a:ext cx="82296" cy="2194560"/>
          </a:xfrm>
          <a:prstGeom prst="rect">
            <a:avLst/>
          </a:prstGeom>
          <a:solidFill>
            <a:srgbClr val="1331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005072"/>
            <a:ext cx="5029200" cy="274320"/>
          </a:xfrm>
          <a:prstGeom prst="rect">
            <a:avLst/>
          </a:prstGeom>
          <a:noFill/>
        </p:spPr>
        <p:txBody>
          <a:bodyPr wrap="square" anchor="t" lIns="45720" rIns="45720">
            <a:spAutoFit/>
          </a:bodyPr>
          <a:lstStyle/>
          <a:p>
            <a:pPr algn="l"/>
            <a:r>
              <a:rPr sz="1100" b="1">
                <a:solidFill>
                  <a:srgbClr val="13315C"/>
                </a:solidFill>
                <a:latin typeface="Calibri"/>
              </a:rPr>
              <a:t>SUPPORTIVE SIGNS</a:t>
            </a:r>
          </a:p>
        </p:txBody>
      </p:sp>
      <p:sp>
        <p:nvSpPr>
          <p:cNvPr id="12" name="TextBox 11"/>
          <p:cNvSpPr txBox="1"/>
          <p:nvPr/>
        </p:nvSpPr>
        <p:spPr>
          <a:xfrm>
            <a:off x="777240" y="4297680"/>
            <a:ext cx="5029200" cy="1783080"/>
          </a:xfrm>
          <a:prstGeom prst="rect">
            <a:avLst/>
          </a:prstGeom>
          <a:noFill/>
        </p:spPr>
        <p:txBody>
          <a:bodyPr wrap="square" anchor="t" lIns="45720" rIns="45720">
            <a:spAutoFit/>
          </a:bodyPr>
          <a:lstStyle/>
          <a:p>
            <a:pPr algn="l"/>
            <a:r>
              <a:rPr sz="1400" b="0">
                <a:solidFill>
                  <a:srgbClr val="1D2733"/>
                </a:solidFill>
                <a:latin typeface="Calibri"/>
              </a:rPr>
              <a:t>Dense triangular CW signal, hepatic vein systolic reversal, E &gt; 1.0 m/s, dilated annulus &gt; 40 mm, dilated RA/RV/IVC.</a:t>
            </a:r>
          </a:p>
        </p:txBody>
      </p:sp>
      <p:sp>
        <p:nvSpPr>
          <p:cNvPr id="13" name="Rectangle 12"/>
          <p:cNvSpPr/>
          <p:nvPr/>
        </p:nvSpPr>
        <p:spPr>
          <a:xfrm>
            <a:off x="6217920" y="3931920"/>
            <a:ext cx="5394960" cy="21945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3931920"/>
            <a:ext cx="82296" cy="2194560"/>
          </a:xfrm>
          <a:prstGeom prst="rect">
            <a:avLst/>
          </a:prstGeom>
          <a:solidFill>
            <a:srgbClr val="1F7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005072"/>
            <a:ext cx="5029200" cy="274320"/>
          </a:xfrm>
          <a:prstGeom prst="rect">
            <a:avLst/>
          </a:prstGeom>
          <a:noFill/>
        </p:spPr>
        <p:txBody>
          <a:bodyPr wrap="square" anchor="t" lIns="45720" rIns="45720">
            <a:spAutoFit/>
          </a:bodyPr>
          <a:lstStyle/>
          <a:p>
            <a:pPr algn="l"/>
            <a:r>
              <a:rPr sz="1100" b="1">
                <a:solidFill>
                  <a:srgbClr val="1F7A5A"/>
                </a:solidFill>
                <a:latin typeface="Calibri"/>
              </a:rPr>
              <a:t>PEARL</a:t>
            </a:r>
          </a:p>
        </p:txBody>
      </p:sp>
      <p:sp>
        <p:nvSpPr>
          <p:cNvPr id="16" name="TextBox 15"/>
          <p:cNvSpPr txBox="1"/>
          <p:nvPr/>
        </p:nvSpPr>
        <p:spPr>
          <a:xfrm>
            <a:off x="6446520" y="4297680"/>
            <a:ext cx="5029200" cy="1783080"/>
          </a:xfrm>
          <a:prstGeom prst="rect">
            <a:avLst/>
          </a:prstGeom>
          <a:noFill/>
        </p:spPr>
        <p:txBody>
          <a:bodyPr wrap="square" anchor="t" lIns="45720" rIns="45720">
            <a:spAutoFit/>
          </a:bodyPr>
          <a:lstStyle/>
          <a:p>
            <a:pPr algn="l"/>
            <a:r>
              <a:rPr sz="1500" b="0">
                <a:solidFill>
                  <a:srgbClr val="1D2733"/>
                </a:solidFill>
                <a:latin typeface="Calibri"/>
              </a:rPr>
              <a:t>A low TR velocity does NOT mean low PA pressure: it may mean equalised pressures in free-flowing TR.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45720"/>
          </a:xfrm>
          <a:prstGeom prst="rect">
            <a:avLst/>
          </a:prstGeom>
          <a:solidFill>
            <a:srgbClr val="C9A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8229600" cy="274320"/>
          </a:xfrm>
          <a:prstGeom prst="rect">
            <a:avLst/>
          </a:prstGeom>
          <a:noFill/>
        </p:spPr>
        <p:txBody>
          <a:bodyPr wrap="square" anchor="t" lIns="45720" rIns="45720">
            <a:spAutoFit/>
          </a:bodyPr>
          <a:lstStyle/>
          <a:p>
            <a:pPr algn="l"/>
            <a:r>
              <a:rPr sz="1100" b="1">
                <a:solidFill>
                  <a:srgbClr val="C9A24B"/>
                </a:solidFill>
                <a:latin typeface="Calibri"/>
              </a:rPr>
              <a:t>REPORTING (ASE 2025)</a:t>
            </a:r>
          </a:p>
        </p:txBody>
      </p:sp>
      <p:sp>
        <p:nvSpPr>
          <p:cNvPr id="5" name="TextBox 4"/>
          <p:cNvSpPr txBox="1"/>
          <p:nvPr/>
        </p:nvSpPr>
        <p:spPr>
          <a:xfrm>
            <a:off x="502920" y="347472"/>
            <a:ext cx="10972800" cy="640080"/>
          </a:xfrm>
          <a:prstGeom prst="rect">
            <a:avLst/>
          </a:prstGeom>
          <a:noFill/>
        </p:spPr>
        <p:txBody>
          <a:bodyPr wrap="square" anchor="t" lIns="45720" rIns="45720">
            <a:spAutoFit/>
          </a:bodyPr>
          <a:lstStyle/>
          <a:p>
            <a:pPr algn="l"/>
            <a:r>
              <a:rPr sz="2800" b="1">
                <a:solidFill>
                  <a:srgbClr val="FFFFFF"/>
                </a:solidFill>
                <a:latin typeface="Cambria"/>
              </a:rPr>
              <a:t>The report that drives the decision</a:t>
            </a:r>
          </a:p>
        </p:txBody>
      </p:sp>
      <p:sp>
        <p:nvSpPr>
          <p:cNvPr id="6" name="TextBox 5"/>
          <p:cNvSpPr txBox="1"/>
          <p:nvPr/>
        </p:nvSpPr>
        <p:spPr>
          <a:xfrm>
            <a:off x="502920" y="6473952"/>
            <a:ext cx="8229600" cy="274320"/>
          </a:xfrm>
          <a:prstGeom prst="rect">
            <a:avLst/>
          </a:prstGeom>
          <a:noFill/>
        </p:spPr>
        <p:txBody>
          <a:bodyPr wrap="square" anchor="t" lIns="45720" rIns="45720">
            <a:spAutoFit/>
          </a:bodyPr>
          <a:lstStyle/>
          <a:p>
            <a:pPr algn="l"/>
            <a:r>
              <a:rPr sz="900" b="0">
                <a:solidFill>
                  <a:srgbClr val="6B7785"/>
                </a:solidFill>
                <a:latin typeface="Calibri"/>
              </a:rPr>
              <a:t>ECHO ESSENTIALS  |  Dr. [Your Name]</a:t>
            </a:r>
          </a:p>
        </p:txBody>
      </p:sp>
      <p:sp>
        <p:nvSpPr>
          <p:cNvPr id="7" name="TextBox 6"/>
          <p:cNvSpPr txBox="1"/>
          <p:nvPr/>
        </p:nvSpPr>
        <p:spPr>
          <a:xfrm>
            <a:off x="10972800" y="6473952"/>
            <a:ext cx="731520" cy="274320"/>
          </a:xfrm>
          <a:prstGeom prst="rect">
            <a:avLst/>
          </a:prstGeom>
          <a:noFill/>
        </p:spPr>
        <p:txBody>
          <a:bodyPr wrap="square" anchor="t" lIns="45720" rIns="45720">
            <a:spAutoFit/>
          </a:bodyPr>
          <a:lstStyle/>
          <a:p>
            <a:pPr algn="r"/>
            <a:r>
              <a:rPr sz="1000" b="1">
                <a:solidFill>
                  <a:srgbClr val="B3202E"/>
                </a:solidFill>
                <a:latin typeface="Calibri"/>
              </a:rPr>
              <a:t>16</a:t>
            </a:r>
          </a:p>
        </p:txBody>
      </p:sp>
      <p:sp>
        <p:nvSpPr>
          <p:cNvPr id="8" name="TextBox 7"/>
          <p:cNvSpPr txBox="1"/>
          <p:nvPr/>
        </p:nvSpPr>
        <p:spPr>
          <a:xfrm>
            <a:off x="640080" y="1463040"/>
            <a:ext cx="6400800" cy="4389120"/>
          </a:xfrm>
          <a:prstGeom prst="rect">
            <a:avLst/>
          </a:prstGeom>
          <a:noFill/>
        </p:spPr>
        <p:txBody>
          <a:bodyPr wrap="square">
            <a:spAutoFit/>
          </a:bodyPr>
          <a:lstStyle/>
          <a:p>
            <a:pPr>
              <a:spcAft>
                <a:spcPts val="900"/>
              </a:spcAft>
            </a:pPr>
            <a:r>
              <a:rPr sz="1300">
                <a:solidFill>
                  <a:srgbClr val="B3202E"/>
                </a:solidFill>
                <a:latin typeface="Calibri"/>
              </a:rPr>
              <a:t>■  </a:t>
            </a:r>
            <a:r>
              <a:rPr b="1" sz="1900">
                <a:solidFill>
                  <a:srgbClr val="0B1F3A"/>
                </a:solidFill>
                <a:latin typeface="Calibri"/>
              </a:rPr>
              <a:t>Indication</a:t>
            </a:r>
            <a:r>
              <a:rPr sz="1900">
                <a:solidFill>
                  <a:srgbClr val="1D2733"/>
                </a:solidFill>
                <a:latin typeface="Calibri"/>
              </a:rPr>
              <a:t>  image quality, rhythm, HR, BP, BSA</a:t>
            </a:r>
          </a:p>
          <a:p>
            <a:pPr>
              <a:spcAft>
                <a:spcPts val="900"/>
              </a:spcAft>
            </a:pPr>
            <a:r>
              <a:rPr sz="1300">
                <a:solidFill>
                  <a:srgbClr val="B3202E"/>
                </a:solidFill>
                <a:latin typeface="Calibri"/>
              </a:rPr>
              <a:t>■  </a:t>
            </a:r>
            <a:r>
              <a:rPr b="1" sz="1900">
                <a:solidFill>
                  <a:srgbClr val="0B1F3A"/>
                </a:solidFill>
                <a:latin typeface="Calibri"/>
              </a:rPr>
              <a:t>LV</a:t>
            </a:r>
            <a:r>
              <a:rPr sz="1900">
                <a:solidFill>
                  <a:srgbClr val="1D2733"/>
                </a:solidFill>
                <a:latin typeface="Calibri"/>
              </a:rPr>
              <a:t>  size, mass, geometry, EF method, regional motion, GLS</a:t>
            </a:r>
          </a:p>
          <a:p>
            <a:pPr>
              <a:spcAft>
                <a:spcPts val="900"/>
              </a:spcAft>
            </a:pPr>
            <a:r>
              <a:rPr sz="1300">
                <a:solidFill>
                  <a:srgbClr val="B3202E"/>
                </a:solidFill>
                <a:latin typeface="Calibri"/>
              </a:rPr>
              <a:t>■  </a:t>
            </a:r>
            <a:r>
              <a:rPr b="1" sz="1900">
                <a:solidFill>
                  <a:srgbClr val="0B1F3A"/>
                </a:solidFill>
                <a:latin typeface="Calibri"/>
              </a:rPr>
              <a:t>Diastology</a:t>
            </a:r>
            <a:r>
              <a:rPr sz="1900">
                <a:solidFill>
                  <a:srgbClr val="1D2733"/>
                </a:solidFill>
                <a:latin typeface="Calibri"/>
              </a:rPr>
              <a:t>  is LAP raised, and how do you know</a:t>
            </a:r>
          </a:p>
          <a:p>
            <a:pPr>
              <a:spcAft>
                <a:spcPts val="900"/>
              </a:spcAft>
            </a:pPr>
            <a:r>
              <a:rPr sz="1300">
                <a:solidFill>
                  <a:srgbClr val="B3202E"/>
                </a:solidFill>
                <a:latin typeface="Calibri"/>
              </a:rPr>
              <a:t>■  </a:t>
            </a:r>
            <a:r>
              <a:rPr b="1" sz="1900">
                <a:solidFill>
                  <a:srgbClr val="0B1F3A"/>
                </a:solidFill>
                <a:latin typeface="Calibri"/>
              </a:rPr>
              <a:t>RV</a:t>
            </a:r>
            <a:r>
              <a:rPr sz="1900">
                <a:solidFill>
                  <a:srgbClr val="1D2733"/>
                </a:solidFill>
                <a:latin typeface="Calibri"/>
              </a:rPr>
              <a:t>  size, function, PASP, PH probability</a:t>
            </a:r>
          </a:p>
          <a:p>
            <a:pPr>
              <a:spcAft>
                <a:spcPts val="900"/>
              </a:spcAft>
            </a:pPr>
            <a:r>
              <a:rPr sz="1300">
                <a:solidFill>
                  <a:srgbClr val="B3202E"/>
                </a:solidFill>
                <a:latin typeface="Calibri"/>
              </a:rPr>
              <a:t>■  </a:t>
            </a:r>
            <a:r>
              <a:rPr b="1" sz="1900">
                <a:solidFill>
                  <a:srgbClr val="0B1F3A"/>
                </a:solidFill>
                <a:latin typeface="Calibri"/>
              </a:rPr>
              <a:t>Valves</a:t>
            </a:r>
            <a:r>
              <a:rPr sz="1900">
                <a:solidFill>
                  <a:srgbClr val="1D2733"/>
                </a:solidFill>
                <a:latin typeface="Calibri"/>
              </a:rPr>
              <a:t>  mechanism, severity, parameters used, consequence</a:t>
            </a:r>
          </a:p>
          <a:p>
            <a:pPr>
              <a:spcAft>
                <a:spcPts val="900"/>
              </a:spcAft>
            </a:pPr>
            <a:r>
              <a:rPr sz="1300">
                <a:solidFill>
                  <a:srgbClr val="B3202E"/>
                </a:solidFill>
                <a:latin typeface="Calibri"/>
              </a:rPr>
              <a:t>■  </a:t>
            </a:r>
            <a:r>
              <a:rPr b="1" sz="1900">
                <a:solidFill>
                  <a:srgbClr val="0B1F3A"/>
                </a:solidFill>
                <a:latin typeface="Calibri"/>
              </a:rPr>
              <a:t>Conclusion</a:t>
            </a:r>
            <a:r>
              <a:rPr sz="1900">
                <a:solidFill>
                  <a:srgbClr val="1D2733"/>
                </a:solidFill>
                <a:latin typeface="Calibri"/>
              </a:rPr>
              <a:t>  3-5 lines, compare with previous</a:t>
            </a:r>
          </a:p>
        </p:txBody>
      </p:sp>
      <p:sp>
        <p:nvSpPr>
          <p:cNvPr id="9" name="Rectangle 8"/>
          <p:cNvSpPr/>
          <p:nvPr/>
        </p:nvSpPr>
        <p:spPr>
          <a:xfrm>
            <a:off x="7498079" y="1554480"/>
            <a:ext cx="4206240" cy="20116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79" y="1554480"/>
            <a:ext cx="82296" cy="2011680"/>
          </a:xfrm>
          <a:prstGeom prst="rect">
            <a:avLst/>
          </a:prstGeom>
          <a:solidFill>
            <a:srgbClr val="1F7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26679" y="1627632"/>
            <a:ext cx="3840479" cy="274320"/>
          </a:xfrm>
          <a:prstGeom prst="rect">
            <a:avLst/>
          </a:prstGeom>
          <a:noFill/>
        </p:spPr>
        <p:txBody>
          <a:bodyPr wrap="square" anchor="t" lIns="45720" rIns="45720">
            <a:spAutoFit/>
          </a:bodyPr>
          <a:lstStyle/>
          <a:p>
            <a:pPr algn="l"/>
            <a:r>
              <a:rPr sz="1100" b="1">
                <a:solidFill>
                  <a:srgbClr val="1F7A5A"/>
                </a:solidFill>
                <a:latin typeface="Calibri"/>
              </a:rPr>
              <a:t>FIVE-LINE AS REPORT</a:t>
            </a:r>
          </a:p>
        </p:txBody>
      </p:sp>
      <p:sp>
        <p:nvSpPr>
          <p:cNvPr id="12" name="TextBox 11"/>
          <p:cNvSpPr txBox="1"/>
          <p:nvPr/>
        </p:nvSpPr>
        <p:spPr>
          <a:xfrm>
            <a:off x="7726679" y="1920240"/>
            <a:ext cx="3840479" cy="1600200"/>
          </a:xfrm>
          <a:prstGeom prst="rect">
            <a:avLst/>
          </a:prstGeom>
          <a:noFill/>
        </p:spPr>
        <p:txBody>
          <a:bodyPr wrap="square" anchor="t" lIns="45720" rIns="45720">
            <a:spAutoFit/>
          </a:bodyPr>
          <a:lstStyle/>
          <a:p>
            <a:pPr algn="l"/>
            <a:r>
              <a:rPr sz="1400" b="0">
                <a:solidFill>
                  <a:srgbClr val="1D2733"/>
                </a:solidFill>
                <a:latin typeface="Calibri"/>
              </a:rPr>
              <a:t>Morphology; Vmax, MG, AVA, AVAi, DVI; SVi; LVEF and GLS; one sentence on severity, flow and action.</a:t>
            </a:r>
          </a:p>
        </p:txBody>
      </p:sp>
      <p:sp>
        <p:nvSpPr>
          <p:cNvPr id="13" name="Rectangle 12"/>
          <p:cNvSpPr/>
          <p:nvPr/>
        </p:nvSpPr>
        <p:spPr>
          <a:xfrm>
            <a:off x="7498079" y="3840480"/>
            <a:ext cx="4206240" cy="21031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98079" y="3840480"/>
            <a:ext cx="82296" cy="2103120"/>
          </a:xfrm>
          <a:prstGeom prst="rect">
            <a:avLst/>
          </a:prstGeom>
          <a:solidFill>
            <a:srgbClr val="6B77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26679" y="3913632"/>
            <a:ext cx="3840479" cy="274320"/>
          </a:xfrm>
          <a:prstGeom prst="rect">
            <a:avLst/>
          </a:prstGeom>
          <a:noFill/>
        </p:spPr>
        <p:txBody>
          <a:bodyPr wrap="square" anchor="t" lIns="45720" rIns="45720">
            <a:spAutoFit/>
          </a:bodyPr>
          <a:lstStyle/>
          <a:p>
            <a:pPr algn="l"/>
            <a:r>
              <a:rPr sz="1100" b="1">
                <a:solidFill>
                  <a:srgbClr val="6B7785"/>
                </a:solidFill>
                <a:latin typeface="Calibri"/>
              </a:rPr>
              <a:t>DISCLAIMER</a:t>
            </a:r>
          </a:p>
        </p:txBody>
      </p:sp>
      <p:sp>
        <p:nvSpPr>
          <p:cNvPr id="16" name="TextBox 15"/>
          <p:cNvSpPr txBox="1"/>
          <p:nvPr/>
        </p:nvSpPr>
        <p:spPr>
          <a:xfrm>
            <a:off x="7726679" y="4206240"/>
            <a:ext cx="3840479" cy="1691639"/>
          </a:xfrm>
          <a:prstGeom prst="rect">
            <a:avLst/>
          </a:prstGeom>
          <a:noFill/>
        </p:spPr>
        <p:txBody>
          <a:bodyPr wrap="square" anchor="t" lIns="45720" rIns="45720">
            <a:spAutoFit/>
          </a:bodyPr>
          <a:lstStyle/>
          <a:p>
            <a:pPr algn="l"/>
            <a:r>
              <a:rPr sz="1400" b="0">
                <a:solidFill>
                  <a:srgbClr val="1D2733"/>
                </a:solidFill>
                <a:latin typeface="Calibri"/>
              </a:rPr>
              <a:t>Educational summary. Verify thresholds and classes against the current full guidelines.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45720"/>
          </a:xfrm>
          <a:prstGeom prst="rect">
            <a:avLst/>
          </a:prstGeom>
          <a:solidFill>
            <a:srgbClr val="C9A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8229600" cy="274320"/>
          </a:xfrm>
          <a:prstGeom prst="rect">
            <a:avLst/>
          </a:prstGeom>
          <a:noFill/>
        </p:spPr>
        <p:txBody>
          <a:bodyPr wrap="square" anchor="t" lIns="45720" rIns="45720">
            <a:spAutoFit/>
          </a:bodyPr>
          <a:lstStyle/>
          <a:p>
            <a:pPr algn="l"/>
            <a:r>
              <a:rPr sz="1100" b="1">
                <a:solidFill>
                  <a:srgbClr val="C9A24B"/>
                </a:solidFill>
                <a:latin typeface="Calibri"/>
              </a:rPr>
              <a:t>CHECK YOURSELF</a:t>
            </a:r>
          </a:p>
        </p:txBody>
      </p:sp>
      <p:sp>
        <p:nvSpPr>
          <p:cNvPr id="5" name="TextBox 4"/>
          <p:cNvSpPr txBox="1"/>
          <p:nvPr/>
        </p:nvSpPr>
        <p:spPr>
          <a:xfrm>
            <a:off x="502920" y="347472"/>
            <a:ext cx="10972800" cy="640080"/>
          </a:xfrm>
          <a:prstGeom prst="rect">
            <a:avLst/>
          </a:prstGeom>
          <a:noFill/>
        </p:spPr>
        <p:txBody>
          <a:bodyPr wrap="square" anchor="t" lIns="45720" rIns="45720">
            <a:spAutoFit/>
          </a:bodyPr>
          <a:lstStyle/>
          <a:p>
            <a:pPr algn="l"/>
            <a:r>
              <a:rPr sz="2800" b="1">
                <a:solidFill>
                  <a:srgbClr val="FFFFFF"/>
                </a:solidFill>
                <a:latin typeface="Cambria"/>
              </a:rPr>
              <a:t>Case quiz 1</a:t>
            </a:r>
          </a:p>
        </p:txBody>
      </p:sp>
      <p:sp>
        <p:nvSpPr>
          <p:cNvPr id="6" name="TextBox 5"/>
          <p:cNvSpPr txBox="1"/>
          <p:nvPr/>
        </p:nvSpPr>
        <p:spPr>
          <a:xfrm>
            <a:off x="502920" y="6473952"/>
            <a:ext cx="8229600" cy="274320"/>
          </a:xfrm>
          <a:prstGeom prst="rect">
            <a:avLst/>
          </a:prstGeom>
          <a:noFill/>
        </p:spPr>
        <p:txBody>
          <a:bodyPr wrap="square" anchor="t" lIns="45720" rIns="45720">
            <a:spAutoFit/>
          </a:bodyPr>
          <a:lstStyle/>
          <a:p>
            <a:pPr algn="l"/>
            <a:r>
              <a:rPr sz="900" b="0">
                <a:solidFill>
                  <a:srgbClr val="6B7785"/>
                </a:solidFill>
                <a:latin typeface="Calibri"/>
              </a:rPr>
              <a:t>ECHO ESSENTIALS  |  Dr. [Your Name]</a:t>
            </a:r>
          </a:p>
        </p:txBody>
      </p:sp>
      <p:sp>
        <p:nvSpPr>
          <p:cNvPr id="7" name="TextBox 6"/>
          <p:cNvSpPr txBox="1"/>
          <p:nvPr/>
        </p:nvSpPr>
        <p:spPr>
          <a:xfrm>
            <a:off x="10972800" y="6473952"/>
            <a:ext cx="731520" cy="274320"/>
          </a:xfrm>
          <a:prstGeom prst="rect">
            <a:avLst/>
          </a:prstGeom>
          <a:noFill/>
        </p:spPr>
        <p:txBody>
          <a:bodyPr wrap="square" anchor="t" lIns="45720" rIns="45720">
            <a:spAutoFit/>
          </a:bodyPr>
          <a:lstStyle/>
          <a:p>
            <a:pPr algn="r"/>
            <a:r>
              <a:rPr sz="1000" b="1">
                <a:solidFill>
                  <a:srgbClr val="B3202E"/>
                </a:solidFill>
                <a:latin typeface="Calibri"/>
              </a:rPr>
              <a:t>17</a:t>
            </a:r>
          </a:p>
        </p:txBody>
      </p:sp>
      <p:sp>
        <p:nvSpPr>
          <p:cNvPr id="8" name="TextBox 7"/>
          <p:cNvSpPr txBox="1"/>
          <p:nvPr/>
        </p:nvSpPr>
        <p:spPr>
          <a:xfrm>
            <a:off x="640080" y="1463040"/>
            <a:ext cx="10972800" cy="2926080"/>
          </a:xfrm>
          <a:prstGeom prst="rect">
            <a:avLst/>
          </a:prstGeom>
          <a:noFill/>
        </p:spPr>
        <p:txBody>
          <a:bodyPr wrap="square" anchor="t" lIns="45720" rIns="45720">
            <a:spAutoFit/>
          </a:bodyPr>
          <a:lstStyle/>
          <a:p>
            <a:pPr algn="l"/>
            <a:r>
              <a:rPr sz="2200" b="0">
                <a:solidFill>
                  <a:srgbClr val="1D2733"/>
                </a:solidFill>
                <a:latin typeface="Calibri"/>
              </a:rPr>
              <a:t>78-year-old woman, dyspnoea, hypertensive, small LV cavity, LVEF 62%.</a:t>
            </a:r>
          </a:p>
          <a:p>
            <a:pPr algn="l"/>
            <a:r>
              <a:rPr sz="2200" b="0">
                <a:solidFill>
                  <a:srgbClr val="1D2733"/>
                </a:solidFill>
                <a:latin typeface="Calibri"/>
              </a:rPr>
              <a:t>Vmax 3.4 m/s, mean gradient 32 mmHg, AVA 0.8 cm², AVAi 0.55 cm²/m², DVI 0.22, SVi 28 mL/m².</a:t>
            </a:r>
          </a:p>
          <a:p>
            <a:pPr algn="l"/>
            <a:r>
              <a:rPr sz="2200" b="0">
                <a:solidFill>
                  <a:srgbClr val="1D2733"/>
                </a:solidFill>
                <a:latin typeface="Calibri"/>
              </a:rPr>
              <a:t/>
            </a:r>
          </a:p>
          <a:p>
            <a:pPr algn="l"/>
            <a:r>
              <a:rPr sz="2200" b="0">
                <a:solidFill>
                  <a:srgbClr val="1D2733"/>
                </a:solidFill>
                <a:latin typeface="Calibri"/>
              </a:rPr>
              <a:t>What is the diagnosis, and what is your next step?</a:t>
            </a:r>
          </a:p>
        </p:txBody>
      </p:sp>
      <p:sp>
        <p:nvSpPr>
          <p:cNvPr id="9" name="Rectangle 8"/>
          <p:cNvSpPr/>
          <p:nvPr/>
        </p:nvSpPr>
        <p:spPr>
          <a:xfrm>
            <a:off x="640080" y="4572000"/>
            <a:ext cx="10972800" cy="137160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4572000"/>
            <a:ext cx="82296" cy="1371600"/>
          </a:xfrm>
          <a:prstGeom prst="rect">
            <a:avLst/>
          </a:prstGeom>
          <a:solidFill>
            <a:srgbClr val="C77C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645152"/>
            <a:ext cx="10607040" cy="274320"/>
          </a:xfrm>
          <a:prstGeom prst="rect">
            <a:avLst/>
          </a:prstGeom>
          <a:noFill/>
        </p:spPr>
        <p:txBody>
          <a:bodyPr wrap="square" anchor="t" lIns="45720" rIns="45720">
            <a:spAutoFit/>
          </a:bodyPr>
          <a:lstStyle/>
          <a:p>
            <a:pPr algn="l"/>
            <a:r>
              <a:rPr sz="1100" b="1">
                <a:solidFill>
                  <a:srgbClr val="C77C0E"/>
                </a:solidFill>
                <a:latin typeface="Calibri"/>
              </a:rPr>
              <a:t>THINK</a:t>
            </a:r>
          </a:p>
        </p:txBody>
      </p:sp>
      <p:sp>
        <p:nvSpPr>
          <p:cNvPr id="12" name="TextBox 11"/>
          <p:cNvSpPr txBox="1"/>
          <p:nvPr/>
        </p:nvSpPr>
        <p:spPr>
          <a:xfrm>
            <a:off x="868680" y="4937760"/>
            <a:ext cx="10607040" cy="960120"/>
          </a:xfrm>
          <a:prstGeom prst="rect">
            <a:avLst/>
          </a:prstGeom>
          <a:noFill/>
        </p:spPr>
        <p:txBody>
          <a:bodyPr wrap="square" anchor="t" lIns="45720" rIns="45720">
            <a:spAutoFit/>
          </a:bodyPr>
          <a:lstStyle/>
          <a:p>
            <a:pPr algn="l"/>
            <a:r>
              <a:rPr sz="1600" b="0">
                <a:solidFill>
                  <a:srgbClr val="1D2733"/>
                </a:solidFill>
                <a:latin typeface="Calibri"/>
              </a:rPr>
              <a:t>Flow? EF? Blood pressure at the time of scanning? LVOT area? Calcium score threshold for a woman?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45720"/>
          </a:xfrm>
          <a:prstGeom prst="rect">
            <a:avLst/>
          </a:prstGeom>
          <a:solidFill>
            <a:srgbClr val="C9A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8229600" cy="274320"/>
          </a:xfrm>
          <a:prstGeom prst="rect">
            <a:avLst/>
          </a:prstGeom>
          <a:noFill/>
        </p:spPr>
        <p:txBody>
          <a:bodyPr wrap="square" anchor="t" lIns="45720" rIns="45720">
            <a:spAutoFit/>
          </a:bodyPr>
          <a:lstStyle/>
          <a:p>
            <a:pPr algn="l"/>
            <a:r>
              <a:rPr sz="1100" b="1">
                <a:solidFill>
                  <a:srgbClr val="C9A24B"/>
                </a:solidFill>
                <a:latin typeface="Calibri"/>
              </a:rPr>
              <a:t>CHECK YOURSELF</a:t>
            </a:r>
          </a:p>
        </p:txBody>
      </p:sp>
      <p:sp>
        <p:nvSpPr>
          <p:cNvPr id="5" name="TextBox 4"/>
          <p:cNvSpPr txBox="1"/>
          <p:nvPr/>
        </p:nvSpPr>
        <p:spPr>
          <a:xfrm>
            <a:off x="502920" y="347472"/>
            <a:ext cx="10972800" cy="640080"/>
          </a:xfrm>
          <a:prstGeom prst="rect">
            <a:avLst/>
          </a:prstGeom>
          <a:noFill/>
        </p:spPr>
        <p:txBody>
          <a:bodyPr wrap="square" anchor="t" lIns="45720" rIns="45720">
            <a:spAutoFit/>
          </a:bodyPr>
          <a:lstStyle/>
          <a:p>
            <a:pPr algn="l"/>
            <a:r>
              <a:rPr sz="2800" b="1">
                <a:solidFill>
                  <a:srgbClr val="FFFFFF"/>
                </a:solidFill>
                <a:latin typeface="Cambria"/>
              </a:rPr>
              <a:t>Case quiz 2</a:t>
            </a:r>
          </a:p>
        </p:txBody>
      </p:sp>
      <p:sp>
        <p:nvSpPr>
          <p:cNvPr id="6" name="TextBox 5"/>
          <p:cNvSpPr txBox="1"/>
          <p:nvPr/>
        </p:nvSpPr>
        <p:spPr>
          <a:xfrm>
            <a:off x="502920" y="6473952"/>
            <a:ext cx="8229600" cy="274320"/>
          </a:xfrm>
          <a:prstGeom prst="rect">
            <a:avLst/>
          </a:prstGeom>
          <a:noFill/>
        </p:spPr>
        <p:txBody>
          <a:bodyPr wrap="square" anchor="t" lIns="45720" rIns="45720">
            <a:spAutoFit/>
          </a:bodyPr>
          <a:lstStyle/>
          <a:p>
            <a:pPr algn="l"/>
            <a:r>
              <a:rPr sz="900" b="0">
                <a:solidFill>
                  <a:srgbClr val="6B7785"/>
                </a:solidFill>
                <a:latin typeface="Calibri"/>
              </a:rPr>
              <a:t>ECHO ESSENTIALS  |  Dr. [Your Name]</a:t>
            </a:r>
          </a:p>
        </p:txBody>
      </p:sp>
      <p:sp>
        <p:nvSpPr>
          <p:cNvPr id="7" name="TextBox 6"/>
          <p:cNvSpPr txBox="1"/>
          <p:nvPr/>
        </p:nvSpPr>
        <p:spPr>
          <a:xfrm>
            <a:off x="10972800" y="6473952"/>
            <a:ext cx="731520" cy="274320"/>
          </a:xfrm>
          <a:prstGeom prst="rect">
            <a:avLst/>
          </a:prstGeom>
          <a:noFill/>
        </p:spPr>
        <p:txBody>
          <a:bodyPr wrap="square" anchor="t" lIns="45720" rIns="45720">
            <a:spAutoFit/>
          </a:bodyPr>
          <a:lstStyle/>
          <a:p>
            <a:pPr algn="r"/>
            <a:r>
              <a:rPr sz="1000" b="1">
                <a:solidFill>
                  <a:srgbClr val="B3202E"/>
                </a:solidFill>
                <a:latin typeface="Calibri"/>
              </a:rPr>
              <a:t>18</a:t>
            </a:r>
          </a:p>
        </p:txBody>
      </p:sp>
      <p:sp>
        <p:nvSpPr>
          <p:cNvPr id="8" name="TextBox 7"/>
          <p:cNvSpPr txBox="1"/>
          <p:nvPr/>
        </p:nvSpPr>
        <p:spPr>
          <a:xfrm>
            <a:off x="640080" y="1463040"/>
            <a:ext cx="10972800" cy="2926080"/>
          </a:xfrm>
          <a:prstGeom prst="rect">
            <a:avLst/>
          </a:prstGeom>
          <a:noFill/>
        </p:spPr>
        <p:txBody>
          <a:bodyPr wrap="square" anchor="t" lIns="45720" rIns="45720">
            <a:spAutoFit/>
          </a:bodyPr>
          <a:lstStyle/>
          <a:p>
            <a:pPr algn="l"/>
            <a:r>
              <a:rPr sz="2200" b="0">
                <a:solidFill>
                  <a:srgbClr val="1D2733"/>
                </a:solidFill>
                <a:latin typeface="Calibri"/>
              </a:rPr>
              <a:t>62-year-old man, ischaemic cardiomyopathy, LVEF 30%, NYHA III.</a:t>
            </a:r>
          </a:p>
          <a:p>
            <a:pPr algn="l"/>
            <a:r>
              <a:rPr sz="2200" b="0">
                <a:solidFill>
                  <a:srgbClr val="1D2733"/>
                </a:solidFill>
                <a:latin typeface="Calibri"/>
              </a:rPr>
              <a:t>Vmax 3.3 m/s, MG 28 mmHg, AVA 0.8 cm², SVi 24 mL/m².</a:t>
            </a:r>
          </a:p>
          <a:p>
            <a:pPr algn="l"/>
            <a:r>
              <a:rPr sz="2200" b="0">
                <a:solidFill>
                  <a:srgbClr val="1D2733"/>
                </a:solidFill>
                <a:latin typeface="Calibri"/>
              </a:rPr>
              <a:t/>
            </a:r>
          </a:p>
          <a:p>
            <a:pPr algn="l"/>
            <a:r>
              <a:rPr sz="2200" b="0">
                <a:solidFill>
                  <a:srgbClr val="1D2733"/>
                </a:solidFill>
                <a:latin typeface="Calibri"/>
              </a:rPr>
              <a:t>How do you decide whether the valve is truly severe?</a:t>
            </a:r>
          </a:p>
        </p:txBody>
      </p:sp>
      <p:sp>
        <p:nvSpPr>
          <p:cNvPr id="9" name="Rectangle 8"/>
          <p:cNvSpPr/>
          <p:nvPr/>
        </p:nvSpPr>
        <p:spPr>
          <a:xfrm>
            <a:off x="640080" y="4572000"/>
            <a:ext cx="10972800" cy="137160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4572000"/>
            <a:ext cx="82296" cy="1371600"/>
          </a:xfrm>
          <a:prstGeom prst="rect">
            <a:avLst/>
          </a:prstGeom>
          <a:solidFill>
            <a:srgbClr val="C77C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645152"/>
            <a:ext cx="10607040" cy="274320"/>
          </a:xfrm>
          <a:prstGeom prst="rect">
            <a:avLst/>
          </a:prstGeom>
          <a:noFill/>
        </p:spPr>
        <p:txBody>
          <a:bodyPr wrap="square" anchor="t" lIns="45720" rIns="45720">
            <a:spAutoFit/>
          </a:bodyPr>
          <a:lstStyle/>
          <a:p>
            <a:pPr algn="l"/>
            <a:r>
              <a:rPr sz="1100" b="1">
                <a:solidFill>
                  <a:srgbClr val="C77C0E"/>
                </a:solidFill>
                <a:latin typeface="Calibri"/>
              </a:rPr>
              <a:t>THINK</a:t>
            </a:r>
          </a:p>
        </p:txBody>
      </p:sp>
      <p:sp>
        <p:nvSpPr>
          <p:cNvPr id="12" name="TextBox 11"/>
          <p:cNvSpPr txBox="1"/>
          <p:nvPr/>
        </p:nvSpPr>
        <p:spPr>
          <a:xfrm>
            <a:off x="868680" y="4937760"/>
            <a:ext cx="10607040" cy="960120"/>
          </a:xfrm>
          <a:prstGeom prst="rect">
            <a:avLst/>
          </a:prstGeom>
          <a:noFill/>
        </p:spPr>
        <p:txBody>
          <a:bodyPr wrap="square" anchor="t" lIns="45720" rIns="45720">
            <a:spAutoFit/>
          </a:bodyPr>
          <a:lstStyle/>
          <a:p>
            <a:pPr algn="l"/>
            <a:r>
              <a:rPr sz="1600" b="0">
                <a:solidFill>
                  <a:srgbClr val="1D2733"/>
                </a:solidFill>
                <a:latin typeface="Calibri"/>
              </a:rPr>
              <a:t>Flow reserve? AVA at high flow? Calcium score? Surgical risk and the Heart Team?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822960" cy="54864"/>
          </a:xfrm>
          <a:prstGeom prst="rect">
            <a:avLst/>
          </a:prstGeom>
          <a:solidFill>
            <a:srgbClr val="C9A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194560"/>
            <a:ext cx="10058400" cy="1097280"/>
          </a:xfrm>
          <a:prstGeom prst="rect">
            <a:avLst/>
          </a:prstGeom>
          <a:noFill/>
        </p:spPr>
        <p:txBody>
          <a:bodyPr wrap="square" anchor="t" lIns="45720" rIns="45720">
            <a:spAutoFit/>
          </a:bodyPr>
          <a:lstStyle/>
          <a:p>
            <a:pPr algn="l"/>
            <a:r>
              <a:rPr sz="4800" b="1">
                <a:solidFill>
                  <a:srgbClr val="FFFFFF"/>
                </a:solidFill>
                <a:latin typeface="Cambria"/>
              </a:rPr>
              <a:t>Take-home</a:t>
            </a:r>
          </a:p>
        </p:txBody>
      </p:sp>
      <p:sp>
        <p:nvSpPr>
          <p:cNvPr id="5" name="TextBox 4"/>
          <p:cNvSpPr txBox="1"/>
          <p:nvPr/>
        </p:nvSpPr>
        <p:spPr>
          <a:xfrm>
            <a:off x="731520" y="3291840"/>
            <a:ext cx="10515600" cy="2377440"/>
          </a:xfrm>
          <a:prstGeom prst="rect">
            <a:avLst/>
          </a:prstGeom>
          <a:noFill/>
        </p:spPr>
        <p:txBody>
          <a:bodyPr wrap="square" anchor="t" lIns="45720" rIns="45720">
            <a:spAutoFit/>
          </a:bodyPr>
          <a:lstStyle/>
          <a:p>
            <a:pPr algn="l"/>
            <a:r>
              <a:rPr sz="2200" b="0">
                <a:solidFill>
                  <a:srgbClr val="C8D4E6"/>
                </a:solidFill>
                <a:latin typeface="Calibri"/>
              </a:rPr>
              <a:t>1.  Say the flow in every discordant AS case.</a:t>
            </a:r>
          </a:p>
          <a:p>
            <a:pPr algn="l"/>
            <a:r>
              <a:rPr sz="2200" b="0">
                <a:solidFill>
                  <a:srgbClr val="C8D4E6"/>
                </a:solidFill>
                <a:latin typeface="Calibri"/>
              </a:rPr>
              <a:t>2.  Two low-flow types: reduced EF and preserved EF.</a:t>
            </a:r>
          </a:p>
          <a:p>
            <a:pPr algn="l"/>
            <a:r>
              <a:rPr sz="2200" b="0">
                <a:solidFill>
                  <a:srgbClr val="C8D4E6"/>
                </a:solidFill>
                <a:latin typeface="Calibri"/>
              </a:rPr>
              <a:t>3.  Critical AS: Vmax ≥ 5 m/s and/or MG ≥ 60 mmHg. State the numbers.</a:t>
            </a:r>
          </a:p>
          <a:p>
            <a:pPr algn="l"/>
            <a:r>
              <a:rPr sz="2200" b="0">
                <a:solidFill>
                  <a:srgbClr val="C8D4E6"/>
                </a:solidFill>
                <a:latin typeface="Calibri"/>
              </a:rPr>
              <a:t>4.  Never grade regurgitation from one parameter.</a:t>
            </a:r>
          </a:p>
          <a:p>
            <a:pPr algn="l"/>
            <a:r>
              <a:rPr sz="2200" b="0">
                <a:solidFill>
                  <a:srgbClr val="C8D4E6"/>
                </a:solidFill>
                <a:latin typeface="Calibri"/>
              </a:rPr>
              <a:t>5.  The report must drive a decision.</a:t>
            </a:r>
          </a:p>
        </p:txBody>
      </p:sp>
      <p:sp>
        <p:nvSpPr>
          <p:cNvPr id="6" name="TextBox 5"/>
          <p:cNvSpPr txBox="1"/>
          <p:nvPr/>
        </p:nvSpPr>
        <p:spPr>
          <a:xfrm>
            <a:off x="731520" y="6035040"/>
            <a:ext cx="10058400" cy="365760"/>
          </a:xfrm>
          <a:prstGeom prst="rect">
            <a:avLst/>
          </a:prstGeom>
          <a:noFill/>
        </p:spPr>
        <p:txBody>
          <a:bodyPr wrap="square" anchor="t" lIns="45720" rIns="45720">
            <a:spAutoFit/>
          </a:bodyPr>
          <a:lstStyle/>
          <a:p>
            <a:pPr algn="l"/>
            <a:r>
              <a:rPr sz="1400" b="1">
                <a:solidFill>
                  <a:srgbClr val="C9A24B"/>
                </a:solidFill>
                <a:latin typeface="Calibri"/>
              </a:rPr>
              <a:t>Dr. [Your Name]  |  Echo Essentials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