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a9efec5-ae16-541f-a3c1-f89ccb8173ef}">
          <p14:sldIdLst>
            <p14:sldId id="256"/>
            <p14:sldId id="257"/>
          </p14:sldIdLst>
        </p14:section>
        <p14:section name="Risk and goals" id="{d88de1b1-a681-df39-3947-ef11fadd0d28}">
          <p14:sldIdLst>
            <p14:sldId id="258"/>
            <p14:sldId id="259"/>
            <p14:sldId id="260"/>
          </p14:sldIdLst>
        </p14:section>
        <p14:section name="Treatment" id="{b7d31e49-639d-2e19-728f-12b191e86baa}">
          <p14:sldIdLst>
            <p14:sldId id="261"/>
            <p14:sldId id="262"/>
            <p14:sldId id="263"/>
            <p14:sldId id="264"/>
          </p14:sldIdLst>
        </p14:section>
        <p14:section name="Practice" id="{ca440e13-b386-1354-ab37-7e1275c5f386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B1F2A"/>
                </a:solidFill>
                <a:latin typeface="+mn-lt"/>
              </a:rPr>
              <a:t>Treatment goals by risk tier (mg/dL)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LDL-C goal (mg/dL)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Borderline / intermediate</c:v>
                  </c:pt>
                  <c:pt idx="1">
                    <c:v>High</c:v>
                  </c:pt>
                  <c:pt idx="2">
                    <c:v>Very-high-risk ASCVD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70</c:v>
                </c:pt>
                <c:pt idx="2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Non-HDL-C goal (mg/dL)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Borderline / intermediate</c:v>
                  </c:pt>
                  <c:pt idx="1">
                    <c:v>High</c:v>
                  </c:pt>
                  <c:pt idx="2">
                    <c:v>Very-high-risk ASCVD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130</c:v>
                </c:pt>
                <c:pt idx="1">
                  <c:v>100</c:v>
                </c:pt>
                <c:pt idx="2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A425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9525" cap="flat">
              <a:solidFill>
                <a:srgbClr val="D5DB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25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3A425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Aim: leave with a clear workflow. Step 1 estimate risk with PREVENT; step 2 refine with CAC, Lp(a), apoB; step 3 treat to a goal; step 4 add non-statins when needed. The guideline is the 2026 ACC/AHA/multisociety guideline published in JACC and Circulation, replacing the 2018 cholesterol guideline.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changes. Ask fellows which one changes their clinic habits most. Targets are back: the 2018 guideline relied on thresholds and percent reduction; 2026 restores explicit LDL-C and non-HDL-C goals while keeping percent reduction as a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prevention uses 10-year PREVENT-ASCVD risk. Secondary prevention in very-high-risk patients has the lowest goal. Percent reduction: 30 to 49% for borderline or intermediate risk, at least 50% for high risk. Confirm exact class of recommendation in the full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summary of the same table. Point out that the gap between borderline and very-high-risk goals is almost 50 mg/dL.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 in men 40 and older and women 45 and older helps when the decision is uncertain. 30-year risk matters in younger adults: statin may be considered at ages 30 to 59 when 10-year risk is under 3% but 30-year risk is 10% or higher with LDL-C 160 to 189 mg/dL.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Adults 40 to 75 with diabetes, CKD stage 3 or 4, or HIV are advised LDL-lowering therapy for primary prevention regardless of baseline LDL-C. In FH a zero CAC does not justify deferring statin. Individualize for frailty and older 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very-high-risk ASCVD on maximally tolerated statin, add ezetimibe and/or a PCSK9 monoclonal antibody, chosen by how much LDL-C lowering is needed and patient preference. For LDL-C above 190 mg/dL with clinical ASCVD the goal is the same (under 55); inclisiran and bempedoic acid are also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Lp(a) is largely genetically determined and does not change much with lifestyle or statins. Measure once in every adult; a high value should push you to lower LDL-C more aggressively and treat other risk 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Universal screening at 9 to 11 years finds FH and other disorders. Statins are generally stopped 1 to 2 months before attempting pregnancy, or as soon as pregnancy is discovered, in people not at high ASCVD risk. For persistently high triglycerides, statin remains the foundation alongside lifestyle.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case, not a real patient. Answer: very-high-risk ASCVD; goal LDL-C under 55 and non-HDL-C under 85; add ezetimibe and/or a PCSK9 monoclonal antibody (choose by the size of the remaining gap and patient preference); check adherence first; measure Lp(a) once if not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each fellow which of the five points they will apply first in clinic.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review the full guideline for class and level of evidence and for statin-intensity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1"/>
                </a:solidFill>
              </a:rPr>
              <a:t>CARDIOLOGY FELLOWS TEACHING SESSION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Lipid Management</a:t>
            </a:r>
            <a:endParaRPr lang="en-US" sz="60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2026 ACC/AHA Dyslipidemia Guideline</a:t>
            </a:r>
            <a:endParaRPr lang="en-US" sz="3000" dirty="0"/>
          </a:p>
        </p:txBody>
      </p:sp>
      <p:sp>
        <p:nvSpPr>
          <p:cNvPr id="5" name="Tagline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Risk assessment, LDL-C goals, add-on therapy and special populations</a:t>
            </a:r>
            <a:endParaRPr lang="en-US" sz="1800" dirty="0"/>
          </a:p>
        </p:txBody>
      </p:sp>
      <p:sp>
        <p:nvSpPr>
          <p:cNvPr id="6" name="Presenter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[Presenter name · date]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new in 2026</a:t>
            </a:r>
            <a:endParaRPr lang="en-US" sz="3400" dirty="0"/>
          </a:p>
        </p:txBody>
      </p:sp>
      <p:sp>
        <p:nvSpPr>
          <p:cNvPr id="4" name="Change 1 card"/>
          <p:cNvSpPr/>
          <p:nvPr/>
        </p:nvSpPr>
        <p:spPr>
          <a:xfrm>
            <a:off x="54864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hange 1 badge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hange 1 tag"/>
          <p:cNvSpPr txBox="1"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Change 1 head"/>
          <p:cNvSpPr txBox="1"/>
          <p:nvPr/>
        </p:nvSpPr>
        <p:spPr>
          <a:xfrm>
            <a:off x="7772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PREVENT replaces PCE</a:t>
            </a:r>
            <a:endParaRPr lang="en-US" sz="1800" dirty="0"/>
          </a:p>
        </p:txBody>
      </p:sp>
      <p:sp>
        <p:nvSpPr>
          <p:cNvPr id="8" name="Change 1 body"/>
          <p:cNvSpPr txBox="1"/>
          <p:nvPr/>
        </p:nvSpPr>
        <p:spPr>
          <a:xfrm>
            <a:off x="777240" y="3063240"/>
            <a:ext cx="2103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New risk equations, with 10-year and 30-year risk. The old model overestimated risk by about twofold.</a:t>
            </a:r>
            <a:endParaRPr lang="en-US" sz="1400" dirty="0"/>
          </a:p>
        </p:txBody>
      </p:sp>
      <p:sp>
        <p:nvSpPr>
          <p:cNvPr id="9" name="Change 2 card"/>
          <p:cNvSpPr/>
          <p:nvPr/>
        </p:nvSpPr>
        <p:spPr>
          <a:xfrm>
            <a:off x="338328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hange 2 badge"/>
          <p:cNvSpPr/>
          <p:nvPr/>
        </p:nvSpPr>
        <p:spPr>
          <a:xfrm>
            <a:off x="361188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hange 2 tag"/>
          <p:cNvSpPr txBox="1"/>
          <p:nvPr/>
        </p:nvSpPr>
        <p:spPr>
          <a:xfrm>
            <a:off x="36118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Change 2 head"/>
          <p:cNvSpPr txBox="1"/>
          <p:nvPr/>
        </p:nvSpPr>
        <p:spPr>
          <a:xfrm>
            <a:off x="361188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LDL-C goals return</a:t>
            </a:r>
            <a:endParaRPr lang="en-US" sz="1800" dirty="0"/>
          </a:p>
        </p:txBody>
      </p:sp>
      <p:sp>
        <p:nvSpPr>
          <p:cNvPr id="13" name="Change 2 body"/>
          <p:cNvSpPr txBox="1"/>
          <p:nvPr/>
        </p:nvSpPr>
        <p:spPr>
          <a:xfrm>
            <a:off x="3611880" y="3063240"/>
            <a:ext cx="2103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Explicit LDL-C and non-HDL-C goals by risk tier, plus a target percent reduction.</a:t>
            </a:r>
            <a:endParaRPr lang="en-US" sz="1400" dirty="0"/>
          </a:p>
        </p:txBody>
      </p:sp>
      <p:sp>
        <p:nvSpPr>
          <p:cNvPr id="14" name="Change 3 card"/>
          <p:cNvSpPr/>
          <p:nvPr/>
        </p:nvSpPr>
        <p:spPr>
          <a:xfrm>
            <a:off x="621792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hange 3 badge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Change 3 tag"/>
          <p:cNvSpPr txBox="1"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Change 3 head"/>
          <p:cNvSpPr txBox="1"/>
          <p:nvPr/>
        </p:nvSpPr>
        <p:spPr>
          <a:xfrm>
            <a:off x="644652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More biomarkers</a:t>
            </a:r>
            <a:endParaRPr lang="en-US" sz="1800" dirty="0"/>
          </a:p>
        </p:txBody>
      </p:sp>
      <p:sp>
        <p:nvSpPr>
          <p:cNvPr id="18" name="Change 3 body"/>
          <p:cNvSpPr txBox="1"/>
          <p:nvPr/>
        </p:nvSpPr>
        <p:spPr>
          <a:xfrm>
            <a:off x="6446520" y="3063240"/>
            <a:ext cx="2103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Measure Lp(a) at least once. Use apoB selectively. CAC refines risk in selected adults.</a:t>
            </a:r>
            <a:endParaRPr lang="en-US" sz="1400" dirty="0"/>
          </a:p>
        </p:txBody>
      </p:sp>
      <p:sp>
        <p:nvSpPr>
          <p:cNvPr id="19" name="Change 4 card"/>
          <p:cNvSpPr/>
          <p:nvPr/>
        </p:nvSpPr>
        <p:spPr>
          <a:xfrm>
            <a:off x="905256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hange 4 badge"/>
          <p:cNvSpPr/>
          <p:nvPr/>
        </p:nvSpPr>
        <p:spPr>
          <a:xfrm>
            <a:off x="9281160" y="178308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Change 4 tag"/>
          <p:cNvSpPr txBox="1"/>
          <p:nvPr/>
        </p:nvSpPr>
        <p:spPr>
          <a:xfrm>
            <a:off x="92811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Change 4 head"/>
          <p:cNvSpPr txBox="1"/>
          <p:nvPr/>
        </p:nvSpPr>
        <p:spPr>
          <a:xfrm>
            <a:off x="92811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Earlier action</a:t>
            </a:r>
            <a:endParaRPr lang="en-US" sz="1800" dirty="0"/>
          </a:p>
        </p:txBody>
      </p:sp>
      <p:sp>
        <p:nvSpPr>
          <p:cNvPr id="23" name="Change 4 body"/>
          <p:cNvSpPr txBox="1"/>
          <p:nvPr/>
        </p:nvSpPr>
        <p:spPr>
          <a:xfrm>
            <a:off x="9281160" y="3063240"/>
            <a:ext cx="2103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30-year risk and young-adult thresholds support treatment before midlife.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tier decides the LDL-C goal</a:t>
            </a:r>
            <a:endParaRPr lang="en-US" sz="3400" dirty="0"/>
          </a:p>
        </p:txBody>
      </p:sp>
      <p:graphicFrame>
        <p:nvGraphicFramePr>
          <p:cNvPr id="4" name="Risk ti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2011680"/>
                <a:gridCol w="2011680"/>
                <a:gridCol w="20116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Risk tier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10-year PREVENT risk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LDL-C goal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Non-HDL-C goal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LDL-C reduction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Borderline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3% to under 5%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&lt; 100 mg/dL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&lt; 130 mg/dL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30 to 49%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Intermediate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5% to under 10%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&lt; 100 mg/dL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&lt; 130 mg/dL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30 to 49%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High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10% or higher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&lt; 70 mg/dL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&lt; 100 mg/dL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At least 50%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Very-high-risk ASCVD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Secondary prevention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</a:rPr>
                        <a:t>&lt; 55 mg/dL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</a:rPr>
                        <a:t>&lt; 85 mg/dL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Per goal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5" name="Table footnote"/>
          <p:cNvSpPr txBox="1"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Under 3% is low risk. Values are the targets stated in guideline summaries; verify details in the full text.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step down as risk rises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risk before deciding</a:t>
            </a:r>
            <a:endParaRPr lang="en-US" sz="3400" dirty="0"/>
          </a:p>
        </p:txBody>
      </p:sp>
      <p:sp>
        <p:nvSpPr>
          <p:cNvPr id="4" name="Refine A card"/>
          <p:cNvSpPr/>
          <p:nvPr/>
        </p:nvSpPr>
        <p:spPr>
          <a:xfrm>
            <a:off x="548640" y="1554480"/>
            <a:ext cx="2560320" cy="4389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fine A badge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Refine A tag"/>
          <p:cNvSpPr txBox="1"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Refine A head"/>
          <p:cNvSpPr txBox="1"/>
          <p:nvPr/>
        </p:nvSpPr>
        <p:spPr>
          <a:xfrm>
            <a:off x="7772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PREVENT 10-year</a:t>
            </a:r>
            <a:endParaRPr lang="en-US" sz="1800" dirty="0"/>
          </a:p>
        </p:txBody>
      </p:sp>
      <p:sp>
        <p:nvSpPr>
          <p:cNvPr id="8" name="Refine A body"/>
          <p:cNvSpPr txBox="1"/>
          <p:nvPr/>
        </p:nvSpPr>
        <p:spPr>
          <a:xfrm>
            <a:off x="777240" y="3063240"/>
            <a:ext cx="2103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Start here for adults. Gives borderline, intermediate or high risk.</a:t>
            </a:r>
            <a:endParaRPr lang="en-US" sz="1400" dirty="0"/>
          </a:p>
        </p:txBody>
      </p:sp>
      <p:sp>
        <p:nvSpPr>
          <p:cNvPr id="9" name="Refine B card"/>
          <p:cNvSpPr/>
          <p:nvPr/>
        </p:nvSpPr>
        <p:spPr>
          <a:xfrm>
            <a:off x="3383280" y="1554480"/>
            <a:ext cx="2560320" cy="4389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Refine B badge"/>
          <p:cNvSpPr/>
          <p:nvPr/>
        </p:nvSpPr>
        <p:spPr>
          <a:xfrm>
            <a:off x="3611880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Refine B tag"/>
          <p:cNvSpPr txBox="1"/>
          <p:nvPr/>
        </p:nvSpPr>
        <p:spPr>
          <a:xfrm>
            <a:off x="36118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Refine B head"/>
          <p:cNvSpPr txBox="1"/>
          <p:nvPr/>
        </p:nvSpPr>
        <p:spPr>
          <a:xfrm>
            <a:off x="361188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30-year risk</a:t>
            </a:r>
            <a:endParaRPr lang="en-US" sz="1800" dirty="0"/>
          </a:p>
        </p:txBody>
      </p:sp>
      <p:sp>
        <p:nvSpPr>
          <p:cNvPr id="13" name="Refine B body"/>
          <p:cNvSpPr txBox="1"/>
          <p:nvPr/>
        </p:nvSpPr>
        <p:spPr>
          <a:xfrm>
            <a:off x="3611880" y="3063240"/>
            <a:ext cx="2103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Ages 30 to 59. Statin may be considered if 10-year risk is under 3%, 30-year risk is 10% or higher and LDL-C is 160 to 189 mg/dL.</a:t>
            </a:r>
            <a:endParaRPr lang="en-US" sz="1400" dirty="0"/>
          </a:p>
        </p:txBody>
      </p:sp>
      <p:sp>
        <p:nvSpPr>
          <p:cNvPr id="14" name="Refine C card"/>
          <p:cNvSpPr/>
          <p:nvPr/>
        </p:nvSpPr>
        <p:spPr>
          <a:xfrm>
            <a:off x="6217920" y="1554480"/>
            <a:ext cx="2560320" cy="4389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Refine C badge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Refine C tag"/>
          <p:cNvSpPr txBox="1"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Refine C head"/>
          <p:cNvSpPr txBox="1"/>
          <p:nvPr/>
        </p:nvSpPr>
        <p:spPr>
          <a:xfrm>
            <a:off x="644652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CAC score</a:t>
            </a:r>
            <a:endParaRPr lang="en-US" sz="1800" dirty="0"/>
          </a:p>
        </p:txBody>
      </p:sp>
      <p:sp>
        <p:nvSpPr>
          <p:cNvPr id="18" name="Refine C body"/>
          <p:cNvSpPr txBox="1"/>
          <p:nvPr/>
        </p:nvSpPr>
        <p:spPr>
          <a:xfrm>
            <a:off x="6446520" y="3063240"/>
            <a:ext cx="2103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 40 and older, women 45 and older. Improves risk assessment and helps set goals.</a:t>
            </a:r>
            <a:endParaRPr lang="en-US" sz="1400" dirty="0"/>
          </a:p>
        </p:txBody>
      </p:sp>
      <p:sp>
        <p:nvSpPr>
          <p:cNvPr id="19" name="Refine D card"/>
          <p:cNvSpPr/>
          <p:nvPr/>
        </p:nvSpPr>
        <p:spPr>
          <a:xfrm>
            <a:off x="9052560" y="1554480"/>
            <a:ext cx="2560320" cy="4389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Refine D badge"/>
          <p:cNvSpPr/>
          <p:nvPr/>
        </p:nvSpPr>
        <p:spPr>
          <a:xfrm>
            <a:off x="928116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Refine D tag"/>
          <p:cNvSpPr txBox="1"/>
          <p:nvPr/>
        </p:nvSpPr>
        <p:spPr>
          <a:xfrm>
            <a:off x="92811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Refine D head"/>
          <p:cNvSpPr txBox="1"/>
          <p:nvPr/>
        </p:nvSpPr>
        <p:spPr>
          <a:xfrm>
            <a:off x="92811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Lp(a) and apoB</a:t>
            </a:r>
            <a:endParaRPr lang="en-US" sz="1800" dirty="0"/>
          </a:p>
        </p:txBody>
      </p:sp>
      <p:sp>
        <p:nvSpPr>
          <p:cNvPr id="23" name="Refine D body"/>
          <p:cNvSpPr txBox="1"/>
          <p:nvPr/>
        </p:nvSpPr>
        <p:spPr>
          <a:xfrm>
            <a:off x="9281160" y="3063240"/>
            <a:ext cx="2103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Lp(a) once in every adult. apoB selectively, for example with high triglycerides.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treated regardless of LDL-C</a:t>
            </a:r>
            <a:endParaRPr lang="en-US" sz="3400" dirty="0"/>
          </a:p>
        </p:txBody>
      </p:sp>
      <p:sp>
        <p:nvSpPr>
          <p:cNvPr id="4" name="Group 1 panel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Group 1 pill"/>
          <p:cNvSpPr/>
          <p:nvPr/>
        </p:nvSpPr>
        <p:spPr>
          <a:xfrm>
            <a:off x="777240" y="1783080"/>
            <a:ext cx="310896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Group 1 pill text"/>
          <p:cNvSpPr txBox="1"/>
          <p:nvPr/>
        </p:nvSpPr>
        <p:spPr>
          <a:xfrm>
            <a:off x="77724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Ages 40 to 75</a:t>
            </a:r>
            <a:endParaRPr lang="en-US" sz="1600" dirty="0"/>
          </a:p>
        </p:txBody>
      </p:sp>
      <p:sp>
        <p:nvSpPr>
          <p:cNvPr id="7" name="Group 1 list"/>
          <p:cNvSpPr txBox="1"/>
          <p:nvPr/>
        </p:nvSpPr>
        <p:spPr>
          <a:xfrm>
            <a:off x="822960" y="256032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Diabetes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CKD stage 3 or 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LDL-lowering therapy recommended regardless of LDL-C level</a:t>
            </a:r>
            <a:endParaRPr lang="en-US" sz="1400" dirty="0"/>
          </a:p>
        </p:txBody>
      </p:sp>
      <p:sp>
        <p:nvSpPr>
          <p:cNvPr id="8" name="Group 2 panel"/>
          <p:cNvSpPr/>
          <p:nvPr/>
        </p:nvSpPr>
        <p:spPr>
          <a:xfrm>
            <a:off x="4315968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Group 2 pill"/>
          <p:cNvSpPr/>
          <p:nvPr/>
        </p:nvSpPr>
        <p:spPr>
          <a:xfrm>
            <a:off x="4544568" y="1783080"/>
            <a:ext cx="31089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Group 2 pill text"/>
          <p:cNvSpPr txBox="1"/>
          <p:nvPr/>
        </p:nvSpPr>
        <p:spPr>
          <a:xfrm>
            <a:off x="4544568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Familial hypercholesterolemia</a:t>
            </a:r>
            <a:endParaRPr lang="en-US" sz="1600" dirty="0"/>
          </a:p>
        </p:txBody>
      </p:sp>
      <p:sp>
        <p:nvSpPr>
          <p:cNvPr id="11" name="Group 2 list"/>
          <p:cNvSpPr txBox="1"/>
          <p:nvPr/>
        </p:nvSpPr>
        <p:spPr>
          <a:xfrm>
            <a:off x="4590288" y="256032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Consider drug therapy early, even in youth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CAC of 0 does not justify statin deferral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Young adults with LDL-C 160 or higher or strong family history: consider therapy</a:t>
            </a:r>
            <a:endParaRPr lang="en-US" sz="1400" dirty="0"/>
          </a:p>
        </p:txBody>
      </p:sp>
      <p:sp>
        <p:nvSpPr>
          <p:cNvPr id="12" name="Group 3 panel"/>
          <p:cNvSpPr/>
          <p:nvPr/>
        </p:nvSpPr>
        <p:spPr>
          <a:xfrm>
            <a:off x="8083296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Group 3 pill"/>
          <p:cNvSpPr/>
          <p:nvPr/>
        </p:nvSpPr>
        <p:spPr>
          <a:xfrm>
            <a:off x="8311896" y="1783080"/>
            <a:ext cx="3108960" cy="5486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Group 3 pill text"/>
          <p:cNvSpPr txBox="1"/>
          <p:nvPr/>
        </p:nvSpPr>
        <p:spPr>
          <a:xfrm>
            <a:off x="8311896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Elevated Lp(a)</a:t>
            </a:r>
            <a:endParaRPr lang="en-US" sz="1600" dirty="0"/>
          </a:p>
        </p:txBody>
      </p:sp>
      <p:sp>
        <p:nvSpPr>
          <p:cNvPr id="15" name="Group 3 list"/>
          <p:cNvSpPr txBox="1"/>
          <p:nvPr/>
        </p:nvSpPr>
        <p:spPr>
          <a:xfrm>
            <a:off x="8357616" y="256032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Treat as a risk enhancer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Intensify LDL-C lowering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 other risk factors more aggressively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prevention: statin first, then add on</a:t>
            </a:r>
            <a:endParaRPr lang="en-US" sz="3400" dirty="0"/>
          </a:p>
        </p:txBody>
      </p:sp>
      <p:sp>
        <p:nvSpPr>
          <p:cNvPr id="4" name="Step 1 box"/>
          <p:cNvSpPr/>
          <p:nvPr/>
        </p:nvSpPr>
        <p:spPr>
          <a:xfrm>
            <a:off x="548640" y="1737360"/>
            <a:ext cx="3200400" cy="237744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tep 1 head"/>
          <p:cNvSpPr txBox="1"/>
          <p:nvPr/>
        </p:nvSpPr>
        <p:spPr>
          <a:xfrm>
            <a:off x="777240" y="1874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1. Maximally tolerated statin</a:t>
            </a:r>
            <a:endParaRPr lang="en-US" sz="1800" dirty="0"/>
          </a:p>
        </p:txBody>
      </p:sp>
      <p:sp>
        <p:nvSpPr>
          <p:cNvPr id="6" name="Step 1 body"/>
          <p:cNvSpPr txBox="1"/>
          <p:nvPr/>
        </p:nvSpPr>
        <p:spPr>
          <a:xfrm>
            <a:off x="777240" y="2514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High-intensity when tolerated. Recheck lipids and adherence.</a:t>
            </a:r>
            <a:endParaRPr lang="en-US" sz="1400" dirty="0"/>
          </a:p>
        </p:txBody>
      </p:sp>
      <p:sp>
        <p:nvSpPr>
          <p:cNvPr id="7" name="Step 2 box"/>
          <p:cNvSpPr/>
          <p:nvPr/>
        </p:nvSpPr>
        <p:spPr>
          <a:xfrm>
            <a:off x="4480560" y="1737360"/>
            <a:ext cx="3200400" cy="237744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2 head"/>
          <p:cNvSpPr txBox="1"/>
          <p:nvPr/>
        </p:nvSpPr>
        <p:spPr>
          <a:xfrm>
            <a:off x="4709160" y="1874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2. Above goal? Add on</a:t>
            </a:r>
            <a:endParaRPr lang="en-US" sz="1800" dirty="0"/>
          </a:p>
        </p:txBody>
      </p:sp>
      <p:sp>
        <p:nvSpPr>
          <p:cNvPr id="9" name="Step 2 body"/>
          <p:cNvSpPr txBox="1"/>
          <p:nvPr/>
        </p:nvSpPr>
        <p:spPr>
          <a:xfrm>
            <a:off x="4709160" y="2514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Ezetimibe and/or a PCSK9 monoclonal antibody, chosen by LDL-C lowering needed and patient preference.</a:t>
            </a:r>
            <a:endParaRPr lang="en-US" sz="1400" dirty="0"/>
          </a:p>
        </p:txBody>
      </p:sp>
      <p:sp>
        <p:nvSpPr>
          <p:cNvPr id="10" name="Step 3 box"/>
          <p:cNvSpPr/>
          <p:nvPr/>
        </p:nvSpPr>
        <p:spPr>
          <a:xfrm>
            <a:off x="8412480" y="1737360"/>
            <a:ext cx="3200400" cy="2377440"/>
          </a:xfrm>
          <a:prstGeom prst="roundRect">
            <a:avLst>
              <a:gd name="adj" fmla="val 461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3 head"/>
          <p:cNvSpPr txBox="1"/>
          <p:nvPr/>
        </p:nvSpPr>
        <p:spPr>
          <a:xfrm>
            <a:off x="8641080" y="1874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3. Goal reached</a:t>
            </a:r>
            <a:endParaRPr lang="en-US" sz="1800" dirty="0"/>
          </a:p>
        </p:txBody>
      </p:sp>
      <p:sp>
        <p:nvSpPr>
          <p:cNvPr id="12" name="Step 3 body"/>
          <p:cNvSpPr txBox="1"/>
          <p:nvPr/>
        </p:nvSpPr>
        <p:spPr>
          <a:xfrm>
            <a:off x="8641080" y="2514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LDL-C under 55 mg/dL and non-HDL-C under 85 mg/dL in very-high-risk ASCVD.</a:t>
            </a:r>
            <a:endParaRPr lang="en-US" sz="1400" dirty="0"/>
          </a:p>
        </p:txBody>
      </p:sp>
      <p:sp>
        <p:nvSpPr>
          <p:cNvPr id="13" name="Arrow 1"/>
          <p:cNvSpPr/>
          <p:nvPr/>
        </p:nvSpPr>
        <p:spPr>
          <a:xfrm>
            <a:off x="3794760" y="2697480"/>
            <a:ext cx="548640" cy="4572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Arrow 2"/>
          <p:cNvSpPr/>
          <p:nvPr/>
        </p:nvSpPr>
        <p:spPr>
          <a:xfrm>
            <a:off x="7726680" y="2697480"/>
            <a:ext cx="548640" cy="4572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Severe note box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evere note text"/>
          <p:cNvSpPr txBox="1"/>
          <p:nvPr/>
        </p:nvSpPr>
        <p:spPr>
          <a:xfrm>
            <a:off x="822960" y="4526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LDL-C above 190 mg/dL with clinical ASCVD: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goal (under 55 mg/dL). If needed, add ezetimibe, a PCSK9 monoclonal antibody, inclisiran and/or bempedoic acid.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Lipoprotein(a): measure once</a:t>
            </a:r>
            <a:endParaRPr lang="en-US" sz="3400" dirty="0"/>
          </a:p>
        </p:txBody>
      </p:sp>
      <p:sp>
        <p:nvSpPr>
          <p:cNvPr id="4" name="Stat 1 card"/>
          <p:cNvSpPr/>
          <p:nvPr/>
        </p:nvSpPr>
        <p:spPr>
          <a:xfrm>
            <a:off x="548640" y="164592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1 number"/>
          <p:cNvSpPr txBox="1"/>
          <p:nvPr/>
        </p:nvSpPr>
        <p:spPr>
          <a:xfrm>
            <a:off x="822960" y="1828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125 nmol/L</a:t>
            </a:r>
            <a:endParaRPr lang="en-US" sz="5400" dirty="0"/>
          </a:p>
        </p:txBody>
      </p:sp>
      <p:sp>
        <p:nvSpPr>
          <p:cNvPr id="6" name="Stat 1 unit"/>
          <p:cNvSpPr txBox="1"/>
          <p:nvPr/>
        </p:nvSpPr>
        <p:spPr>
          <a:xfrm>
            <a:off x="82296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About 50 mg/dL</a:t>
            </a:r>
            <a:endParaRPr lang="en-US" sz="1800" dirty="0"/>
          </a:p>
        </p:txBody>
      </p:sp>
      <p:sp>
        <p:nvSpPr>
          <p:cNvPr id="7" name="Stat 1 text"/>
          <p:cNvSpPr txBox="1"/>
          <p:nvPr/>
        </p:nvSpPr>
        <p:spPr>
          <a:xfrm>
            <a:off x="822960" y="3566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Risk-enhancing factor. About 1.4-fold higher ASCVD risk.</a:t>
            </a:r>
            <a:endParaRPr lang="en-US" sz="1600" dirty="0"/>
          </a:p>
        </p:txBody>
      </p:sp>
      <p:sp>
        <p:nvSpPr>
          <p:cNvPr id="8" name="Stat 2 card"/>
          <p:cNvSpPr/>
          <p:nvPr/>
        </p:nvSpPr>
        <p:spPr>
          <a:xfrm>
            <a:off x="6217920" y="164592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 2 number"/>
          <p:cNvSpPr txBox="1"/>
          <p:nvPr/>
        </p:nvSpPr>
        <p:spPr>
          <a:xfrm>
            <a:off x="6492240" y="1828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250 nmol/L</a:t>
            </a:r>
            <a:endParaRPr lang="en-US" sz="5400" dirty="0"/>
          </a:p>
        </p:txBody>
      </p:sp>
      <p:sp>
        <p:nvSpPr>
          <p:cNvPr id="10" name="Stat 2 unit"/>
          <p:cNvSpPr txBox="1"/>
          <p:nvPr/>
        </p:nvSpPr>
        <p:spPr>
          <a:xfrm>
            <a:off x="649224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About 100 mg/dL</a:t>
            </a:r>
            <a:endParaRPr lang="en-US" sz="1800" dirty="0"/>
          </a:p>
        </p:txBody>
      </p:sp>
      <p:sp>
        <p:nvSpPr>
          <p:cNvPr id="11" name="Stat 2 text"/>
          <p:cNvSpPr txBox="1"/>
          <p:nvPr/>
        </p:nvSpPr>
        <p:spPr>
          <a:xfrm>
            <a:off x="6492240" y="3566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At least 2-fold higher estimated ASCVD risk.</a:t>
            </a:r>
            <a:endParaRPr lang="en-US" sz="1600" dirty="0"/>
          </a:p>
        </p:txBody>
      </p:sp>
      <p:sp>
        <p:nvSpPr>
          <p:cNvPr id="12" name="Lp(a) action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Action: measure Lp(a) at least once, then intensify LDL-C lowering and risk-factor control if elevated.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Children, pregnancy and triglycerides</a:t>
            </a:r>
            <a:endParaRPr lang="en-US" sz="3400" dirty="0"/>
          </a:p>
        </p:txBody>
      </p:sp>
      <p:sp>
        <p:nvSpPr>
          <p:cNvPr id="4" name="Stage 1 card"/>
          <p:cNvSpPr/>
          <p:nvPr/>
        </p:nvSpPr>
        <p:spPr>
          <a:xfrm>
            <a:off x="548640" y="1554480"/>
            <a:ext cx="2560320" cy="44805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ge 1 badge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Stage 1 tag"/>
          <p:cNvSpPr txBox="1"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9-11</a:t>
            </a:r>
            <a:endParaRPr lang="en-US" sz="1800" dirty="0"/>
          </a:p>
        </p:txBody>
      </p:sp>
      <p:sp>
        <p:nvSpPr>
          <p:cNvPr id="7" name="Stage 1 head"/>
          <p:cNvSpPr txBox="1"/>
          <p:nvPr/>
        </p:nvSpPr>
        <p:spPr>
          <a:xfrm>
            <a:off x="7772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Screen children</a:t>
            </a:r>
            <a:endParaRPr lang="en-US" sz="1800" dirty="0"/>
          </a:p>
        </p:txBody>
      </p:sp>
      <p:sp>
        <p:nvSpPr>
          <p:cNvPr id="8" name="Stage 1 body"/>
          <p:cNvSpPr txBox="1"/>
          <p:nvPr/>
        </p:nvSpPr>
        <p:spPr>
          <a:xfrm>
            <a:off x="777240" y="3063240"/>
            <a:ext cx="2103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Lipid profile in children 9 to 11 years not previously tested, to find FH and other significant lipid disorders.</a:t>
            </a:r>
            <a:endParaRPr lang="en-US" sz="1400" dirty="0"/>
          </a:p>
        </p:txBody>
      </p:sp>
      <p:sp>
        <p:nvSpPr>
          <p:cNvPr id="9" name="Stage 2 card"/>
          <p:cNvSpPr/>
          <p:nvPr/>
        </p:nvSpPr>
        <p:spPr>
          <a:xfrm>
            <a:off x="3383280" y="1554480"/>
            <a:ext cx="2560320" cy="44805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ge 2 badge"/>
          <p:cNvSpPr/>
          <p:nvPr/>
        </p:nvSpPr>
        <p:spPr>
          <a:xfrm>
            <a:off x="361188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age 2 tag"/>
          <p:cNvSpPr txBox="1"/>
          <p:nvPr/>
        </p:nvSpPr>
        <p:spPr>
          <a:xfrm>
            <a:off x="36118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8+</a:t>
            </a:r>
            <a:endParaRPr lang="en-US" sz="1800" dirty="0"/>
          </a:p>
        </p:txBody>
      </p:sp>
      <p:sp>
        <p:nvSpPr>
          <p:cNvPr id="12" name="Stage 2 head"/>
          <p:cNvSpPr txBox="1"/>
          <p:nvPr/>
        </p:nvSpPr>
        <p:spPr>
          <a:xfrm>
            <a:off x="361188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Treat FH in youth</a:t>
            </a:r>
            <a:endParaRPr lang="en-US" sz="1800" dirty="0"/>
          </a:p>
        </p:txBody>
      </p:sp>
      <p:sp>
        <p:nvSpPr>
          <p:cNvPr id="13" name="Stage 2 body"/>
          <p:cNvSpPr txBox="1"/>
          <p:nvPr/>
        </p:nvSpPr>
        <p:spPr>
          <a:xfrm>
            <a:off x="3611880" y="3063240"/>
            <a:ext cx="2103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LDL-C persistently 160 or higher with an FH picture and inadequate response after 3 to 6 months of lifestyle: start a statin, add others if needed.</a:t>
            </a:r>
            <a:endParaRPr lang="en-US" sz="1400" dirty="0"/>
          </a:p>
        </p:txBody>
      </p:sp>
      <p:sp>
        <p:nvSpPr>
          <p:cNvPr id="14" name="Stage 3 card"/>
          <p:cNvSpPr/>
          <p:nvPr/>
        </p:nvSpPr>
        <p:spPr>
          <a:xfrm>
            <a:off x="6217920" y="1554480"/>
            <a:ext cx="2560320" cy="44805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age 3 badge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tage 3 tag"/>
          <p:cNvSpPr txBox="1"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Preg</a:t>
            </a:r>
            <a:endParaRPr lang="en-US" sz="1800" dirty="0"/>
          </a:p>
        </p:txBody>
      </p:sp>
      <p:sp>
        <p:nvSpPr>
          <p:cNvPr id="17" name="Stage 3 head"/>
          <p:cNvSpPr txBox="1"/>
          <p:nvPr/>
        </p:nvSpPr>
        <p:spPr>
          <a:xfrm>
            <a:off x="644652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Pregnancy</a:t>
            </a:r>
            <a:endParaRPr lang="en-US" sz="1800" dirty="0"/>
          </a:p>
        </p:txBody>
      </p:sp>
      <p:sp>
        <p:nvSpPr>
          <p:cNvPr id="18" name="Stage 3 body"/>
          <p:cNvSpPr txBox="1"/>
          <p:nvPr/>
        </p:nvSpPr>
        <p:spPr>
          <a:xfrm>
            <a:off x="6446520" y="3063240"/>
            <a:ext cx="2103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 at high ASCVD risk: stop the statin 1 to 2 months before trying to conceive, or when pregnancy is discovered.</a:t>
            </a:r>
            <a:endParaRPr lang="en-US" sz="1400" dirty="0"/>
          </a:p>
        </p:txBody>
      </p:sp>
      <p:sp>
        <p:nvSpPr>
          <p:cNvPr id="19" name="Stage 4 card"/>
          <p:cNvSpPr/>
          <p:nvPr/>
        </p:nvSpPr>
        <p:spPr>
          <a:xfrm>
            <a:off x="9052560" y="1554480"/>
            <a:ext cx="2560320" cy="44805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age 4 badge"/>
          <p:cNvSpPr/>
          <p:nvPr/>
        </p:nvSpPr>
        <p:spPr>
          <a:xfrm>
            <a:off x="9281160" y="178308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Stage 4 tag"/>
          <p:cNvSpPr txBox="1"/>
          <p:nvPr/>
        </p:nvSpPr>
        <p:spPr>
          <a:xfrm>
            <a:off x="92811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TG</a:t>
            </a:r>
            <a:endParaRPr lang="en-US" sz="1800" dirty="0"/>
          </a:p>
        </p:txBody>
      </p:sp>
      <p:sp>
        <p:nvSpPr>
          <p:cNvPr id="22" name="Stage 4 head"/>
          <p:cNvSpPr txBox="1"/>
          <p:nvPr/>
        </p:nvSpPr>
        <p:spPr>
          <a:xfrm>
            <a:off x="92811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High triglycerides</a:t>
            </a:r>
            <a:endParaRPr lang="en-US" sz="1800" dirty="0"/>
          </a:p>
        </p:txBody>
      </p:sp>
      <p:sp>
        <p:nvSpPr>
          <p:cNvPr id="23" name="Stage 4 body"/>
          <p:cNvSpPr txBox="1"/>
          <p:nvPr/>
        </p:nvSpPr>
        <p:spPr>
          <a:xfrm>
            <a:off x="9281160" y="3063240"/>
            <a:ext cx="2103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Statin remains the foundation of drug therapy, together with lifestyle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for discussion</a:t>
            </a:r>
            <a:endParaRPr lang="en-US" sz="3400" dirty="0"/>
          </a:p>
        </p:txBody>
      </p:sp>
      <p:sp>
        <p:nvSpPr>
          <p:cNvPr id="4" name="Case card"/>
          <p:cNvSpPr/>
          <p:nvPr/>
        </p:nvSpPr>
        <p:spPr>
          <a:xfrm>
            <a:off x="548640" y="1554480"/>
            <a:ext cx="64008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se label"/>
          <p:cNvSpPr txBox="1"/>
          <p:nvPr/>
        </p:nvSpPr>
        <p:spPr>
          <a:xfrm>
            <a:off x="822960" y="17373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Illustrative case</a:t>
            </a:r>
            <a:endParaRPr lang="en-US" sz="1800" dirty="0"/>
          </a:p>
        </p:txBody>
      </p:sp>
      <p:sp>
        <p:nvSpPr>
          <p:cNvPr id="6" name="Case text"/>
          <p:cNvSpPr txBox="1"/>
          <p:nvPr/>
        </p:nvSpPr>
        <p:spPr>
          <a:xfrm>
            <a:off x="822960" y="228600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58-year-old man had an acute coronary syndrome 6 months ago. He takes atorvastatin 80 mg daily with good adherence. Fasting LDL-C is 82 mg/dL and non-HDL-C is 112 mg/dL. Lp(a) has never been measured.</a:t>
            </a:r>
            <a:endParaRPr lang="en-US" sz="1800" dirty="0"/>
          </a:p>
        </p:txBody>
      </p:sp>
      <p:sp>
        <p:nvSpPr>
          <p:cNvPr id="7" name="Case question"/>
          <p:cNvSpPr txBox="1"/>
          <p:nvPr/>
        </p:nvSpPr>
        <p:spPr>
          <a:xfrm>
            <a:off x="822960" y="44805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What is his goal, and what is your next step?</a:t>
            </a:r>
            <a:endParaRPr lang="en-US" sz="2000" dirty="0"/>
          </a:p>
        </p:txBody>
      </p:sp>
      <p:sp>
        <p:nvSpPr>
          <p:cNvPr id="8" name="Answer card"/>
          <p:cNvSpPr/>
          <p:nvPr/>
        </p:nvSpPr>
        <p:spPr>
          <a:xfrm>
            <a:off x="7223760" y="1554480"/>
            <a:ext cx="4389120" cy="420624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Answer label"/>
          <p:cNvSpPr txBox="1"/>
          <p:nvPr/>
        </p:nvSpPr>
        <p:spPr>
          <a:xfrm>
            <a:off x="74980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Answer</a:t>
            </a:r>
            <a:endParaRPr lang="en-US" sz="1800" dirty="0"/>
          </a:p>
        </p:txBody>
      </p:sp>
      <p:sp>
        <p:nvSpPr>
          <p:cNvPr id="10" name="Answer list"/>
          <p:cNvSpPr txBox="1"/>
          <p:nvPr/>
        </p:nvSpPr>
        <p:spPr>
          <a:xfrm>
            <a:off x="7498080" y="22860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Very-high-risk ASCVD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Goal: LDL-C under 55, non-HDL-C under 85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Add ezetimibe and/or a PCSK9 monoclonal antibody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Measure Lp(a) once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Take-home points</a:t>
            </a:r>
            <a:endParaRPr lang="en-US" sz="3400" dirty="0"/>
          </a:p>
        </p:txBody>
      </p:sp>
      <p:sp>
        <p:nvSpPr>
          <p:cNvPr id="3" name="Point badge 1"/>
          <p:cNvSpPr/>
          <p:nvPr/>
        </p:nvSpPr>
        <p:spPr>
          <a:xfrm>
            <a:off x="548640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int number 1"/>
          <p:cNvSpPr txBox="1"/>
          <p:nvPr/>
        </p:nvSpPr>
        <p:spPr>
          <a:xfrm>
            <a:off x="54864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Point text 1"/>
          <p:cNvSpPr txBox="1"/>
          <p:nvPr/>
        </p:nvSpPr>
        <p:spPr>
          <a:xfrm>
            <a:off x="1371600" y="15544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Use PREVENT for 10-year and 30-year risk, not the old pooled cohort equations.</a:t>
            </a:r>
            <a:endParaRPr lang="en-US" sz="1800" dirty="0"/>
          </a:p>
        </p:txBody>
      </p:sp>
      <p:sp>
        <p:nvSpPr>
          <p:cNvPr id="6" name="Point badge 2"/>
          <p:cNvSpPr/>
          <p:nvPr/>
        </p:nvSpPr>
        <p:spPr>
          <a:xfrm>
            <a:off x="548640" y="2468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int number 2"/>
          <p:cNvSpPr txBox="1"/>
          <p:nvPr/>
        </p:nvSpPr>
        <p:spPr>
          <a:xfrm>
            <a:off x="54864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Point text 2"/>
          <p:cNvSpPr txBox="1"/>
          <p:nvPr/>
        </p:nvSpPr>
        <p:spPr>
          <a:xfrm>
            <a:off x="1371600" y="24688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Treat to a goal: under 100, under 70, or under 55 mg/dL by risk tier.</a:t>
            </a:r>
            <a:endParaRPr lang="en-US" sz="1800" dirty="0"/>
          </a:p>
        </p:txBody>
      </p:sp>
      <p:sp>
        <p:nvSpPr>
          <p:cNvPr id="9" name="Point badge 3"/>
          <p:cNvSpPr/>
          <p:nvPr/>
        </p:nvSpPr>
        <p:spPr>
          <a:xfrm>
            <a:off x="548640" y="3383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int number 3"/>
          <p:cNvSpPr txBox="1"/>
          <p:nvPr/>
        </p:nvSpPr>
        <p:spPr>
          <a:xfrm>
            <a:off x="54864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Point text 3"/>
          <p:cNvSpPr txBox="1"/>
          <p:nvPr/>
        </p:nvSpPr>
        <p:spPr>
          <a:xfrm>
            <a:off x="1371600" y="33832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Refine with CAC, Lp(a) once, and apoB when triglycerides are high.</a:t>
            </a:r>
            <a:endParaRPr lang="en-US" sz="1800" dirty="0"/>
          </a:p>
        </p:txBody>
      </p:sp>
      <p:sp>
        <p:nvSpPr>
          <p:cNvPr id="12" name="Point badge 4"/>
          <p:cNvSpPr/>
          <p:nvPr/>
        </p:nvSpPr>
        <p:spPr>
          <a:xfrm>
            <a:off x="548640" y="42976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int number 4"/>
          <p:cNvSpPr txBox="1"/>
          <p:nvPr/>
        </p:nvSpPr>
        <p:spPr>
          <a:xfrm>
            <a:off x="54864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Point text 4"/>
          <p:cNvSpPr txBox="1"/>
          <p:nvPr/>
        </p:nvSpPr>
        <p:spPr>
          <a:xfrm>
            <a:off x="1371600" y="42976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In very-high-risk ASCVD, add ezetimibe and/or a PCSK9 antibody when above goal.</a:t>
            </a:r>
            <a:endParaRPr lang="en-US" sz="1800" dirty="0"/>
          </a:p>
        </p:txBody>
      </p:sp>
      <p:sp>
        <p:nvSpPr>
          <p:cNvPr id="15" name="Point badge 5"/>
          <p:cNvSpPr/>
          <p:nvPr/>
        </p:nvSpPr>
        <p:spPr>
          <a:xfrm>
            <a:off x="548640" y="5212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int number 5"/>
          <p:cNvSpPr txBox="1"/>
          <p:nvPr/>
        </p:nvSpPr>
        <p:spPr>
          <a:xfrm>
            <a:off x="548640" y="5212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Point text 5"/>
          <p:cNvSpPr txBox="1"/>
          <p:nvPr/>
        </p:nvSpPr>
        <p:spPr>
          <a:xfrm>
            <a:off x="1371600" y="52120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Act early in FH, diabetes, CKD, HIV, and in young adults with high lifetime risk.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and caveats</a:t>
            </a:r>
            <a:endParaRPr lang="en-US" sz="3400" dirty="0"/>
          </a:p>
        </p:txBody>
      </p:sp>
      <p:sp>
        <p:nvSpPr>
          <p:cNvPr id="4" name="Source text"/>
          <p:cNvSpPr txBox="1"/>
          <p:nvPr/>
        </p:nvSpPr>
        <p:spPr>
          <a:xfrm>
            <a:off x="548640" y="1554480"/>
            <a:ext cx="11064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Primary source: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2026 ACC/AHA/AACVPR/ABC/ACPM/ADA/AGS/APhA/ASPC/NLA/PCNA Guideline on the Management of Dyslipidemia. J Am Coll Cardiol 2026. doi:10.1016/j.jacc.2025.11.016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Caveats: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This deck was prepared from published guideline summaries, not the full text. Check class of recommendation, evidence level, statin intensity and drug-specific details in the original before clinical use or publication.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pid Guideline 2026">
  <a:themeElements>
    <a:clrScheme name="Lipid Guideline 2026">
      <a:dk1>
        <a:srgbClr val="1B1F2A"/>
      </a:dk1>
      <a:lt1>
        <a:srgbClr val="FFFFFF"/>
      </a:lt1>
      <a:dk2>
        <a:srgbClr val="3A4254"/>
      </a:dk2>
      <a:lt2>
        <a:srgbClr val="F1F4F6"/>
      </a:lt2>
      <a:accent1>
        <a:srgbClr val="F2A93B"/>
      </a:accent1>
      <a:accent2>
        <a:srgbClr val="C0392B"/>
      </a:accent2>
      <a:accent3>
        <a:srgbClr val="1F7A8C"/>
      </a:accent3>
      <a:accent4>
        <a:srgbClr val="6C3A5C"/>
      </a:accent4>
      <a:accent5>
        <a:srgbClr val="5B6B7F"/>
      </a:accent5>
      <a:accent6>
        <a:srgbClr val="3E8E5A"/>
      </a:accent6>
      <a:hlink>
        <a:srgbClr val="1F7A8C"/>
      </a:hlink>
      <a:folHlink>
        <a:srgbClr val="6C3A5C"/>
      </a:folHlink>
    </a:clrScheme>
    <a:fontScheme name="Lipid Guideline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Lipid Management: 2026 ACC/AHA Dyslipidemia Guideline</dc:title>
  <dc:subject>PptxGenJS Presentation</dc:subject>
  <dc:creator>Cardiology teaching</dc:creator>
  <cp:lastModifiedBy>Cardiology teaching</cp:lastModifiedBy>
  <cp:revision>1</cp:revision>
  <dcterms:created xsi:type="dcterms:W3CDTF">2026-10-04T15:45:59Z</dcterms:created>
  <dcterms:modified xsi:type="dcterms:W3CDTF">2026-10-04T15:45:59Z</dcterms:modified>
</cp:coreProperties>
</file>